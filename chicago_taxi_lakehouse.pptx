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build an orchestrated, reproducible, medallion datalake pipeline on the Chicago Taxi Trips dataset. Imposed: Dagster/Airflow, PySpark, Docker Compose. The dataset is ~212M rows so we window it (Jul–Dec 2023) via the SODA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Dagster (top) orchestrates everything via Pipes, launching Spark jobs in Docker. Flow: SODA API → raw CSV in MinIO → bronze → silver → gold Iceberg tables → DuckDB/FastAPI → React. MinIO + Lakekeeper (REST catalog) + Postgres form the storage/catalog foundation. Swapping MinIO for AWS S3 is config-only.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earns its place. Spark is pinned to 4.1.1 because Iceberg has no Spark 4.2 runtime. Lakekeeper is a single Rust binary, JVM-free. DuckDB is read-only BI; all writes stay in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choices explain most of the architecture: containerised Spark for reproducibility, monthly partitions for dual backfill/delta modes, a single catalog to avoid drift, and object storage that swaps to S3 by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Raw is plain CSV in MinIO. Bronze types it into Iceberg. Silver cleans, dedupes and derives analytical fields. Gold aggregates into BI marts. Each layer is its own Iceberg table, month-partitioned where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stack comes up with a single docker compose up -d: the Spark image, Lakekeeper (REST catalog), Postgres (catalog backend), MinIO (object store), plus the one-shot bucket/catalog bootstrap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asset lineage in the Dagster UI shows the pipeline exactly as designed: raw feeds bronze, then silver, then gold, with the maintenance (Iceberg compaction/expire) asset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Runs view shows per-partition materializations (raw/bronze/silver/gold + maintenance) with durations and Success/Failure status. Failures are surfaced loudly — the intended behaviour of the blocking ERROR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MinIO object browser: the single lakehouse bucket holds the four medallion layers, and the raw layer is physically organised into month=YYYY-MM/ folders — human-inspectable and cheap to re-land.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bronze Iceberg table's data partitioned by months(trip_start_timestamp). Right: the Lakekeeper REST catalog listing the bronze/silver tables and all six gold marts under the active lakehouse warehouse — the single source of truth for Spark and DuckDB.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DuckDB queries the gold/silver Iceberg tables directly via the Lakekeeper catalog — the same catalog Spark writes to. The example joins silver trips to the community-area dimension to rank pickup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dashboard's overview: KPI cards and the daily trips vs revenue chart for the loaded Nov–Dec 2023 window. Changing any filter (date, company, payment, area, day type) re-runs the DuckDB aggregation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of the dashboard: the weekday-by-hour demand heatmap, top companies by trips, the payment-type mix, and the top pickup community areas with airport flags (O'Hare, Garfield Ridge/Midway).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is a standalone Python extractor (requests + boto3), deliberately separate from bronze. It pages the SODA API filtered by month, projects only needed columns, uses an app token, retries on errors, and lands CSV idempotently to month folders in 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 reads raw CSV over S3A with an explicit schema and writes month-partitioned Iceberg via dynamic overwrite. Silver dedupes, drops null keys and derives analytical fields. Quality checks caught genuinely bad rows — e.g. speed_mph of 101,520 and a 153% tip — logged as WARN rather than failing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gold marts cover the analytics the brief asked for and more: daily revenue and durations, demand by hour/weekday, company and payment breakdowns, top routes, and pickup-area rankings with airport flags (O'Hare 76, Midway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assets are monthly-partitioned, the same graph gives a range backfill (history) and a latest-partition schedule (delta) with a lookback for late data. Dagster launches Spark in Docker via Pipes. A maintenance asset compacts Iceberg after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is fully native Dagster. Two check tiers: WARN (non-blocking, logged and shown) and ERROR (blocking, fails the run). A single run_failure_sensor catches failures and blocking-check failures and calls send_alarm() — currently log-only, with one drop-in point for Teams/Slack/email. Freshness checks flag stale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Iceberg month partitioning matches the job window and prevents small-file explosion. Writes use hash distribution, ~128MB zstd files and sort ordering for data skipping. Reads lean on pruning, pushdown, projection, broadcast joins and AQE. A maintenance asset compacts and expires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DuckDB reads gold Iceberg via the same Lakekeeper catalog Spark writes to, exposed through a small FastAPI service to a React dashboard. The key gotcha: set ACCESS_DELEGATION_MODE 'none' so DuckDB uses the MinIO S3 secret instead of vended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is reproducible: install Docker + uv, set the window in .env, build the Spark image, docker compose up -d for MinIO/Lakekeeper/Postgres, launch Dagster, backfill the months, then start the API and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more time: scale to full-year/multi-year backfills, wire a real alert channel into send_alarm(), add CI and tests, formalise data contracts and docs, build richer marts and lineage, and deploy to cloud by flipping MinIO to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 reproducible medallion lakehouse on real Chicago Taxi data, orchestrated by Dagster, processed by Spark, stored in Iceberg on MinIO, served by DuckDB/FastAPI to a React dashboard — with native data quality, observability and alerting.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8869680" y="-2194560"/>
            <a:ext cx="6035040" cy="6035040"/>
          </a:xfrm>
          <a:prstGeom prst="ellipse">
            <a:avLst/>
          </a:prstGeom>
          <a:solidFill>
            <a:srgbClr val="16294A"/>
          </a:solidFill>
          <a:ln/>
        </p:spPr>
      </p:sp>
      <p:sp>
        <p:nvSpPr>
          <p:cNvPr id="3" name="Shape 1"/>
          <p:cNvSpPr/>
          <p:nvPr/>
        </p:nvSpPr>
        <p:spPr>
          <a:xfrm>
            <a:off x="10332720" y="2926080"/>
            <a:ext cx="4754880" cy="4754880"/>
          </a:xfrm>
          <a:prstGeom prst="ellipse">
            <a:avLst/>
          </a:prstGeom>
          <a:solidFill>
            <a:srgbClr val="1E355C"/>
          </a:solidFill>
          <a:ln/>
        </p:spPr>
      </p:sp>
      <p:sp>
        <p:nvSpPr>
          <p:cNvPr id="4" name="Shape 2"/>
          <p:cNvSpPr/>
          <p:nvPr/>
        </p:nvSpPr>
        <p:spPr>
          <a:xfrm>
            <a:off x="9646920" y="2148840"/>
            <a:ext cx="1371600" cy="1371600"/>
          </a:xfrm>
          <a:prstGeom prst="ellipse">
            <a:avLst/>
          </a:prstGeom>
          <a:solidFill>
            <a:srgbClr val="F2B705"/>
          </a:solidFill>
          <a:ln/>
        </p:spPr>
      </p:sp>
      <p:pic>
        <p:nvPicPr>
          <p:cNvPr id="5" name="Image 0" descr="preencoded.png">    </p:cNvPr>
          <p:cNvPicPr>
            <a:picLocks noChangeAspect="1"/>
          </p:cNvPicPr>
          <p:nvPr/>
        </p:nvPicPr>
        <p:blipFill>
          <a:blip r:embed="rId1"/>
          <a:stretch>
            <a:fillRect/>
          </a:stretch>
        </p:blipFill>
        <p:spPr>
          <a:xfrm>
            <a:off x="9976104" y="2478024"/>
            <a:ext cx="713232" cy="713232"/>
          </a:xfrm>
          <a:prstGeom prst="rect">
            <a:avLst/>
          </a:prstGeom>
        </p:spPr>
      </p:pic>
      <p:sp>
        <p:nvSpPr>
          <p:cNvPr id="6" name="Text 3"/>
          <p:cNvSpPr txBox="1"/>
          <p:nvPr/>
        </p:nvSpPr>
        <p:spPr>
          <a:xfrm>
            <a:off x="457200" y="1051560"/>
            <a:ext cx="7315200" cy="274320"/>
          </a:xfrm>
          <a:prstGeom prst="rect">
            <a:avLst/>
          </a:prstGeom>
          <a:noFill/>
          <a:ln/>
        </p:spPr>
        <p:txBody>
          <a:bodyPr wrap="square" lIns="0" tIns="0" rIns="0" bIns="0" rtlCol="0" anchor="ctr"/>
          <a:lstStyle/>
          <a:p>
            <a:pPr indent="0" marL="0">
              <a:buNone/>
            </a:pPr>
            <a:r>
              <a:rPr lang="en-US" sz="1200" b="1" spc="300" kern="0" dirty="0">
                <a:solidFill>
                  <a:srgbClr val="F2B705"/>
                </a:solidFill>
                <a:latin typeface="Calibri" pitchFamily="34" charset="0"/>
                <a:ea typeface="Calibri" pitchFamily="34" charset="-122"/>
                <a:cs typeface="Calibri" pitchFamily="34" charset="-120"/>
              </a:rPr>
              <a:t>DATA ENGINEER — TECHNICAL TEST · ARTEFACT</a:t>
            </a:r>
            <a:endParaRPr lang="en-US" sz="1200" dirty="0"/>
          </a:p>
        </p:txBody>
      </p:sp>
      <p:sp>
        <p:nvSpPr>
          <p:cNvPr id="7" name="Text 4"/>
          <p:cNvSpPr txBox="1"/>
          <p:nvPr/>
        </p:nvSpPr>
        <p:spPr>
          <a:xfrm>
            <a:off x="457200" y="1508760"/>
            <a:ext cx="8229600" cy="91440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Chicago Taxi</a:t>
            </a:r>
            <a:endParaRPr lang="en-US" sz="5800" dirty="0"/>
          </a:p>
        </p:txBody>
      </p:sp>
      <p:sp>
        <p:nvSpPr>
          <p:cNvPr id="8" name="Text 5"/>
          <p:cNvSpPr txBox="1"/>
          <p:nvPr/>
        </p:nvSpPr>
        <p:spPr>
          <a:xfrm>
            <a:off x="457200" y="2377440"/>
            <a:ext cx="8229600" cy="914400"/>
          </a:xfrm>
          <a:prstGeom prst="rect">
            <a:avLst/>
          </a:prstGeom>
          <a:noFill/>
          <a:ln/>
        </p:spPr>
        <p:txBody>
          <a:bodyPr wrap="square" lIns="0" tIns="0" rIns="0" bIns="0" rtlCol="0" anchor="ctr"/>
          <a:lstStyle/>
          <a:p>
            <a:pPr indent="0" marL="0">
              <a:buNone/>
            </a:pPr>
            <a:r>
              <a:rPr lang="en-US" sz="5800" b="1" dirty="0">
                <a:solidFill>
                  <a:srgbClr val="F2B705"/>
                </a:solidFill>
                <a:latin typeface="Cambria" pitchFamily="34" charset="0"/>
                <a:ea typeface="Cambria" pitchFamily="34" charset="-122"/>
                <a:cs typeface="Cambria" pitchFamily="34" charset="-120"/>
              </a:rPr>
              <a:t>Lakehouse</a:t>
            </a:r>
            <a:endParaRPr lang="en-US" sz="5800" dirty="0"/>
          </a:p>
        </p:txBody>
      </p:sp>
      <p:sp>
        <p:nvSpPr>
          <p:cNvPr id="9" name="Text 6"/>
          <p:cNvSpPr txBox="1"/>
          <p:nvPr/>
        </p:nvSpPr>
        <p:spPr>
          <a:xfrm>
            <a:off x="457200" y="3429000"/>
            <a:ext cx="7498080" cy="914400"/>
          </a:xfrm>
          <a:prstGeom prst="rect">
            <a:avLst/>
          </a:prstGeom>
          <a:noFill/>
          <a:ln/>
        </p:spPr>
        <p:txBody>
          <a:bodyPr wrap="square" lIns="0" tIns="0" rIns="0" bIns="0" rtlCol="0" anchor="ctr"/>
          <a:lstStyle/>
          <a:p>
            <a:pPr indent="0" marL="0">
              <a:lnSpc>
                <a:spcPct val="115000"/>
              </a:lnSpc>
              <a:buNone/>
            </a:pPr>
            <a:r>
              <a:rPr lang="en-US" sz="1600" dirty="0">
                <a:solidFill>
                  <a:srgbClr val="C9D4E3"/>
                </a:solidFill>
                <a:latin typeface="Calibri" pitchFamily="34" charset="0"/>
                <a:ea typeface="Calibri" pitchFamily="34" charset="-122"/>
                <a:cs typeface="Calibri" pitchFamily="34" charset="-120"/>
              </a:rPr>
              <a:t>An end-to-end, orchestrated medallion pipeline that ingests raw taxi trips, cleans and models them, and serves analytics-ready marts — reproducible locally with a single command.</a:t>
            </a:r>
            <a:endParaRPr lang="en-US" sz="1600" dirty="0"/>
          </a:p>
        </p:txBody>
      </p:sp>
      <p:sp>
        <p:nvSpPr>
          <p:cNvPr id="10" name="Shape 7"/>
          <p:cNvSpPr/>
          <p:nvPr/>
        </p:nvSpPr>
        <p:spPr>
          <a:xfrm>
            <a:off x="457200" y="4892040"/>
            <a:ext cx="938174" cy="310896"/>
          </a:xfrm>
          <a:prstGeom prst="roundRect">
            <a:avLst>
              <a:gd name="adj" fmla="val 50000"/>
            </a:avLst>
          </a:prstGeom>
          <a:solidFill>
            <a:srgbClr val="1E355C"/>
          </a:solidFill>
          <a:ln/>
        </p:spPr>
      </p:sp>
      <p:sp>
        <p:nvSpPr>
          <p:cNvPr id="11" name="Text 8"/>
          <p:cNvSpPr txBox="1"/>
          <p:nvPr/>
        </p:nvSpPr>
        <p:spPr>
          <a:xfrm>
            <a:off x="457200" y="4892040"/>
            <a:ext cx="938174"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Dagster</a:t>
            </a:r>
            <a:endParaRPr lang="en-US" sz="1150" dirty="0"/>
          </a:p>
        </p:txBody>
      </p:sp>
      <p:sp>
        <p:nvSpPr>
          <p:cNvPr id="12" name="Shape 9"/>
          <p:cNvSpPr/>
          <p:nvPr/>
        </p:nvSpPr>
        <p:spPr>
          <a:xfrm>
            <a:off x="1559966" y="4892040"/>
            <a:ext cx="938174" cy="310896"/>
          </a:xfrm>
          <a:prstGeom prst="roundRect">
            <a:avLst>
              <a:gd name="adj" fmla="val 50000"/>
            </a:avLst>
          </a:prstGeom>
          <a:solidFill>
            <a:srgbClr val="1E355C"/>
          </a:solidFill>
          <a:ln/>
        </p:spPr>
      </p:sp>
      <p:sp>
        <p:nvSpPr>
          <p:cNvPr id="13" name="Text 10"/>
          <p:cNvSpPr txBox="1"/>
          <p:nvPr/>
        </p:nvSpPr>
        <p:spPr>
          <a:xfrm>
            <a:off x="1559966" y="4892040"/>
            <a:ext cx="938174"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PySpark</a:t>
            </a:r>
            <a:endParaRPr lang="en-US" sz="1150" dirty="0"/>
          </a:p>
        </p:txBody>
      </p:sp>
      <p:sp>
        <p:nvSpPr>
          <p:cNvPr id="14" name="Shape 11"/>
          <p:cNvSpPr/>
          <p:nvPr/>
        </p:nvSpPr>
        <p:spPr>
          <a:xfrm>
            <a:off x="2662733" y="4892040"/>
            <a:ext cx="1565453" cy="310896"/>
          </a:xfrm>
          <a:prstGeom prst="roundRect">
            <a:avLst>
              <a:gd name="adj" fmla="val 50000"/>
            </a:avLst>
          </a:prstGeom>
          <a:solidFill>
            <a:srgbClr val="1E355C"/>
          </a:solidFill>
          <a:ln/>
        </p:spPr>
      </p:sp>
      <p:sp>
        <p:nvSpPr>
          <p:cNvPr id="15" name="Text 12"/>
          <p:cNvSpPr txBox="1"/>
          <p:nvPr/>
        </p:nvSpPr>
        <p:spPr>
          <a:xfrm>
            <a:off x="2662733" y="4892040"/>
            <a:ext cx="1565453"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Apache Iceberg</a:t>
            </a:r>
            <a:endParaRPr lang="en-US" sz="1150" dirty="0"/>
          </a:p>
        </p:txBody>
      </p:sp>
      <p:sp>
        <p:nvSpPr>
          <p:cNvPr id="16" name="Shape 13"/>
          <p:cNvSpPr/>
          <p:nvPr/>
        </p:nvSpPr>
        <p:spPr>
          <a:xfrm>
            <a:off x="4392778" y="4892040"/>
            <a:ext cx="758952" cy="310896"/>
          </a:xfrm>
          <a:prstGeom prst="roundRect">
            <a:avLst>
              <a:gd name="adj" fmla="val 50000"/>
            </a:avLst>
          </a:prstGeom>
          <a:solidFill>
            <a:srgbClr val="1E355C"/>
          </a:solidFill>
          <a:ln/>
        </p:spPr>
      </p:sp>
      <p:sp>
        <p:nvSpPr>
          <p:cNvPr id="17" name="Text 14"/>
          <p:cNvSpPr txBox="1"/>
          <p:nvPr/>
        </p:nvSpPr>
        <p:spPr>
          <a:xfrm>
            <a:off x="4392778" y="4892040"/>
            <a:ext cx="758952"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MinIO</a:t>
            </a:r>
            <a:endParaRPr lang="en-US" sz="1150" dirty="0"/>
          </a:p>
        </p:txBody>
      </p:sp>
      <p:sp>
        <p:nvSpPr>
          <p:cNvPr id="18" name="Shape 15"/>
          <p:cNvSpPr/>
          <p:nvPr/>
        </p:nvSpPr>
        <p:spPr>
          <a:xfrm>
            <a:off x="5316322" y="4892040"/>
            <a:ext cx="848563" cy="310896"/>
          </a:xfrm>
          <a:prstGeom prst="roundRect">
            <a:avLst>
              <a:gd name="adj" fmla="val 50000"/>
            </a:avLst>
          </a:prstGeom>
          <a:solidFill>
            <a:srgbClr val="1E355C"/>
          </a:solidFill>
          <a:ln/>
        </p:spPr>
      </p:sp>
      <p:sp>
        <p:nvSpPr>
          <p:cNvPr id="19" name="Text 16"/>
          <p:cNvSpPr txBox="1"/>
          <p:nvPr/>
        </p:nvSpPr>
        <p:spPr>
          <a:xfrm>
            <a:off x="5316322" y="4892040"/>
            <a:ext cx="848563"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DuckDB</a:t>
            </a:r>
            <a:endParaRPr lang="en-US" sz="1150" dirty="0"/>
          </a:p>
        </p:txBody>
      </p:sp>
      <p:sp>
        <p:nvSpPr>
          <p:cNvPr id="20" name="Shape 17"/>
          <p:cNvSpPr/>
          <p:nvPr/>
        </p:nvSpPr>
        <p:spPr>
          <a:xfrm>
            <a:off x="6329477" y="4892040"/>
            <a:ext cx="938174" cy="310896"/>
          </a:xfrm>
          <a:prstGeom prst="roundRect">
            <a:avLst>
              <a:gd name="adj" fmla="val 50000"/>
            </a:avLst>
          </a:prstGeom>
          <a:solidFill>
            <a:srgbClr val="1E355C"/>
          </a:solidFill>
          <a:ln/>
        </p:spPr>
      </p:sp>
      <p:sp>
        <p:nvSpPr>
          <p:cNvPr id="21" name="Text 18"/>
          <p:cNvSpPr txBox="1"/>
          <p:nvPr/>
        </p:nvSpPr>
        <p:spPr>
          <a:xfrm>
            <a:off x="6329477" y="4892040"/>
            <a:ext cx="938174"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FastAPI</a:t>
            </a:r>
            <a:endParaRPr lang="en-US" sz="1150" dirty="0"/>
          </a:p>
        </p:txBody>
      </p:sp>
      <p:sp>
        <p:nvSpPr>
          <p:cNvPr id="22" name="Shape 19"/>
          <p:cNvSpPr/>
          <p:nvPr/>
        </p:nvSpPr>
        <p:spPr>
          <a:xfrm>
            <a:off x="7432243" y="4892040"/>
            <a:ext cx="758952" cy="310896"/>
          </a:xfrm>
          <a:prstGeom prst="roundRect">
            <a:avLst>
              <a:gd name="adj" fmla="val 50000"/>
            </a:avLst>
          </a:prstGeom>
          <a:solidFill>
            <a:srgbClr val="1E355C"/>
          </a:solidFill>
          <a:ln/>
        </p:spPr>
      </p:sp>
      <p:sp>
        <p:nvSpPr>
          <p:cNvPr id="23" name="Text 20"/>
          <p:cNvSpPr txBox="1"/>
          <p:nvPr/>
        </p:nvSpPr>
        <p:spPr>
          <a:xfrm>
            <a:off x="7432243" y="4892040"/>
            <a:ext cx="758952"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React</a:t>
            </a:r>
            <a:endParaRPr lang="en-US" sz="1150" dirty="0"/>
          </a:p>
        </p:txBody>
      </p:sp>
      <p:sp>
        <p:nvSpPr>
          <p:cNvPr id="24" name="Shape 21"/>
          <p:cNvSpPr/>
          <p:nvPr/>
        </p:nvSpPr>
        <p:spPr>
          <a:xfrm>
            <a:off x="8355787" y="4892040"/>
            <a:ext cx="848563" cy="310896"/>
          </a:xfrm>
          <a:prstGeom prst="roundRect">
            <a:avLst>
              <a:gd name="adj" fmla="val 50000"/>
            </a:avLst>
          </a:prstGeom>
          <a:solidFill>
            <a:srgbClr val="1E355C"/>
          </a:solidFill>
          <a:ln/>
        </p:spPr>
      </p:sp>
      <p:sp>
        <p:nvSpPr>
          <p:cNvPr id="25" name="Text 22"/>
          <p:cNvSpPr txBox="1"/>
          <p:nvPr/>
        </p:nvSpPr>
        <p:spPr>
          <a:xfrm>
            <a:off x="8355787" y="4892040"/>
            <a:ext cx="848563"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Docker</a:t>
            </a:r>
            <a:endParaRPr lang="en-US" sz="1150" dirty="0"/>
          </a:p>
        </p:txBody>
      </p:sp>
      <p:sp>
        <p:nvSpPr>
          <p:cNvPr id="26" name="Shape 23"/>
          <p:cNvSpPr/>
          <p:nvPr/>
        </p:nvSpPr>
        <p:spPr>
          <a:xfrm>
            <a:off x="457200" y="5806440"/>
            <a:ext cx="2926080" cy="0"/>
          </a:xfrm>
          <a:prstGeom prst="line">
            <a:avLst/>
          </a:prstGeom>
          <a:noFill/>
          <a:ln w="25400">
            <a:solidFill>
              <a:srgbClr val="F2B705"/>
            </a:solidFill>
            <a:prstDash val="solid"/>
          </a:ln>
        </p:spPr>
      </p:sp>
      <p:sp>
        <p:nvSpPr>
          <p:cNvPr id="27" name="Text 24"/>
          <p:cNvSpPr txBox="1"/>
          <p:nvPr/>
        </p:nvSpPr>
        <p:spPr>
          <a:xfrm>
            <a:off x="457200" y="5943600"/>
            <a:ext cx="7315200" cy="365760"/>
          </a:xfrm>
          <a:prstGeom prst="rect">
            <a:avLst/>
          </a:prstGeom>
          <a:noFill/>
          <a:ln/>
        </p:spPr>
        <p:txBody>
          <a:bodyPr wrap="square" lIns="0" tIns="0" rIns="0" bIns="0" rtlCol="0" anchor="ctr"/>
          <a:lstStyle/>
          <a:p>
            <a:pPr indent="0" marL="0">
              <a:buNone/>
            </a:pPr>
            <a:r>
              <a:rPr lang="en-US" sz="1300" b="1" spc="200" kern="0" dirty="0">
                <a:solidFill>
                  <a:srgbClr val="9FB0C7"/>
                </a:solidFill>
                <a:latin typeface="Calibri" pitchFamily="34" charset="0"/>
                <a:ea typeface="Calibri" pitchFamily="34" charset="-122"/>
                <a:cs typeface="Calibri" pitchFamily="34" charset="-120"/>
              </a:rPr>
              <a:t>raw  →  bronze  →  silver  →  gold  →  BI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THE ASSIGNMENT</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The brief, in one page</a:t>
            </a:r>
            <a:endParaRPr lang="en-US" sz="3000" dirty="0"/>
          </a:p>
        </p:txBody>
      </p:sp>
      <p:sp>
        <p:nvSpPr>
          <p:cNvPr id="5" name="Shape 3"/>
          <p:cNvSpPr/>
          <p:nvPr/>
        </p:nvSpPr>
        <p:spPr>
          <a:xfrm>
            <a:off x="457200" y="1554480"/>
            <a:ext cx="5532120" cy="4480560"/>
          </a:xfrm>
          <a:prstGeom prst="roundRect">
            <a:avLst>
              <a:gd name="adj" fmla="val 2041"/>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777240" y="1828800"/>
            <a:ext cx="658368" cy="658368"/>
          </a:xfrm>
          <a:prstGeom prst="ellipse">
            <a:avLst/>
          </a:prstGeom>
          <a:solidFill>
            <a:srgbClr val="2E5A88"/>
          </a:solidFill>
          <a:ln/>
        </p:spPr>
      </p:sp>
      <p:pic>
        <p:nvPicPr>
          <p:cNvPr id="7" name="Image 0" descr="preencoded.png">    </p:cNvPr>
          <p:cNvPicPr>
            <a:picLocks noChangeAspect="1"/>
          </p:cNvPicPr>
          <p:nvPr/>
        </p:nvPicPr>
        <p:blipFill>
          <a:blip r:embed="rId1"/>
          <a:stretch>
            <a:fillRect/>
          </a:stretch>
        </p:blipFill>
        <p:spPr>
          <a:xfrm>
            <a:off x="935248" y="1986808"/>
            <a:ext cx="342351" cy="342351"/>
          </a:xfrm>
          <a:prstGeom prst="rect">
            <a:avLst/>
          </a:prstGeom>
        </p:spPr>
      </p:pic>
      <p:sp>
        <p:nvSpPr>
          <p:cNvPr id="8" name="Text 5"/>
          <p:cNvSpPr txBox="1"/>
          <p:nvPr/>
        </p:nvSpPr>
        <p:spPr>
          <a:xfrm>
            <a:off x="1600200" y="1874520"/>
            <a:ext cx="4251960" cy="548640"/>
          </a:xfrm>
          <a:prstGeom prst="rect">
            <a:avLst/>
          </a:prstGeom>
          <a:noFill/>
          <a:ln/>
        </p:spPr>
        <p:txBody>
          <a:bodyPr wrap="square" lIns="0" tIns="0" rIns="0" bIns="0" rtlCol="0" anchor="ctr"/>
          <a:lstStyle/>
          <a:p>
            <a:pPr indent="0" marL="0">
              <a:buNone/>
            </a:pPr>
            <a:r>
              <a:rPr lang="en-US" sz="1900" b="1" dirty="0">
                <a:solidFill>
                  <a:srgbClr val="18263D"/>
                </a:solidFill>
                <a:latin typeface="Cambria" pitchFamily="34" charset="0"/>
                <a:ea typeface="Cambria" pitchFamily="34" charset="-122"/>
                <a:cs typeface="Cambria" pitchFamily="34" charset="-120"/>
              </a:rPr>
              <a:t>The mission</a:t>
            </a:r>
            <a:endParaRPr lang="en-US" sz="1900" dirty="0"/>
          </a:p>
        </p:txBody>
      </p:sp>
      <p:sp>
        <p:nvSpPr>
          <p:cNvPr id="9" name="Text 6"/>
          <p:cNvSpPr txBox="1"/>
          <p:nvPr/>
        </p:nvSpPr>
        <p:spPr>
          <a:xfrm>
            <a:off x="822960" y="2606040"/>
            <a:ext cx="4800600" cy="3200400"/>
          </a:xfrm>
          <a:prstGeom prst="rect">
            <a:avLst/>
          </a:prstGeom>
          <a:noFill/>
          <a:ln/>
        </p:spPr>
        <p:txBody>
          <a:bodyPr wrap="square" lIns="0" tIns="0" rIns="0" bIns="0" rtlCol="0" anchor="t"/>
          <a:lstStyle/>
          <a:p>
            <a:pPr marL="177800" indent="-177800">
              <a:spcAft>
                <a:spcPts val="900"/>
              </a:spcAft>
              <a:buSzPct val="100000"/>
              <a:buChar char="•"/>
            </a:pPr>
            <a:r>
              <a:rPr lang="en-US" sz="1450" b="1" dirty="0">
                <a:solidFill>
                  <a:srgbClr val="3F4C60"/>
                </a:solidFill>
                <a:latin typeface="Calibri" pitchFamily="34" charset="0"/>
                <a:ea typeface="Calibri" pitchFamily="34" charset="-122"/>
                <a:cs typeface="Calibri" pitchFamily="34" charset="-120"/>
              </a:rPr>
              <a:t>Ingest raw trip files into the datalake</a:t>
            </a:r>
            <a:endParaRPr lang="en-US" sz="1450" dirty="0"/>
          </a:p>
          <a:p>
            <a:pPr marL="177800" indent="-177800">
              <a:spcAft>
                <a:spcPts val="1400"/>
              </a:spcAft>
              <a:buSzPct val="100000"/>
              <a:buChar char="•"/>
            </a:pPr>
            <a:r>
              <a:rPr lang="en-US" sz="1250" dirty="0">
                <a:solidFill>
                  <a:srgbClr val="738298"/>
                </a:solidFill>
                <a:latin typeface="Calibri" pitchFamily="34" charset="0"/>
                <a:ea typeface="Calibri" pitchFamily="34" charset="-122"/>
                <a:cs typeface="Calibri" pitchFamily="34" charset="-120"/>
              </a:rPr>
              <a:t>Land source data as-is, partitioned</a:t>
            </a:r>
            <a:endParaRPr lang="en-US" sz="1450" dirty="0"/>
          </a:p>
          <a:p>
            <a:pPr marL="177800" indent="-177800">
              <a:spcAft>
                <a:spcPts val="900"/>
              </a:spcAft>
              <a:buSzPct val="100000"/>
              <a:buChar char="•"/>
            </a:pPr>
            <a:r>
              <a:rPr lang="en-US" sz="1450" b="1" dirty="0">
                <a:solidFill>
                  <a:srgbClr val="3F4C60"/>
                </a:solidFill>
                <a:latin typeface="Calibri" pitchFamily="34" charset="0"/>
                <a:ea typeface="Calibri" pitchFamily="34" charset="-122"/>
                <a:cs typeface="Calibri" pitchFamily="34" charset="-120"/>
              </a:rPr>
              <a:t>Clean &amp; transform into analytical tables</a:t>
            </a:r>
            <a:endParaRPr lang="en-US" sz="1450" dirty="0"/>
          </a:p>
          <a:p>
            <a:pPr marL="177800" indent="-177800">
              <a:spcAft>
                <a:spcPts val="1400"/>
              </a:spcAft>
              <a:buSzPct val="100000"/>
              <a:buChar char="•"/>
            </a:pPr>
            <a:r>
              <a:rPr lang="en-US" sz="1250" dirty="0">
                <a:solidFill>
                  <a:srgbClr val="738298"/>
                </a:solidFill>
                <a:latin typeface="Calibri" pitchFamily="34" charset="0"/>
                <a:ea typeface="Calibri" pitchFamily="34" charset="-122"/>
                <a:cs typeface="Calibri" pitchFamily="34" charset="-120"/>
              </a:rPr>
              <a:t>Type, dedupe, enrich and quality-check</a:t>
            </a:r>
            <a:endParaRPr lang="en-US" sz="1450" dirty="0"/>
          </a:p>
          <a:p>
            <a:pPr marL="177800" indent="-177800">
              <a:spcAft>
                <a:spcPts val="900"/>
              </a:spcAft>
              <a:buSzPct val="100000"/>
              <a:buChar char="•"/>
            </a:pPr>
            <a:r>
              <a:rPr lang="en-US" sz="1450" b="1" dirty="0">
                <a:solidFill>
                  <a:srgbClr val="3F4C60"/>
                </a:solidFill>
                <a:latin typeface="Calibri" pitchFamily="34" charset="0"/>
                <a:ea typeface="Calibri" pitchFamily="34" charset="-122"/>
                <a:cs typeface="Calibri" pitchFamily="34" charset="-120"/>
              </a:rPr>
              <a:t>Expose ready-to-use aggregates for BI</a:t>
            </a:r>
            <a:endParaRPr lang="en-US" sz="1450" dirty="0"/>
          </a:p>
          <a:p>
            <a:pPr marL="177800" indent="-177800">
              <a:spcAft>
                <a:spcPts val="400"/>
              </a:spcAft>
              <a:buSzPct val="100000"/>
              <a:buChar char="•"/>
            </a:pPr>
            <a:r>
              <a:rPr lang="en-US" sz="1250" dirty="0">
                <a:solidFill>
                  <a:srgbClr val="738298"/>
                </a:solidFill>
                <a:latin typeface="Calibri" pitchFamily="34" charset="0"/>
                <a:ea typeface="Calibri" pitchFamily="34" charset="-122"/>
                <a:cs typeface="Calibri" pitchFamily="34" charset="-120"/>
              </a:rPr>
              <a:t>Revenue/day, avg trip duration, top pickup zones</a:t>
            </a:r>
            <a:endParaRPr lang="en-US" sz="1450" dirty="0"/>
          </a:p>
        </p:txBody>
      </p:sp>
      <p:sp>
        <p:nvSpPr>
          <p:cNvPr id="10" name="Shape 7"/>
          <p:cNvSpPr/>
          <p:nvPr/>
        </p:nvSpPr>
        <p:spPr>
          <a:xfrm>
            <a:off x="6309360" y="1554480"/>
            <a:ext cx="5425135" cy="2011680"/>
          </a:xfrm>
          <a:prstGeom prst="roundRect">
            <a:avLst>
              <a:gd name="adj" fmla="val 4545"/>
            </a:avLst>
          </a:prstGeom>
          <a:solidFill>
            <a:srgbClr val="0E1B33"/>
          </a:solidFill>
          <a:ln/>
          <a:effectLst>
            <a:outerShdw sx="100000" sy="100000" kx="0" ky="0" algn="bl" rotWithShape="0" blurRad="101600" dist="38100" dir="5400000">
              <a:srgbClr val="9AA7B8">
                <a:alpha val="32000"/>
              </a:srgbClr>
            </a:outerShdw>
          </a:effectLst>
        </p:spPr>
      </p:sp>
      <p:sp>
        <p:nvSpPr>
          <p:cNvPr id="11" name="Shape 8"/>
          <p:cNvSpPr/>
          <p:nvPr/>
        </p:nvSpPr>
        <p:spPr>
          <a:xfrm>
            <a:off x="6629400" y="1810512"/>
            <a:ext cx="603504" cy="603504"/>
          </a:xfrm>
          <a:prstGeom prst="ellipse">
            <a:avLst/>
          </a:prstGeom>
          <a:solidFill>
            <a:srgbClr val="F2B705"/>
          </a:solidFill>
          <a:ln/>
        </p:spPr>
      </p:sp>
      <p:pic>
        <p:nvPicPr>
          <p:cNvPr id="12" name="Image 1" descr="preencoded.png">    </p:cNvPr>
          <p:cNvPicPr>
            <a:picLocks noChangeAspect="1"/>
          </p:cNvPicPr>
          <p:nvPr/>
        </p:nvPicPr>
        <p:blipFill>
          <a:blip r:embed="rId2"/>
          <a:stretch>
            <a:fillRect/>
          </a:stretch>
        </p:blipFill>
        <p:spPr>
          <a:xfrm>
            <a:off x="6774241" y="1955353"/>
            <a:ext cx="313822" cy="313822"/>
          </a:xfrm>
          <a:prstGeom prst="rect">
            <a:avLst/>
          </a:prstGeom>
        </p:spPr>
      </p:pic>
      <p:sp>
        <p:nvSpPr>
          <p:cNvPr id="13" name="Text 9"/>
          <p:cNvSpPr txBox="1"/>
          <p:nvPr/>
        </p:nvSpPr>
        <p:spPr>
          <a:xfrm>
            <a:off x="7406640" y="1810512"/>
            <a:ext cx="4144975" cy="60350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Imposed stack</a:t>
            </a:r>
            <a:endParaRPr lang="en-US" sz="1800" dirty="0"/>
          </a:p>
        </p:txBody>
      </p:sp>
      <p:sp>
        <p:nvSpPr>
          <p:cNvPr id="14" name="Text 10"/>
          <p:cNvSpPr txBox="1"/>
          <p:nvPr/>
        </p:nvSpPr>
        <p:spPr>
          <a:xfrm>
            <a:off x="6675120" y="2487168"/>
            <a:ext cx="4693615" cy="1005840"/>
          </a:xfrm>
          <a:prstGeom prst="rect">
            <a:avLst/>
          </a:prstGeom>
          <a:noFill/>
          <a:ln/>
        </p:spPr>
        <p:txBody>
          <a:bodyPr wrap="square" lIns="0" tIns="0" rIns="0" bIns="0" rtlCol="0" anchor="ctr"/>
          <a:lstStyle/>
          <a:p>
            <a:pPr marL="177800" indent="-177800">
              <a:spcAft>
                <a:spcPts val="900"/>
              </a:spcAft>
              <a:buSzPct val="100000"/>
              <a:buChar char="•"/>
            </a:pPr>
            <a:r>
              <a:rPr lang="en-US" sz="1450" dirty="0">
                <a:solidFill>
                  <a:srgbClr val="D7E0EE"/>
                </a:solidFill>
                <a:latin typeface="Calibri" pitchFamily="34" charset="0"/>
                <a:ea typeface="Calibri" pitchFamily="34" charset="-122"/>
                <a:cs typeface="Calibri" pitchFamily="34" charset="-120"/>
              </a:rPr>
              <a:t>Dagster or Airflow for orchestration</a:t>
            </a:r>
            <a:endParaRPr lang="en-US" sz="1450" dirty="0"/>
          </a:p>
          <a:p>
            <a:pPr marL="177800" indent="-177800">
              <a:spcAft>
                <a:spcPts val="900"/>
              </a:spcAft>
              <a:buSzPct val="100000"/>
              <a:buChar char="•"/>
            </a:pPr>
            <a:r>
              <a:rPr lang="en-US" sz="1450" dirty="0">
                <a:solidFill>
                  <a:srgbClr val="D7E0EE"/>
                </a:solidFill>
                <a:latin typeface="Calibri" pitchFamily="34" charset="0"/>
                <a:ea typeface="Calibri" pitchFamily="34" charset="-122"/>
                <a:cs typeface="Calibri" pitchFamily="34" charset="-120"/>
              </a:rPr>
              <a:t>Spark / PySpark for processing</a:t>
            </a:r>
            <a:endParaRPr lang="en-US" sz="1450" dirty="0"/>
          </a:p>
          <a:p>
            <a:pPr marL="177800" indent="-177800">
              <a:spcAft>
                <a:spcPts val="300"/>
              </a:spcAft>
              <a:buSzPct val="100000"/>
              <a:buChar char="•"/>
            </a:pPr>
            <a:r>
              <a:rPr lang="en-US" sz="1450" dirty="0">
                <a:solidFill>
                  <a:srgbClr val="D7E0EE"/>
                </a:solidFill>
                <a:latin typeface="Calibri" pitchFamily="34" charset="0"/>
                <a:ea typeface="Calibri" pitchFamily="34" charset="-122"/>
                <a:cs typeface="Calibri" pitchFamily="34" charset="-120"/>
              </a:rPr>
              <a:t>Docker Compose — one command, all local</a:t>
            </a:r>
            <a:endParaRPr lang="en-US" sz="1450" dirty="0"/>
          </a:p>
        </p:txBody>
      </p:sp>
      <p:sp>
        <p:nvSpPr>
          <p:cNvPr id="15" name="Shape 11"/>
          <p:cNvSpPr/>
          <p:nvPr/>
        </p:nvSpPr>
        <p:spPr>
          <a:xfrm>
            <a:off x="6309360" y="3794760"/>
            <a:ext cx="1655978" cy="2240280"/>
          </a:xfrm>
          <a:prstGeom prst="roundRect">
            <a:avLst>
              <a:gd name="adj" fmla="val 497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6" name="Text 12"/>
          <p:cNvSpPr txBox="1"/>
          <p:nvPr/>
        </p:nvSpPr>
        <p:spPr>
          <a:xfrm>
            <a:off x="6355080" y="4114800"/>
            <a:ext cx="1564538" cy="685800"/>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wrvz-psew</a:t>
            </a:r>
            <a:endParaRPr lang="en-US" sz="2000" dirty="0"/>
          </a:p>
        </p:txBody>
      </p:sp>
      <p:sp>
        <p:nvSpPr>
          <p:cNvPr id="17" name="Text 13"/>
          <p:cNvSpPr txBox="1"/>
          <p:nvPr/>
        </p:nvSpPr>
        <p:spPr>
          <a:xfrm>
            <a:off x="6382512" y="4892040"/>
            <a:ext cx="1509674" cy="91440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Chicago Taxi Trips</a:t>
            </a:r>
            <a:endParaRPr lang="en-US" sz="1200" dirty="0"/>
          </a:p>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Socrata SODA API</a:t>
            </a:r>
            <a:endParaRPr lang="en-US" sz="1200" dirty="0"/>
          </a:p>
        </p:txBody>
      </p:sp>
      <p:sp>
        <p:nvSpPr>
          <p:cNvPr id="18" name="Shape 14"/>
          <p:cNvSpPr/>
          <p:nvPr/>
        </p:nvSpPr>
        <p:spPr>
          <a:xfrm>
            <a:off x="8193938" y="3794760"/>
            <a:ext cx="1655978" cy="2240280"/>
          </a:xfrm>
          <a:prstGeom prst="roundRect">
            <a:avLst>
              <a:gd name="adj" fmla="val 497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9" name="Text 15"/>
          <p:cNvSpPr txBox="1"/>
          <p:nvPr/>
        </p:nvSpPr>
        <p:spPr>
          <a:xfrm>
            <a:off x="8239658" y="4114800"/>
            <a:ext cx="1564538" cy="685800"/>
          </a:xfrm>
          <a:prstGeom prst="rect">
            <a:avLst/>
          </a:prstGeom>
          <a:noFill/>
          <a:ln/>
        </p:spPr>
        <p:txBody>
          <a:bodyPr wrap="square" lIns="0" tIns="0" rIns="0" bIns="0" rtlCol="0" anchor="ctr"/>
          <a:lstStyle/>
          <a:p>
            <a:pPr algn="ctr" indent="0" marL="0">
              <a:buNone/>
            </a:pPr>
            <a:r>
              <a:rPr lang="en-US" sz="2600" b="1" dirty="0">
                <a:solidFill>
                  <a:srgbClr val="F2B705"/>
                </a:solidFill>
                <a:latin typeface="Cambria" pitchFamily="34" charset="0"/>
                <a:ea typeface="Cambria" pitchFamily="34" charset="-122"/>
                <a:cs typeface="Cambria" pitchFamily="34" charset="-120"/>
              </a:rPr>
              <a:t>~212M</a:t>
            </a:r>
            <a:endParaRPr lang="en-US" sz="2600" dirty="0"/>
          </a:p>
        </p:txBody>
      </p:sp>
      <p:sp>
        <p:nvSpPr>
          <p:cNvPr id="20" name="Text 16"/>
          <p:cNvSpPr txBox="1"/>
          <p:nvPr/>
        </p:nvSpPr>
        <p:spPr>
          <a:xfrm>
            <a:off x="8267090" y="4892040"/>
            <a:ext cx="1509674" cy="91440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rows across</a:t>
            </a:r>
            <a:endParaRPr lang="en-US" sz="1200" dirty="0"/>
          </a:p>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2013 – 2023</a:t>
            </a:r>
            <a:endParaRPr lang="en-US" sz="1200" dirty="0"/>
          </a:p>
        </p:txBody>
      </p:sp>
      <p:sp>
        <p:nvSpPr>
          <p:cNvPr id="21" name="Shape 17"/>
          <p:cNvSpPr/>
          <p:nvPr/>
        </p:nvSpPr>
        <p:spPr>
          <a:xfrm>
            <a:off x="10078517" y="3794760"/>
            <a:ext cx="1655978" cy="2240280"/>
          </a:xfrm>
          <a:prstGeom prst="roundRect">
            <a:avLst>
              <a:gd name="adj" fmla="val 497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2" name="Text 18"/>
          <p:cNvSpPr txBox="1"/>
          <p:nvPr/>
        </p:nvSpPr>
        <p:spPr>
          <a:xfrm>
            <a:off x="10124237" y="4114800"/>
            <a:ext cx="1564538" cy="685800"/>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6 months</a:t>
            </a:r>
            <a:endParaRPr lang="en-US" sz="2000" dirty="0"/>
          </a:p>
        </p:txBody>
      </p:sp>
      <p:sp>
        <p:nvSpPr>
          <p:cNvPr id="23" name="Text 19"/>
          <p:cNvSpPr txBox="1"/>
          <p:nvPr/>
        </p:nvSpPr>
        <p:spPr>
          <a:xfrm>
            <a:off x="10151669" y="4892040"/>
            <a:ext cx="1509674" cy="91440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windowed slice</a:t>
            </a:r>
            <a:endParaRPr lang="en-US" sz="1200" dirty="0"/>
          </a:p>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Jul – Dec 2023</a:t>
            </a:r>
            <a:endParaRPr lang="en-US" sz="1200" dirty="0"/>
          </a:p>
        </p:txBody>
      </p:sp>
      <p:sp>
        <p:nvSpPr>
          <p:cNvPr id="24" name="Text 20"/>
          <p:cNvSpPr txBox="1"/>
          <p:nvPr/>
        </p:nvSpPr>
        <p:spPr>
          <a:xfrm>
            <a:off x="6309360" y="6144768"/>
            <a:ext cx="5425135" cy="274320"/>
          </a:xfrm>
          <a:prstGeom prst="rect">
            <a:avLst/>
          </a:prstGeom>
          <a:noFill/>
          <a:ln/>
        </p:spPr>
        <p:txBody>
          <a:bodyPr wrap="square" lIns="0" tIns="0" rIns="0" bIns="0" rtlCol="0" anchor="ctr"/>
          <a:lstStyle/>
          <a:p>
            <a:pPr algn="ctr" indent="0" marL="0">
              <a:buNone/>
            </a:pPr>
            <a:r>
              <a:rPr lang="en-US" sz="1150" i="1" dirty="0">
                <a:solidFill>
                  <a:srgbClr val="738298"/>
                </a:solidFill>
                <a:latin typeface="Calibri" pitchFamily="34" charset="0"/>
                <a:ea typeface="Calibri" pitchFamily="34" charset="-122"/>
                <a:cs typeface="Calibri" pitchFamily="34" charset="-120"/>
              </a:rPr>
              <a:t>A public dataset far too large to pull whole — so we filter and window it at the API.</a:t>
            </a:r>
            <a:endParaRPr lang="en-US" sz="1150" dirty="0"/>
          </a:p>
        </p:txBody>
      </p:sp>
      <p:sp>
        <p:nvSpPr>
          <p:cNvPr id="25" name="Text 21"/>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02</a:t>
            </a:r>
            <a:endParaRPr lang="en-US" sz="1000" dirty="0"/>
          </a:p>
        </p:txBody>
      </p:sp>
      <p:sp>
        <p:nvSpPr>
          <p:cNvPr id="26" name="Text 22"/>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SOLUTION AT A GLANCE</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End-to-end architecture</a:t>
            </a:r>
            <a:endParaRPr lang="en-US" sz="3000" dirty="0"/>
          </a:p>
        </p:txBody>
      </p:sp>
      <p:pic>
        <p:nvPicPr>
          <p:cNvPr id="5" name="Image 0" descr="/home/claude/diag_arch.png">    </p:cNvPr>
          <p:cNvPicPr>
            <a:picLocks noChangeAspect="1"/>
          </p:cNvPicPr>
          <p:nvPr/>
        </p:nvPicPr>
        <p:blipFill>
          <a:blip r:embed="rId1"/>
          <a:stretch>
            <a:fillRect/>
          </a:stretch>
        </p:blipFill>
        <p:spPr>
          <a:xfrm>
            <a:off x="566928" y="1828800"/>
            <a:ext cx="11064240" cy="4193704"/>
          </a:xfrm>
          <a:prstGeom prst="rect">
            <a:avLst/>
          </a:prstGeom>
        </p:spPr>
      </p:pic>
      <p:sp>
        <p:nvSpPr>
          <p:cNvPr id="6" name="Text 3"/>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03</a:t>
            </a:r>
            <a:endParaRPr lang="en-US" sz="1000" dirty="0"/>
          </a:p>
        </p:txBody>
      </p:sp>
      <p:sp>
        <p:nvSpPr>
          <p:cNvPr id="7" name="Text 4"/>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TOOLING</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The stack, and why each piece</a:t>
            </a:r>
            <a:endParaRPr lang="en-US" sz="3000" dirty="0"/>
          </a:p>
        </p:txBody>
      </p:sp>
      <p:sp>
        <p:nvSpPr>
          <p:cNvPr id="5" name="Shape 3"/>
          <p:cNvSpPr/>
          <p:nvPr/>
        </p:nvSpPr>
        <p:spPr>
          <a:xfrm>
            <a:off x="457200" y="155448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1089325" y="171907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7" name="Image 0" descr="/home/claude/logos/out/dagster.png">    </p:cNvPr>
          <p:cNvPicPr>
            <a:picLocks noChangeAspect="1"/>
          </p:cNvPicPr>
          <p:nvPr/>
        </p:nvPicPr>
        <p:blipFill>
          <a:blip r:embed="rId1"/>
          <a:stretch>
            <a:fillRect/>
          </a:stretch>
        </p:blipFill>
        <p:spPr>
          <a:xfrm>
            <a:off x="1230874" y="1860621"/>
            <a:ext cx="503286" cy="503286"/>
          </a:xfrm>
          <a:prstGeom prst="rect">
            <a:avLst/>
          </a:prstGeom>
        </p:spPr>
      </p:pic>
      <p:sp>
        <p:nvSpPr>
          <p:cNvPr id="8" name="Text 5"/>
          <p:cNvSpPr txBox="1"/>
          <p:nvPr/>
        </p:nvSpPr>
        <p:spPr>
          <a:xfrm>
            <a:off x="530352" y="259689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Dagster</a:t>
            </a:r>
            <a:endParaRPr lang="en-US" sz="1350" dirty="0"/>
          </a:p>
        </p:txBody>
      </p:sp>
      <p:sp>
        <p:nvSpPr>
          <p:cNvPr id="9" name="Text 6"/>
          <p:cNvSpPr txBox="1"/>
          <p:nvPr/>
        </p:nvSpPr>
        <p:spPr>
          <a:xfrm>
            <a:off x="566928" y="290779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Asset-based orchestration. Runs natively on the host; launches Spark via Pipes.</a:t>
            </a:r>
            <a:endParaRPr lang="en-US" sz="1050" dirty="0"/>
          </a:p>
        </p:txBody>
      </p:sp>
      <p:sp>
        <p:nvSpPr>
          <p:cNvPr id="10" name="Shape 7"/>
          <p:cNvSpPr/>
          <p:nvPr/>
        </p:nvSpPr>
        <p:spPr>
          <a:xfrm>
            <a:off x="2763865" y="155448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1" name="Shape 8"/>
          <p:cNvSpPr/>
          <p:nvPr/>
        </p:nvSpPr>
        <p:spPr>
          <a:xfrm>
            <a:off x="3395990" y="171907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12" name="Image 1" descr="/home/claude/logos/out/spark.png">    </p:cNvPr>
          <p:cNvPicPr>
            <a:picLocks noChangeAspect="1"/>
          </p:cNvPicPr>
          <p:nvPr/>
        </p:nvPicPr>
        <p:blipFill>
          <a:blip r:embed="rId2"/>
          <a:stretch>
            <a:fillRect/>
          </a:stretch>
        </p:blipFill>
        <p:spPr>
          <a:xfrm>
            <a:off x="3537539" y="1860621"/>
            <a:ext cx="503286" cy="503286"/>
          </a:xfrm>
          <a:prstGeom prst="rect">
            <a:avLst/>
          </a:prstGeom>
        </p:spPr>
      </p:pic>
      <p:sp>
        <p:nvSpPr>
          <p:cNvPr id="13" name="Text 9"/>
          <p:cNvSpPr txBox="1"/>
          <p:nvPr/>
        </p:nvSpPr>
        <p:spPr>
          <a:xfrm>
            <a:off x="2837017" y="259689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PySpark 4.1.1</a:t>
            </a:r>
            <a:endParaRPr lang="en-US" sz="1350" dirty="0"/>
          </a:p>
        </p:txBody>
      </p:sp>
      <p:sp>
        <p:nvSpPr>
          <p:cNvPr id="14" name="Text 10"/>
          <p:cNvSpPr txBox="1"/>
          <p:nvPr/>
        </p:nvSpPr>
        <p:spPr>
          <a:xfrm>
            <a:off x="2873593" y="290779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Distributed processing for bronze → silver → gold transforms.</a:t>
            </a:r>
            <a:endParaRPr lang="en-US" sz="1050" dirty="0"/>
          </a:p>
        </p:txBody>
      </p:sp>
      <p:sp>
        <p:nvSpPr>
          <p:cNvPr id="15" name="Shape 11"/>
          <p:cNvSpPr/>
          <p:nvPr/>
        </p:nvSpPr>
        <p:spPr>
          <a:xfrm>
            <a:off x="5070531" y="155448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6" name="Shape 12"/>
          <p:cNvSpPr/>
          <p:nvPr/>
        </p:nvSpPr>
        <p:spPr>
          <a:xfrm>
            <a:off x="5702656" y="171907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17" name="Image 2" descr="/home/claude/logos/out/iceberg.png">    </p:cNvPr>
          <p:cNvPicPr>
            <a:picLocks noChangeAspect="1"/>
          </p:cNvPicPr>
          <p:nvPr/>
        </p:nvPicPr>
        <p:blipFill>
          <a:blip r:embed="rId3"/>
          <a:stretch>
            <a:fillRect/>
          </a:stretch>
        </p:blipFill>
        <p:spPr>
          <a:xfrm>
            <a:off x="5844205" y="1860621"/>
            <a:ext cx="503286" cy="503286"/>
          </a:xfrm>
          <a:prstGeom prst="rect">
            <a:avLst/>
          </a:prstGeom>
        </p:spPr>
      </p:pic>
      <p:sp>
        <p:nvSpPr>
          <p:cNvPr id="18" name="Text 13"/>
          <p:cNvSpPr txBox="1"/>
          <p:nvPr/>
        </p:nvSpPr>
        <p:spPr>
          <a:xfrm>
            <a:off x="5143683" y="259689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Apache Iceberg 1.11</a:t>
            </a:r>
            <a:endParaRPr lang="en-US" sz="1350" dirty="0"/>
          </a:p>
        </p:txBody>
      </p:sp>
      <p:sp>
        <p:nvSpPr>
          <p:cNvPr id="19" name="Text 14"/>
          <p:cNvSpPr txBox="1"/>
          <p:nvPr/>
        </p:nvSpPr>
        <p:spPr>
          <a:xfrm>
            <a:off x="5180259" y="290779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Table format: schema evolution, partitions, snapshots, compaction.</a:t>
            </a:r>
            <a:endParaRPr lang="en-US" sz="1050" dirty="0"/>
          </a:p>
        </p:txBody>
      </p:sp>
      <p:sp>
        <p:nvSpPr>
          <p:cNvPr id="20" name="Shape 15"/>
          <p:cNvSpPr/>
          <p:nvPr/>
        </p:nvSpPr>
        <p:spPr>
          <a:xfrm>
            <a:off x="7377196" y="155448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1" name="Shape 16"/>
          <p:cNvSpPr/>
          <p:nvPr/>
        </p:nvSpPr>
        <p:spPr>
          <a:xfrm>
            <a:off x="8009321" y="171907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22" name="Image 3" descr="/home/claude/logos/out/lakekeeper.png">    </p:cNvPr>
          <p:cNvPicPr>
            <a:picLocks noChangeAspect="1"/>
          </p:cNvPicPr>
          <p:nvPr/>
        </p:nvPicPr>
        <p:blipFill>
          <a:blip r:embed="rId4"/>
          <a:stretch>
            <a:fillRect/>
          </a:stretch>
        </p:blipFill>
        <p:spPr>
          <a:xfrm>
            <a:off x="8150870" y="1860621"/>
            <a:ext cx="503286" cy="503286"/>
          </a:xfrm>
          <a:prstGeom prst="rect">
            <a:avLst/>
          </a:prstGeom>
        </p:spPr>
      </p:pic>
      <p:sp>
        <p:nvSpPr>
          <p:cNvPr id="23" name="Text 17"/>
          <p:cNvSpPr txBox="1"/>
          <p:nvPr/>
        </p:nvSpPr>
        <p:spPr>
          <a:xfrm>
            <a:off x="7450348" y="259689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Lakekeeper</a:t>
            </a:r>
            <a:endParaRPr lang="en-US" sz="1350" dirty="0"/>
          </a:p>
        </p:txBody>
      </p:sp>
      <p:sp>
        <p:nvSpPr>
          <p:cNvPr id="24" name="Text 18"/>
          <p:cNvSpPr txBox="1"/>
          <p:nvPr/>
        </p:nvSpPr>
        <p:spPr>
          <a:xfrm>
            <a:off x="7486924" y="290779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Lightweight, JVM-free Iceberg REST catalog — one source of truth.</a:t>
            </a:r>
            <a:endParaRPr lang="en-US" sz="1050" dirty="0"/>
          </a:p>
        </p:txBody>
      </p:sp>
      <p:sp>
        <p:nvSpPr>
          <p:cNvPr id="25" name="Shape 19"/>
          <p:cNvSpPr/>
          <p:nvPr/>
        </p:nvSpPr>
        <p:spPr>
          <a:xfrm>
            <a:off x="9683862" y="155448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6" name="Shape 20"/>
          <p:cNvSpPr/>
          <p:nvPr/>
        </p:nvSpPr>
        <p:spPr>
          <a:xfrm>
            <a:off x="10315986" y="171907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27" name="Image 4" descr="/home/claude/logos/out/minio.png">    </p:cNvPr>
          <p:cNvPicPr>
            <a:picLocks noChangeAspect="1"/>
          </p:cNvPicPr>
          <p:nvPr/>
        </p:nvPicPr>
        <p:blipFill>
          <a:blip r:embed="rId5"/>
          <a:stretch>
            <a:fillRect/>
          </a:stretch>
        </p:blipFill>
        <p:spPr>
          <a:xfrm>
            <a:off x="10457536" y="1860621"/>
            <a:ext cx="503286" cy="503286"/>
          </a:xfrm>
          <a:prstGeom prst="rect">
            <a:avLst/>
          </a:prstGeom>
        </p:spPr>
      </p:pic>
      <p:sp>
        <p:nvSpPr>
          <p:cNvPr id="28" name="Text 21"/>
          <p:cNvSpPr txBox="1"/>
          <p:nvPr/>
        </p:nvSpPr>
        <p:spPr>
          <a:xfrm>
            <a:off x="9757014" y="259689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MinIO</a:t>
            </a:r>
            <a:endParaRPr lang="en-US" sz="1350" dirty="0"/>
          </a:p>
        </p:txBody>
      </p:sp>
      <p:sp>
        <p:nvSpPr>
          <p:cNvPr id="29" name="Text 22"/>
          <p:cNvSpPr txBox="1"/>
          <p:nvPr/>
        </p:nvSpPr>
        <p:spPr>
          <a:xfrm>
            <a:off x="9793590" y="290779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S3-compatible object store — the datalake floor. Swaps to AWS S3.</a:t>
            </a:r>
            <a:endParaRPr lang="en-US" sz="1050" dirty="0"/>
          </a:p>
        </p:txBody>
      </p:sp>
      <p:sp>
        <p:nvSpPr>
          <p:cNvPr id="30" name="Shape 23"/>
          <p:cNvSpPr/>
          <p:nvPr/>
        </p:nvSpPr>
        <p:spPr>
          <a:xfrm>
            <a:off x="457200" y="397764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31" name="Shape 24"/>
          <p:cNvSpPr/>
          <p:nvPr/>
        </p:nvSpPr>
        <p:spPr>
          <a:xfrm>
            <a:off x="1089325" y="414223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32" name="Image 5" descr="/home/claude/logos/out/postgres.png">    </p:cNvPr>
          <p:cNvPicPr>
            <a:picLocks noChangeAspect="1"/>
          </p:cNvPicPr>
          <p:nvPr/>
        </p:nvPicPr>
        <p:blipFill>
          <a:blip r:embed="rId6"/>
          <a:stretch>
            <a:fillRect/>
          </a:stretch>
        </p:blipFill>
        <p:spPr>
          <a:xfrm>
            <a:off x="1230874" y="4283781"/>
            <a:ext cx="503286" cy="503286"/>
          </a:xfrm>
          <a:prstGeom prst="rect">
            <a:avLst/>
          </a:prstGeom>
        </p:spPr>
      </p:pic>
      <p:sp>
        <p:nvSpPr>
          <p:cNvPr id="33" name="Text 25"/>
          <p:cNvSpPr txBox="1"/>
          <p:nvPr/>
        </p:nvSpPr>
        <p:spPr>
          <a:xfrm>
            <a:off x="530352" y="502005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Postgres</a:t>
            </a:r>
            <a:endParaRPr lang="en-US" sz="1350" dirty="0"/>
          </a:p>
        </p:txBody>
      </p:sp>
      <p:sp>
        <p:nvSpPr>
          <p:cNvPr id="34" name="Text 26"/>
          <p:cNvSpPr txBox="1"/>
          <p:nvPr/>
        </p:nvSpPr>
        <p:spPr>
          <a:xfrm>
            <a:off x="566928" y="533095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Catalog metadata backend behind Lakekeeper.</a:t>
            </a:r>
            <a:endParaRPr lang="en-US" sz="1050" dirty="0"/>
          </a:p>
        </p:txBody>
      </p:sp>
      <p:sp>
        <p:nvSpPr>
          <p:cNvPr id="35" name="Shape 27"/>
          <p:cNvSpPr/>
          <p:nvPr/>
        </p:nvSpPr>
        <p:spPr>
          <a:xfrm>
            <a:off x="2763865" y="397764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36" name="Shape 28"/>
          <p:cNvSpPr/>
          <p:nvPr/>
        </p:nvSpPr>
        <p:spPr>
          <a:xfrm>
            <a:off x="3395990" y="4142232"/>
            <a:ext cx="786384" cy="786384"/>
          </a:xfrm>
          <a:prstGeom prst="roundRect">
            <a:avLst>
              <a:gd name="adj" fmla="val 20000"/>
            </a:avLst>
          </a:prstGeom>
          <a:solidFill>
            <a:srgbClr val="0E1B33"/>
          </a:solidFill>
          <a:ln w="12700">
            <a:solidFill>
              <a:srgbClr val="0E1B33"/>
            </a:solidFill>
            <a:prstDash val="solid"/>
          </a:ln>
          <a:effectLst>
            <a:outerShdw sx="100000" sy="100000" kx="0" ky="0" algn="bl" rotWithShape="0" blurRad="101600" dist="38100" dir="5400000">
              <a:srgbClr val="9AA7B8">
                <a:alpha val="22000"/>
              </a:srgbClr>
            </a:outerShdw>
          </a:effectLst>
        </p:spPr>
      </p:sp>
      <p:pic>
        <p:nvPicPr>
          <p:cNvPr id="37" name="Image 6" descr="/home/claude/logos/out/duckdb.png">    </p:cNvPr>
          <p:cNvPicPr>
            <a:picLocks noChangeAspect="1"/>
          </p:cNvPicPr>
          <p:nvPr/>
        </p:nvPicPr>
        <p:blipFill>
          <a:blip r:embed="rId7"/>
          <a:stretch>
            <a:fillRect/>
          </a:stretch>
        </p:blipFill>
        <p:spPr>
          <a:xfrm>
            <a:off x="3537539" y="4283781"/>
            <a:ext cx="503286" cy="503286"/>
          </a:xfrm>
          <a:prstGeom prst="rect">
            <a:avLst/>
          </a:prstGeom>
        </p:spPr>
      </p:pic>
      <p:sp>
        <p:nvSpPr>
          <p:cNvPr id="38" name="Text 29"/>
          <p:cNvSpPr txBox="1"/>
          <p:nvPr/>
        </p:nvSpPr>
        <p:spPr>
          <a:xfrm>
            <a:off x="2837017" y="502005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DuckDB</a:t>
            </a:r>
            <a:endParaRPr lang="en-US" sz="1350" dirty="0"/>
          </a:p>
        </p:txBody>
      </p:sp>
      <p:sp>
        <p:nvSpPr>
          <p:cNvPr id="39" name="Text 30"/>
          <p:cNvSpPr txBox="1"/>
          <p:nvPr/>
        </p:nvSpPr>
        <p:spPr>
          <a:xfrm>
            <a:off x="2873593" y="533095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In-process SQL engine reading gold Iceberg tables for BI.</a:t>
            </a:r>
            <a:endParaRPr lang="en-US" sz="1050" dirty="0"/>
          </a:p>
        </p:txBody>
      </p:sp>
      <p:sp>
        <p:nvSpPr>
          <p:cNvPr id="40" name="Shape 31"/>
          <p:cNvSpPr/>
          <p:nvPr/>
        </p:nvSpPr>
        <p:spPr>
          <a:xfrm>
            <a:off x="5070531" y="397764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41" name="Shape 32"/>
          <p:cNvSpPr/>
          <p:nvPr/>
        </p:nvSpPr>
        <p:spPr>
          <a:xfrm>
            <a:off x="5702656" y="414223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42" name="Image 7" descr="/home/claude/logos/out/fastapi.png">    </p:cNvPr>
          <p:cNvPicPr>
            <a:picLocks noChangeAspect="1"/>
          </p:cNvPicPr>
          <p:nvPr/>
        </p:nvPicPr>
        <p:blipFill>
          <a:blip r:embed="rId8"/>
          <a:stretch>
            <a:fillRect/>
          </a:stretch>
        </p:blipFill>
        <p:spPr>
          <a:xfrm>
            <a:off x="5844205" y="4283781"/>
            <a:ext cx="503286" cy="503286"/>
          </a:xfrm>
          <a:prstGeom prst="rect">
            <a:avLst/>
          </a:prstGeom>
        </p:spPr>
      </p:pic>
      <p:sp>
        <p:nvSpPr>
          <p:cNvPr id="43" name="Text 33"/>
          <p:cNvSpPr txBox="1"/>
          <p:nvPr/>
        </p:nvSpPr>
        <p:spPr>
          <a:xfrm>
            <a:off x="5143683" y="502005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FastAPI</a:t>
            </a:r>
            <a:endParaRPr lang="en-US" sz="1350" dirty="0"/>
          </a:p>
        </p:txBody>
      </p:sp>
      <p:sp>
        <p:nvSpPr>
          <p:cNvPr id="44" name="Text 34"/>
          <p:cNvSpPr txBox="1"/>
          <p:nvPr/>
        </p:nvSpPr>
        <p:spPr>
          <a:xfrm>
            <a:off x="5180259" y="533095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Thin JSON API exposing gold marts to the dashboard.</a:t>
            </a:r>
            <a:endParaRPr lang="en-US" sz="1050" dirty="0"/>
          </a:p>
        </p:txBody>
      </p:sp>
      <p:sp>
        <p:nvSpPr>
          <p:cNvPr id="45" name="Shape 35"/>
          <p:cNvSpPr/>
          <p:nvPr/>
        </p:nvSpPr>
        <p:spPr>
          <a:xfrm>
            <a:off x="7377196" y="397764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46" name="Shape 36"/>
          <p:cNvSpPr/>
          <p:nvPr/>
        </p:nvSpPr>
        <p:spPr>
          <a:xfrm>
            <a:off x="8009321" y="414223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47" name="Image 8" descr="/home/claude/logos/out/react.png">    </p:cNvPr>
          <p:cNvPicPr>
            <a:picLocks noChangeAspect="1"/>
          </p:cNvPicPr>
          <p:nvPr/>
        </p:nvPicPr>
        <p:blipFill>
          <a:blip r:embed="rId9"/>
          <a:stretch>
            <a:fillRect/>
          </a:stretch>
        </p:blipFill>
        <p:spPr>
          <a:xfrm>
            <a:off x="8150870" y="4283781"/>
            <a:ext cx="503286" cy="503286"/>
          </a:xfrm>
          <a:prstGeom prst="rect">
            <a:avLst/>
          </a:prstGeom>
        </p:spPr>
      </p:pic>
      <p:sp>
        <p:nvSpPr>
          <p:cNvPr id="48" name="Text 37"/>
          <p:cNvSpPr txBox="1"/>
          <p:nvPr/>
        </p:nvSpPr>
        <p:spPr>
          <a:xfrm>
            <a:off x="7450348" y="502005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React + Vite</a:t>
            </a:r>
            <a:endParaRPr lang="en-US" sz="1350" dirty="0"/>
          </a:p>
        </p:txBody>
      </p:sp>
      <p:sp>
        <p:nvSpPr>
          <p:cNvPr id="49" name="Text 38"/>
          <p:cNvSpPr txBox="1"/>
          <p:nvPr/>
        </p:nvSpPr>
        <p:spPr>
          <a:xfrm>
            <a:off x="7486924" y="533095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Dashboard with Recharts: trends, heatmap, rankings.</a:t>
            </a:r>
            <a:endParaRPr lang="en-US" sz="1050" dirty="0"/>
          </a:p>
        </p:txBody>
      </p:sp>
      <p:sp>
        <p:nvSpPr>
          <p:cNvPr id="50" name="Shape 39"/>
          <p:cNvSpPr/>
          <p:nvPr/>
        </p:nvSpPr>
        <p:spPr>
          <a:xfrm>
            <a:off x="9683862" y="3977640"/>
            <a:ext cx="2050633" cy="2148840"/>
          </a:xfrm>
          <a:prstGeom prst="roundRect">
            <a:avLst>
              <a:gd name="adj" fmla="val 4013"/>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51" name="Shape 40"/>
          <p:cNvSpPr/>
          <p:nvPr/>
        </p:nvSpPr>
        <p:spPr>
          <a:xfrm>
            <a:off x="10315986" y="4142232"/>
            <a:ext cx="786384" cy="786384"/>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52" name="Image 9" descr="/home/claude/logos/out/docker.png">    </p:cNvPr>
          <p:cNvPicPr>
            <a:picLocks noChangeAspect="1"/>
          </p:cNvPicPr>
          <p:nvPr/>
        </p:nvPicPr>
        <p:blipFill>
          <a:blip r:embed="rId10"/>
          <a:stretch>
            <a:fillRect/>
          </a:stretch>
        </p:blipFill>
        <p:spPr>
          <a:xfrm>
            <a:off x="10457536" y="4283781"/>
            <a:ext cx="503286" cy="503286"/>
          </a:xfrm>
          <a:prstGeom prst="rect">
            <a:avLst/>
          </a:prstGeom>
        </p:spPr>
      </p:pic>
      <p:sp>
        <p:nvSpPr>
          <p:cNvPr id="53" name="Text 41"/>
          <p:cNvSpPr txBox="1"/>
          <p:nvPr/>
        </p:nvSpPr>
        <p:spPr>
          <a:xfrm>
            <a:off x="9757014" y="5020056"/>
            <a:ext cx="1904329" cy="457200"/>
          </a:xfrm>
          <a:prstGeom prst="rect">
            <a:avLst/>
          </a:prstGeom>
          <a:noFill/>
          <a:ln/>
        </p:spPr>
        <p:txBody>
          <a:bodyPr wrap="square" lIns="0" tIns="0" rIns="0" bIns="0" rtlCol="0" anchor="t"/>
          <a:lstStyle/>
          <a:p>
            <a:pPr algn="ctr" indent="0" marL="0">
              <a:buNone/>
            </a:pPr>
            <a:r>
              <a:rPr lang="en-US" sz="1350" b="1" dirty="0">
                <a:solidFill>
                  <a:srgbClr val="18263D"/>
                </a:solidFill>
                <a:latin typeface="Cambria" pitchFamily="34" charset="0"/>
                <a:ea typeface="Cambria" pitchFamily="34" charset="-122"/>
                <a:cs typeface="Cambria" pitchFamily="34" charset="-120"/>
              </a:rPr>
              <a:t>Docker Compose</a:t>
            </a:r>
            <a:endParaRPr lang="en-US" sz="1350" dirty="0"/>
          </a:p>
        </p:txBody>
      </p:sp>
      <p:sp>
        <p:nvSpPr>
          <p:cNvPr id="54" name="Text 42"/>
          <p:cNvSpPr txBox="1"/>
          <p:nvPr/>
        </p:nvSpPr>
        <p:spPr>
          <a:xfrm>
            <a:off x="9793590" y="5330952"/>
            <a:ext cx="1831177" cy="960120"/>
          </a:xfrm>
          <a:prstGeom prst="rect">
            <a:avLst/>
          </a:prstGeom>
          <a:noFill/>
          <a:ln/>
        </p:spPr>
        <p:txBody>
          <a:bodyPr wrap="square" lIns="0" tIns="0" rIns="0" bIns="0" rtlCol="0" anchor="t"/>
          <a:lstStyle/>
          <a:p>
            <a:pPr algn="ctr" indent="0" marL="0">
              <a:lnSpc>
                <a:spcPct val="100000"/>
              </a:lnSpc>
              <a:buNone/>
            </a:pPr>
            <a:r>
              <a:rPr lang="en-US" sz="1050" dirty="0">
                <a:solidFill>
                  <a:srgbClr val="3F4C60"/>
                </a:solidFill>
                <a:latin typeface="Calibri" pitchFamily="34" charset="0"/>
                <a:ea typeface="Calibri" pitchFamily="34" charset="-122"/>
                <a:cs typeface="Calibri" pitchFamily="34" charset="-120"/>
              </a:rPr>
              <a:t>One command brings the whole lakehouse up locally.</a:t>
            </a:r>
            <a:endParaRPr lang="en-US" sz="1050" dirty="0"/>
          </a:p>
        </p:txBody>
      </p:sp>
      <p:sp>
        <p:nvSpPr>
          <p:cNvPr id="55" name="Text 43"/>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04</a:t>
            </a:r>
            <a:endParaRPr lang="en-US" sz="1000" dirty="0"/>
          </a:p>
        </p:txBody>
      </p:sp>
      <p:sp>
        <p:nvSpPr>
          <p:cNvPr id="56" name="Text 44"/>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F2B705"/>
                </a:solidFill>
                <a:latin typeface="Calibri" pitchFamily="34" charset="0"/>
                <a:ea typeface="Calibri" pitchFamily="34" charset="-122"/>
                <a:cs typeface="Calibri" pitchFamily="34" charset="-120"/>
              </a:rPr>
              <a:t>DESIGN RATIONALE</a:t>
            </a:r>
            <a:endParaRPr lang="en-US" sz="1200" dirty="0"/>
          </a:p>
        </p:txBody>
      </p:sp>
      <p:sp>
        <p:nvSpPr>
          <p:cNvPr id="4" name="Text 2"/>
          <p:cNvSpPr txBox="1"/>
          <p:nvPr/>
        </p:nvSpPr>
        <p:spPr>
          <a:xfrm>
            <a:off x="694944" y="676656"/>
            <a:ext cx="11277295"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decisions that shape everything</a:t>
            </a:r>
            <a:endParaRPr lang="en-US" sz="3000" dirty="0"/>
          </a:p>
        </p:txBody>
      </p:sp>
      <p:sp>
        <p:nvSpPr>
          <p:cNvPr id="5" name="Shape 3"/>
          <p:cNvSpPr/>
          <p:nvPr/>
        </p:nvSpPr>
        <p:spPr>
          <a:xfrm>
            <a:off x="457200" y="1600200"/>
            <a:ext cx="5455768" cy="2148840"/>
          </a:xfrm>
          <a:prstGeom prst="roundRect">
            <a:avLst>
              <a:gd name="adj" fmla="val 4255"/>
            </a:avLst>
          </a:prstGeom>
          <a:solidFill>
            <a:srgbClr val="16294A"/>
          </a:solidFill>
          <a:ln w="12700">
            <a:solidFill>
              <a:srgbClr val="1E355C"/>
            </a:solidFill>
            <a:prstDash val="solid"/>
          </a:ln>
        </p:spPr>
      </p:sp>
      <p:sp>
        <p:nvSpPr>
          <p:cNvPr id="6" name="Shape 4"/>
          <p:cNvSpPr/>
          <p:nvPr/>
        </p:nvSpPr>
        <p:spPr>
          <a:xfrm>
            <a:off x="749808" y="1911096"/>
            <a:ext cx="640080" cy="640080"/>
          </a:xfrm>
          <a:prstGeom prst="ellipse">
            <a:avLst/>
          </a:prstGeom>
          <a:solidFill>
            <a:srgbClr val="F2B705"/>
          </a:solidFill>
          <a:ln/>
        </p:spPr>
      </p:sp>
      <p:pic>
        <p:nvPicPr>
          <p:cNvPr id="7" name="Image 0" descr="preencoded.png">    </p:cNvPr>
          <p:cNvPicPr>
            <a:picLocks noChangeAspect="1"/>
          </p:cNvPicPr>
          <p:nvPr/>
        </p:nvPicPr>
        <p:blipFill>
          <a:blip r:embed="rId1"/>
          <a:stretch>
            <a:fillRect/>
          </a:stretch>
        </p:blipFill>
        <p:spPr>
          <a:xfrm>
            <a:off x="903427" y="2064715"/>
            <a:ext cx="332842" cy="332842"/>
          </a:xfrm>
          <a:prstGeom prst="rect">
            <a:avLst/>
          </a:prstGeom>
        </p:spPr>
      </p:pic>
      <p:sp>
        <p:nvSpPr>
          <p:cNvPr id="8" name="Text 5"/>
          <p:cNvSpPr txBox="1"/>
          <p:nvPr/>
        </p:nvSpPr>
        <p:spPr>
          <a:xfrm>
            <a:off x="1554480" y="1892808"/>
            <a:ext cx="4129888" cy="731520"/>
          </a:xfrm>
          <a:prstGeom prst="rect">
            <a:avLst/>
          </a:prstGeom>
          <a:noFill/>
          <a:ln/>
        </p:spPr>
        <p:txBody>
          <a:bodyPr wrap="square" lIns="0" tIns="0" rIns="0" bIns="0" rtlCol="0" anchor="ctr"/>
          <a:lstStyle/>
          <a:p>
            <a:pPr indent="0" marL="0">
              <a:buNone/>
            </a:pPr>
            <a:r>
              <a:rPr lang="en-US" sz="1600" b="1" dirty="0">
                <a:solidFill>
                  <a:srgbClr val="FFD34E"/>
                </a:solidFill>
                <a:latin typeface="Cambria" pitchFamily="34" charset="0"/>
                <a:ea typeface="Cambria" pitchFamily="34" charset="-122"/>
                <a:cs typeface="Cambria" pitchFamily="34" charset="-120"/>
              </a:rPr>
              <a:t>Spark in Docker, pinned to 4.1.1</a:t>
            </a:r>
            <a:endParaRPr lang="en-US" sz="1600" dirty="0"/>
          </a:p>
        </p:txBody>
      </p:sp>
      <p:sp>
        <p:nvSpPr>
          <p:cNvPr id="9" name="Text 6"/>
          <p:cNvSpPr txBox="1"/>
          <p:nvPr/>
        </p:nvSpPr>
        <p:spPr>
          <a:xfrm>
            <a:off x="1554480" y="2624328"/>
            <a:ext cx="4129888" cy="1005840"/>
          </a:xfrm>
          <a:prstGeom prst="rect">
            <a:avLst/>
          </a:prstGeom>
          <a:noFill/>
          <a:ln/>
        </p:spPr>
        <p:txBody>
          <a:bodyPr wrap="square" lIns="0" tIns="0" rIns="0" bIns="0" rtlCol="0" anchor="t"/>
          <a:lstStyle/>
          <a:p>
            <a:pPr indent="0" marL="0">
              <a:lnSpc>
                <a:spcPct val="108000"/>
              </a:lnSpc>
              <a:buNone/>
            </a:pPr>
            <a:r>
              <a:rPr lang="en-US" sz="1250" dirty="0">
                <a:solidFill>
                  <a:srgbClr val="CBD6E6"/>
                </a:solidFill>
                <a:latin typeface="Calibri" pitchFamily="34" charset="0"/>
                <a:ea typeface="Calibri" pitchFamily="34" charset="-122"/>
                <a:cs typeface="Calibri" pitchFamily="34" charset="-120"/>
              </a:rPr>
              <a:t>Iceberg has no Spark 4.2 runtime, and Windows PySpark workers are buggy. Containerising keeps Java off the host and the engine reproducible.</a:t>
            </a:r>
            <a:endParaRPr lang="en-US" sz="1250" dirty="0"/>
          </a:p>
        </p:txBody>
      </p:sp>
      <p:sp>
        <p:nvSpPr>
          <p:cNvPr id="10" name="Shape 7"/>
          <p:cNvSpPr/>
          <p:nvPr/>
        </p:nvSpPr>
        <p:spPr>
          <a:xfrm>
            <a:off x="6278728" y="1600200"/>
            <a:ext cx="5455768" cy="2148840"/>
          </a:xfrm>
          <a:prstGeom prst="roundRect">
            <a:avLst>
              <a:gd name="adj" fmla="val 4255"/>
            </a:avLst>
          </a:prstGeom>
          <a:solidFill>
            <a:srgbClr val="16294A"/>
          </a:solidFill>
          <a:ln w="12700">
            <a:solidFill>
              <a:srgbClr val="1E355C"/>
            </a:solidFill>
            <a:prstDash val="solid"/>
          </a:ln>
        </p:spPr>
      </p:sp>
      <p:sp>
        <p:nvSpPr>
          <p:cNvPr id="11" name="Shape 8"/>
          <p:cNvSpPr/>
          <p:nvPr/>
        </p:nvSpPr>
        <p:spPr>
          <a:xfrm>
            <a:off x="6571336" y="1911096"/>
            <a:ext cx="640080" cy="640080"/>
          </a:xfrm>
          <a:prstGeom prst="ellipse">
            <a:avLst/>
          </a:prstGeom>
          <a:solidFill>
            <a:srgbClr val="F2B705"/>
          </a:solidFill>
          <a:ln/>
        </p:spPr>
      </p:sp>
      <p:pic>
        <p:nvPicPr>
          <p:cNvPr id="12" name="Image 1" descr="preencoded.png">    </p:cNvPr>
          <p:cNvPicPr>
            <a:picLocks noChangeAspect="1"/>
          </p:cNvPicPr>
          <p:nvPr/>
        </p:nvPicPr>
        <p:blipFill>
          <a:blip r:embed="rId2"/>
          <a:stretch>
            <a:fillRect/>
          </a:stretch>
        </p:blipFill>
        <p:spPr>
          <a:xfrm>
            <a:off x="6724955" y="2064715"/>
            <a:ext cx="332842" cy="332842"/>
          </a:xfrm>
          <a:prstGeom prst="rect">
            <a:avLst/>
          </a:prstGeom>
        </p:spPr>
      </p:pic>
      <p:sp>
        <p:nvSpPr>
          <p:cNvPr id="13" name="Text 9"/>
          <p:cNvSpPr txBox="1"/>
          <p:nvPr/>
        </p:nvSpPr>
        <p:spPr>
          <a:xfrm>
            <a:off x="7376008" y="1892808"/>
            <a:ext cx="4129888" cy="731520"/>
          </a:xfrm>
          <a:prstGeom prst="rect">
            <a:avLst/>
          </a:prstGeom>
          <a:noFill/>
          <a:ln/>
        </p:spPr>
        <p:txBody>
          <a:bodyPr wrap="square" lIns="0" tIns="0" rIns="0" bIns="0" rtlCol="0" anchor="ctr"/>
          <a:lstStyle/>
          <a:p>
            <a:pPr indent="0" marL="0">
              <a:buNone/>
            </a:pPr>
            <a:r>
              <a:rPr lang="en-US" sz="1600" b="1" dirty="0">
                <a:solidFill>
                  <a:srgbClr val="FFD34E"/>
                </a:solidFill>
                <a:latin typeface="Cambria" pitchFamily="34" charset="0"/>
                <a:ea typeface="Cambria" pitchFamily="34" charset="-122"/>
                <a:cs typeface="Cambria" pitchFamily="34" charset="-120"/>
              </a:rPr>
              <a:t>Monthly partitions give two modes free</a:t>
            </a:r>
            <a:endParaRPr lang="en-US" sz="1600" dirty="0"/>
          </a:p>
        </p:txBody>
      </p:sp>
      <p:sp>
        <p:nvSpPr>
          <p:cNvPr id="14" name="Text 10"/>
          <p:cNvSpPr txBox="1"/>
          <p:nvPr/>
        </p:nvSpPr>
        <p:spPr>
          <a:xfrm>
            <a:off x="7376008" y="2624328"/>
            <a:ext cx="4129888" cy="1005840"/>
          </a:xfrm>
          <a:prstGeom prst="rect">
            <a:avLst/>
          </a:prstGeom>
          <a:noFill/>
          <a:ln/>
        </p:spPr>
        <p:txBody>
          <a:bodyPr wrap="square" lIns="0" tIns="0" rIns="0" bIns="0" rtlCol="0" anchor="t"/>
          <a:lstStyle/>
          <a:p>
            <a:pPr indent="0" marL="0">
              <a:lnSpc>
                <a:spcPct val="108000"/>
              </a:lnSpc>
              <a:buNone/>
            </a:pPr>
            <a:r>
              <a:rPr lang="en-US" sz="1250" dirty="0">
                <a:solidFill>
                  <a:srgbClr val="CBD6E6"/>
                </a:solidFill>
                <a:latin typeface="Calibri" pitchFamily="34" charset="0"/>
                <a:ea typeface="Calibri" pitchFamily="34" charset="-122"/>
                <a:cs typeface="Calibri" pitchFamily="34" charset="-120"/>
              </a:rPr>
              <a:t>A partition-range backfill loads history; a scheduled latest-partition run does incremental deltas — same asset, no extra code.</a:t>
            </a:r>
            <a:endParaRPr lang="en-US" sz="1250" dirty="0"/>
          </a:p>
        </p:txBody>
      </p:sp>
      <p:sp>
        <p:nvSpPr>
          <p:cNvPr id="15" name="Shape 11"/>
          <p:cNvSpPr/>
          <p:nvPr/>
        </p:nvSpPr>
        <p:spPr>
          <a:xfrm>
            <a:off x="457200" y="4023360"/>
            <a:ext cx="5455768" cy="2148840"/>
          </a:xfrm>
          <a:prstGeom prst="roundRect">
            <a:avLst>
              <a:gd name="adj" fmla="val 4255"/>
            </a:avLst>
          </a:prstGeom>
          <a:solidFill>
            <a:srgbClr val="16294A"/>
          </a:solidFill>
          <a:ln w="12700">
            <a:solidFill>
              <a:srgbClr val="1E355C"/>
            </a:solidFill>
            <a:prstDash val="solid"/>
          </a:ln>
        </p:spPr>
      </p:sp>
      <p:sp>
        <p:nvSpPr>
          <p:cNvPr id="16" name="Shape 12"/>
          <p:cNvSpPr/>
          <p:nvPr/>
        </p:nvSpPr>
        <p:spPr>
          <a:xfrm>
            <a:off x="749808" y="4334256"/>
            <a:ext cx="640080" cy="640080"/>
          </a:xfrm>
          <a:prstGeom prst="ellipse">
            <a:avLst/>
          </a:prstGeom>
          <a:solidFill>
            <a:srgbClr val="F2B705"/>
          </a:solidFill>
          <a:ln/>
        </p:spPr>
      </p:sp>
      <p:pic>
        <p:nvPicPr>
          <p:cNvPr id="17" name="Image 2" descr="preencoded.png">    </p:cNvPr>
          <p:cNvPicPr>
            <a:picLocks noChangeAspect="1"/>
          </p:cNvPicPr>
          <p:nvPr/>
        </p:nvPicPr>
        <p:blipFill>
          <a:blip r:embed="rId3"/>
          <a:stretch>
            <a:fillRect/>
          </a:stretch>
        </p:blipFill>
        <p:spPr>
          <a:xfrm>
            <a:off x="903427" y="4487875"/>
            <a:ext cx="332842" cy="332842"/>
          </a:xfrm>
          <a:prstGeom prst="rect">
            <a:avLst/>
          </a:prstGeom>
        </p:spPr>
      </p:pic>
      <p:sp>
        <p:nvSpPr>
          <p:cNvPr id="18" name="Text 13"/>
          <p:cNvSpPr txBox="1"/>
          <p:nvPr/>
        </p:nvSpPr>
        <p:spPr>
          <a:xfrm>
            <a:off x="1554480" y="4315968"/>
            <a:ext cx="4129888" cy="731520"/>
          </a:xfrm>
          <a:prstGeom prst="rect">
            <a:avLst/>
          </a:prstGeom>
          <a:noFill/>
          <a:ln/>
        </p:spPr>
        <p:txBody>
          <a:bodyPr wrap="square" lIns="0" tIns="0" rIns="0" bIns="0" rtlCol="0" anchor="ctr"/>
          <a:lstStyle/>
          <a:p>
            <a:pPr indent="0" marL="0">
              <a:buNone/>
            </a:pPr>
            <a:r>
              <a:rPr lang="en-US" sz="1600" b="1" dirty="0">
                <a:solidFill>
                  <a:srgbClr val="FFD34E"/>
                </a:solidFill>
                <a:latin typeface="Cambria" pitchFamily="34" charset="0"/>
                <a:ea typeface="Cambria" pitchFamily="34" charset="-122"/>
                <a:cs typeface="Cambria" pitchFamily="34" charset="-120"/>
              </a:rPr>
              <a:t>One REST catalog, no dev/prod split</a:t>
            </a:r>
            <a:endParaRPr lang="en-US" sz="1600" dirty="0"/>
          </a:p>
        </p:txBody>
      </p:sp>
      <p:sp>
        <p:nvSpPr>
          <p:cNvPr id="19" name="Text 14"/>
          <p:cNvSpPr txBox="1"/>
          <p:nvPr/>
        </p:nvSpPr>
        <p:spPr>
          <a:xfrm>
            <a:off x="1554480" y="5047488"/>
            <a:ext cx="4129888" cy="1005840"/>
          </a:xfrm>
          <a:prstGeom prst="rect">
            <a:avLst/>
          </a:prstGeom>
          <a:noFill/>
          <a:ln/>
        </p:spPr>
        <p:txBody>
          <a:bodyPr wrap="square" lIns="0" tIns="0" rIns="0" bIns="0" rtlCol="0" anchor="t"/>
          <a:lstStyle/>
          <a:p>
            <a:pPr indent="0" marL="0">
              <a:lnSpc>
                <a:spcPct val="108000"/>
              </a:lnSpc>
              <a:buNone/>
            </a:pPr>
            <a:r>
              <a:rPr lang="en-US" sz="1250" dirty="0">
                <a:solidFill>
                  <a:srgbClr val="CBD6E6"/>
                </a:solidFill>
                <a:latin typeface="Calibri" pitchFamily="34" charset="0"/>
                <a:ea typeface="Calibri" pitchFamily="34" charset="-122"/>
                <a:cs typeface="Calibri" pitchFamily="34" charset="-120"/>
              </a:rPr>
              <a:t>Lakekeeper is the single source of truth for both Spark writers and the DuckDB reader — no catalog drift between write and read.</a:t>
            </a:r>
            <a:endParaRPr lang="en-US" sz="1250" dirty="0"/>
          </a:p>
        </p:txBody>
      </p:sp>
      <p:sp>
        <p:nvSpPr>
          <p:cNvPr id="20" name="Shape 15"/>
          <p:cNvSpPr/>
          <p:nvPr/>
        </p:nvSpPr>
        <p:spPr>
          <a:xfrm>
            <a:off x="6278728" y="4023360"/>
            <a:ext cx="5455768" cy="2148840"/>
          </a:xfrm>
          <a:prstGeom prst="roundRect">
            <a:avLst>
              <a:gd name="adj" fmla="val 4255"/>
            </a:avLst>
          </a:prstGeom>
          <a:solidFill>
            <a:srgbClr val="16294A"/>
          </a:solidFill>
          <a:ln w="12700">
            <a:solidFill>
              <a:srgbClr val="1E355C"/>
            </a:solidFill>
            <a:prstDash val="solid"/>
          </a:ln>
        </p:spPr>
      </p:sp>
      <p:sp>
        <p:nvSpPr>
          <p:cNvPr id="21" name="Shape 16"/>
          <p:cNvSpPr/>
          <p:nvPr/>
        </p:nvSpPr>
        <p:spPr>
          <a:xfrm>
            <a:off x="6571336" y="4334256"/>
            <a:ext cx="640080" cy="640080"/>
          </a:xfrm>
          <a:prstGeom prst="ellipse">
            <a:avLst/>
          </a:prstGeom>
          <a:solidFill>
            <a:srgbClr val="F2B705"/>
          </a:solidFill>
          <a:ln/>
        </p:spPr>
      </p:sp>
      <p:pic>
        <p:nvPicPr>
          <p:cNvPr id="22" name="Image 3" descr="preencoded.png">    </p:cNvPr>
          <p:cNvPicPr>
            <a:picLocks noChangeAspect="1"/>
          </p:cNvPicPr>
          <p:nvPr/>
        </p:nvPicPr>
        <p:blipFill>
          <a:blip r:embed="rId4"/>
          <a:stretch>
            <a:fillRect/>
          </a:stretch>
        </p:blipFill>
        <p:spPr>
          <a:xfrm>
            <a:off x="6724955" y="4487875"/>
            <a:ext cx="332842" cy="332842"/>
          </a:xfrm>
          <a:prstGeom prst="rect">
            <a:avLst/>
          </a:prstGeom>
        </p:spPr>
      </p:pic>
      <p:sp>
        <p:nvSpPr>
          <p:cNvPr id="23" name="Text 17"/>
          <p:cNvSpPr txBox="1"/>
          <p:nvPr/>
        </p:nvSpPr>
        <p:spPr>
          <a:xfrm>
            <a:off x="7376008" y="4315968"/>
            <a:ext cx="4129888" cy="731520"/>
          </a:xfrm>
          <a:prstGeom prst="rect">
            <a:avLst/>
          </a:prstGeom>
          <a:noFill/>
          <a:ln/>
        </p:spPr>
        <p:txBody>
          <a:bodyPr wrap="square" lIns="0" tIns="0" rIns="0" bIns="0" rtlCol="0" anchor="ctr"/>
          <a:lstStyle/>
          <a:p>
            <a:pPr indent="0" marL="0">
              <a:buNone/>
            </a:pPr>
            <a:r>
              <a:rPr lang="en-US" sz="1600" b="1" dirty="0">
                <a:solidFill>
                  <a:srgbClr val="FFD34E"/>
                </a:solidFill>
                <a:latin typeface="Cambria" pitchFamily="34" charset="0"/>
                <a:ea typeface="Cambria" pitchFamily="34" charset="-122"/>
                <a:cs typeface="Cambria" pitchFamily="34" charset="-120"/>
              </a:rPr>
              <a:t>MinIO now, AWS S3 later — config only</a:t>
            </a:r>
            <a:endParaRPr lang="en-US" sz="1600" dirty="0"/>
          </a:p>
        </p:txBody>
      </p:sp>
      <p:sp>
        <p:nvSpPr>
          <p:cNvPr id="24" name="Text 18"/>
          <p:cNvSpPr txBox="1"/>
          <p:nvPr/>
        </p:nvSpPr>
        <p:spPr>
          <a:xfrm>
            <a:off x="7376008" y="5047488"/>
            <a:ext cx="4129888" cy="1005840"/>
          </a:xfrm>
          <a:prstGeom prst="rect">
            <a:avLst/>
          </a:prstGeom>
          <a:noFill/>
          <a:ln/>
        </p:spPr>
        <p:txBody>
          <a:bodyPr wrap="square" lIns="0" tIns="0" rIns="0" bIns="0" rtlCol="0" anchor="t"/>
          <a:lstStyle/>
          <a:p>
            <a:pPr indent="0" marL="0">
              <a:lnSpc>
                <a:spcPct val="108000"/>
              </a:lnSpc>
              <a:buNone/>
            </a:pPr>
            <a:r>
              <a:rPr lang="en-US" sz="1250" dirty="0">
                <a:solidFill>
                  <a:srgbClr val="CBD6E6"/>
                </a:solidFill>
                <a:latin typeface="Calibri" pitchFamily="34" charset="0"/>
                <a:ea typeface="Calibri" pitchFamily="34" charset="-122"/>
                <a:cs typeface="Calibri" pitchFamily="34" charset="-120"/>
              </a:rPr>
              <a:t>S3-compatible endpoints mean the move to real S3 is endpoint + credentials, with zero code changes to the pipeline.</a:t>
            </a:r>
            <a:endParaRPr lang="en-US" sz="1250" dirty="0"/>
          </a:p>
        </p:txBody>
      </p:sp>
      <p:sp>
        <p:nvSpPr>
          <p:cNvPr id="25" name="Text 19"/>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05</a:t>
            </a:r>
            <a:endParaRPr lang="en-US" sz="1000" dirty="0"/>
          </a:p>
        </p:txBody>
      </p:sp>
      <p:sp>
        <p:nvSpPr>
          <p:cNvPr id="26" name="Text 20"/>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DATA MODELLING</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The medallion, layer by layer</a:t>
            </a:r>
            <a:endParaRPr lang="en-US" sz="3000" dirty="0"/>
          </a:p>
        </p:txBody>
      </p:sp>
      <p:pic>
        <p:nvPicPr>
          <p:cNvPr id="5" name="Image 0" descr="/home/claude/diag_medallion.png">    </p:cNvPr>
          <p:cNvPicPr>
            <a:picLocks noChangeAspect="1"/>
          </p:cNvPicPr>
          <p:nvPr/>
        </p:nvPicPr>
        <p:blipFill>
          <a:blip r:embed="rId1"/>
          <a:stretch>
            <a:fillRect/>
          </a:stretch>
        </p:blipFill>
        <p:spPr>
          <a:xfrm>
            <a:off x="1069848" y="1627632"/>
            <a:ext cx="10058400" cy="4220936"/>
          </a:xfrm>
          <a:prstGeom prst="rect">
            <a:avLst/>
          </a:prstGeom>
        </p:spPr>
      </p:pic>
      <p:sp>
        <p:nvSpPr>
          <p:cNvPr id="6" name="Text 3"/>
          <p:cNvSpPr txBox="1"/>
          <p:nvPr/>
        </p:nvSpPr>
        <p:spPr>
          <a:xfrm>
            <a:off x="457200" y="5989320"/>
            <a:ext cx="11277295" cy="310896"/>
          </a:xfrm>
          <a:prstGeom prst="rect">
            <a:avLst/>
          </a:prstGeom>
          <a:noFill/>
          <a:ln/>
        </p:spPr>
        <p:txBody>
          <a:bodyPr wrap="square" lIns="0" tIns="0" rIns="0" bIns="0" rtlCol="0" anchor="ctr"/>
          <a:lstStyle/>
          <a:p>
            <a:pPr algn="ctr" indent="0" marL="0">
              <a:buNone/>
            </a:pPr>
            <a:r>
              <a:rPr lang="en-US" sz="1150" b="1" dirty="0">
                <a:solidFill>
                  <a:srgbClr val="2E5A88"/>
                </a:solidFill>
                <a:latin typeface="Courier New" pitchFamily="34" charset="0"/>
                <a:ea typeface="Courier New" pitchFamily="34" charset="-122"/>
                <a:cs typeface="Courier New" pitchFamily="34" charset="-120"/>
              </a:rPr>
              <a:t>Iceberg tables:  </a:t>
            </a:r>
            <a:pPr algn="ctr" indent="0" marL="0">
              <a:buNone/>
            </a:pPr>
            <a:r>
              <a:rPr lang="en-US" sz="1150" dirty="0">
                <a:solidFill>
                  <a:srgbClr val="3F4C60"/>
                </a:solidFill>
                <a:latin typeface="Courier New" pitchFamily="34" charset="0"/>
                <a:ea typeface="Courier New" pitchFamily="34" charset="-122"/>
                <a:cs typeface="Courier New" pitchFamily="34" charset="-120"/>
              </a:rPr>
              <a:t>lakehouse.bronze.taxi_trips  ·  silver.taxi_trips  ·  gold.*</a:t>
            </a:r>
            <a:endParaRPr lang="en-US" sz="1150" dirty="0"/>
          </a:p>
        </p:txBody>
      </p:sp>
      <p:sp>
        <p:nvSpPr>
          <p:cNvPr id="7" name="Text 4"/>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06</a:t>
            </a:r>
            <a:endParaRPr lang="en-US" sz="1000" dirty="0"/>
          </a:p>
        </p:txBody>
      </p:sp>
      <p:sp>
        <p:nvSpPr>
          <p:cNvPr id="8" name="Text 5"/>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INFRASTRUCTURE</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One command brings the stack up</a:t>
            </a:r>
            <a:endParaRPr lang="en-US" sz="3000" dirty="0"/>
          </a:p>
        </p:txBody>
      </p:sp>
      <p:sp>
        <p:nvSpPr>
          <p:cNvPr id="5" name="Shape 3"/>
          <p:cNvSpPr/>
          <p:nvPr/>
        </p:nvSpPr>
        <p:spPr>
          <a:xfrm>
            <a:off x="1016356" y="1732788"/>
            <a:ext cx="10158984" cy="3551505"/>
          </a:xfrm>
          <a:prstGeom prst="roundRect">
            <a:avLst>
              <a:gd name="adj" fmla="val 1545"/>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docker.png">    </p:cNvPr>
          <p:cNvPicPr>
            <a:picLocks noChangeAspect="1"/>
          </p:cNvPicPr>
          <p:nvPr/>
        </p:nvPicPr>
        <p:blipFill>
          <a:blip r:embed="rId1"/>
          <a:stretch>
            <a:fillRect/>
          </a:stretch>
        </p:blipFill>
        <p:spPr>
          <a:xfrm>
            <a:off x="1066648" y="1783080"/>
            <a:ext cx="10058400" cy="3450921"/>
          </a:xfrm>
          <a:prstGeom prst="rect">
            <a:avLst/>
          </a:prstGeom>
        </p:spPr>
      </p:pic>
      <p:sp>
        <p:nvSpPr>
          <p:cNvPr id="7" name="Text 4"/>
          <p:cNvSpPr txBox="1"/>
          <p:nvPr/>
        </p:nvSpPr>
        <p:spPr>
          <a:xfrm>
            <a:off x="1371600" y="5416881"/>
            <a:ext cx="9448495" cy="54864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docker compose up -d — arte-spark (4.1.1), Lakekeeper, Postgres and MinIO all running, alongside the bucket-create and catalog-bootstrap containers.</a:t>
            </a:r>
            <a:endParaRPr lang="en-US" sz="1200" dirty="0"/>
          </a:p>
        </p:txBody>
      </p:sp>
      <p:sp>
        <p:nvSpPr>
          <p:cNvPr id="8" name="Text 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07</a:t>
            </a:r>
            <a:endParaRPr lang="en-US" sz="1000" dirty="0"/>
          </a:p>
        </p:txBody>
      </p:sp>
      <p:sp>
        <p:nvSpPr>
          <p:cNvPr id="9" name="Text 6"/>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ORCHESTRATION</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The Dagster asset lineage</a:t>
            </a:r>
            <a:endParaRPr lang="en-US" sz="3000" dirty="0"/>
          </a:p>
        </p:txBody>
      </p:sp>
      <p:sp>
        <p:nvSpPr>
          <p:cNvPr id="5" name="Shape 3"/>
          <p:cNvSpPr/>
          <p:nvPr/>
        </p:nvSpPr>
        <p:spPr>
          <a:xfrm>
            <a:off x="1535468" y="1522476"/>
            <a:ext cx="9120759" cy="4215384"/>
          </a:xfrm>
          <a:prstGeom prst="roundRect">
            <a:avLst>
              <a:gd name="adj" fmla="val 1302"/>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dagster_lineage.png">    </p:cNvPr>
          <p:cNvPicPr>
            <a:picLocks noChangeAspect="1"/>
          </p:cNvPicPr>
          <p:nvPr/>
        </p:nvPicPr>
        <p:blipFill>
          <a:blip r:embed="rId1"/>
          <a:stretch>
            <a:fillRect/>
          </a:stretch>
        </p:blipFill>
        <p:spPr>
          <a:xfrm>
            <a:off x="1585760" y="1572768"/>
            <a:ext cx="9020175" cy="4114800"/>
          </a:xfrm>
          <a:prstGeom prst="rect">
            <a:avLst/>
          </a:prstGeom>
        </p:spPr>
      </p:pic>
      <p:sp>
        <p:nvSpPr>
          <p:cNvPr id="7" name="Text 4"/>
          <p:cNvSpPr txBox="1"/>
          <p:nvPr/>
        </p:nvSpPr>
        <p:spPr>
          <a:xfrm>
            <a:off x="1371600" y="5833872"/>
            <a:ext cx="9448495" cy="54864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The materialized asset graph — raw → bronze → silver → gold → maintenance — the medallion flow wired as Dagster assets.</a:t>
            </a:r>
            <a:endParaRPr lang="en-US" sz="1200" dirty="0"/>
          </a:p>
        </p:txBody>
      </p:sp>
      <p:sp>
        <p:nvSpPr>
          <p:cNvPr id="8" name="Text 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08</a:t>
            </a:r>
            <a:endParaRPr lang="en-US" sz="1000" dirty="0"/>
          </a:p>
        </p:txBody>
      </p:sp>
      <p:sp>
        <p:nvSpPr>
          <p:cNvPr id="9" name="Text 6"/>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ORCHESTRATION</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Backfill &amp; incremental runs</a:t>
            </a:r>
            <a:endParaRPr lang="en-US" sz="3000" dirty="0"/>
          </a:p>
        </p:txBody>
      </p:sp>
      <p:sp>
        <p:nvSpPr>
          <p:cNvPr id="5" name="Shape 3"/>
          <p:cNvSpPr/>
          <p:nvPr/>
        </p:nvSpPr>
        <p:spPr>
          <a:xfrm>
            <a:off x="1420677" y="1522476"/>
            <a:ext cx="9350342" cy="4215384"/>
          </a:xfrm>
          <a:prstGeom prst="roundRect">
            <a:avLst>
              <a:gd name="adj" fmla="val 1302"/>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dagster_runs.png">    </p:cNvPr>
          <p:cNvPicPr>
            <a:picLocks noChangeAspect="1"/>
          </p:cNvPicPr>
          <p:nvPr/>
        </p:nvPicPr>
        <p:blipFill>
          <a:blip r:embed="rId1"/>
          <a:stretch>
            <a:fillRect/>
          </a:stretch>
        </p:blipFill>
        <p:spPr>
          <a:xfrm>
            <a:off x="1470969" y="1572768"/>
            <a:ext cx="9249758" cy="4114800"/>
          </a:xfrm>
          <a:prstGeom prst="rect">
            <a:avLst/>
          </a:prstGeom>
        </p:spPr>
      </p:pic>
      <p:sp>
        <p:nvSpPr>
          <p:cNvPr id="7" name="Text 4"/>
          <p:cNvSpPr txBox="1"/>
          <p:nvPr/>
        </p:nvSpPr>
        <p:spPr>
          <a:xfrm>
            <a:off x="1371600" y="5833872"/>
            <a:ext cx="9448495" cy="54864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Per-partition materializations with status and duration. Failures show up in red and stop the run — surfaced explicitly rather than skipped silently, exactly what the blocking checks are for.</a:t>
            </a:r>
            <a:endParaRPr lang="en-US" sz="1200" dirty="0"/>
          </a:p>
        </p:txBody>
      </p:sp>
      <p:sp>
        <p:nvSpPr>
          <p:cNvPr id="8" name="Text 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09</a:t>
            </a:r>
            <a:endParaRPr lang="en-US" sz="1000" dirty="0"/>
          </a:p>
        </p:txBody>
      </p:sp>
      <p:sp>
        <p:nvSpPr>
          <p:cNvPr id="9" name="Text 6"/>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STORAGE</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Medallion layers in MinIO</a:t>
            </a:r>
            <a:endParaRPr lang="en-US" sz="3000" dirty="0"/>
          </a:p>
        </p:txBody>
      </p:sp>
      <p:sp>
        <p:nvSpPr>
          <p:cNvPr id="5" name="Shape 3"/>
          <p:cNvSpPr/>
          <p:nvPr/>
        </p:nvSpPr>
        <p:spPr>
          <a:xfrm>
            <a:off x="406908" y="2235708"/>
            <a:ext cx="5510632" cy="2539961"/>
          </a:xfrm>
          <a:prstGeom prst="roundRect">
            <a:avLst>
              <a:gd name="adj" fmla="val 216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minio_buckets.png">    </p:cNvPr>
          <p:cNvPicPr>
            <a:picLocks noChangeAspect="1"/>
          </p:cNvPicPr>
          <p:nvPr/>
        </p:nvPicPr>
        <p:blipFill>
          <a:blip r:embed="rId1"/>
          <a:stretch>
            <a:fillRect/>
          </a:stretch>
        </p:blipFill>
        <p:spPr>
          <a:xfrm>
            <a:off x="457200" y="2286000"/>
            <a:ext cx="5410048" cy="2439377"/>
          </a:xfrm>
          <a:prstGeom prst="rect">
            <a:avLst/>
          </a:prstGeom>
        </p:spPr>
      </p:pic>
      <p:sp>
        <p:nvSpPr>
          <p:cNvPr id="7" name="Text 4"/>
          <p:cNvSpPr txBox="1"/>
          <p:nvPr/>
        </p:nvSpPr>
        <p:spPr>
          <a:xfrm>
            <a:off x="457200" y="4871681"/>
            <a:ext cx="5410048" cy="548640"/>
          </a:xfrm>
          <a:prstGeom prst="rect">
            <a:avLst/>
          </a:prstGeom>
          <a:noFill/>
          <a:ln/>
        </p:spPr>
        <p:txBody>
          <a:bodyPr wrap="square" lIns="0" tIns="0" rIns="0" bIns="0" rtlCol="0" anchor="t"/>
          <a:lstStyle/>
          <a:p>
            <a:pPr algn="ctr" indent="0" marL="0">
              <a:lnSpc>
                <a:spcPct val="105000"/>
              </a:lnSpc>
              <a:buNone/>
            </a:pPr>
            <a:r>
              <a:rPr lang="en-US" sz="1150" dirty="0">
                <a:solidFill>
                  <a:srgbClr val="3F4C60"/>
                </a:solidFill>
                <a:latin typeface="Calibri" pitchFamily="34" charset="0"/>
                <a:ea typeface="Calibri" pitchFamily="34" charset="-122"/>
                <a:cs typeface="Calibri" pitchFamily="34" charset="-120"/>
              </a:rPr>
              <a:t>The lakehouse bucket — raw / bronze / silver / gold (219 objects).</a:t>
            </a:r>
            <a:endParaRPr lang="en-US" sz="1150" dirty="0"/>
          </a:p>
        </p:txBody>
      </p:sp>
      <p:sp>
        <p:nvSpPr>
          <p:cNvPr id="8" name="Shape 5"/>
          <p:cNvSpPr/>
          <p:nvPr/>
        </p:nvSpPr>
        <p:spPr>
          <a:xfrm>
            <a:off x="6274156" y="2235708"/>
            <a:ext cx="5510632" cy="2572933"/>
          </a:xfrm>
          <a:prstGeom prst="roundRect">
            <a:avLst>
              <a:gd name="adj" fmla="val 2132"/>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9" name="Image 1" descr="/home/claude/shots/minio_raw.png">    </p:cNvPr>
          <p:cNvPicPr>
            <a:picLocks noChangeAspect="1"/>
          </p:cNvPicPr>
          <p:nvPr/>
        </p:nvPicPr>
        <p:blipFill>
          <a:blip r:embed="rId2"/>
          <a:stretch>
            <a:fillRect/>
          </a:stretch>
        </p:blipFill>
        <p:spPr>
          <a:xfrm>
            <a:off x="6324448" y="2286000"/>
            <a:ext cx="5410048" cy="2472349"/>
          </a:xfrm>
          <a:prstGeom prst="rect">
            <a:avLst/>
          </a:prstGeom>
        </p:spPr>
      </p:pic>
      <p:sp>
        <p:nvSpPr>
          <p:cNvPr id="10" name="Text 6"/>
          <p:cNvSpPr txBox="1"/>
          <p:nvPr/>
        </p:nvSpPr>
        <p:spPr>
          <a:xfrm>
            <a:off x="6324448" y="4904653"/>
            <a:ext cx="5410048" cy="548640"/>
          </a:xfrm>
          <a:prstGeom prst="rect">
            <a:avLst/>
          </a:prstGeom>
          <a:noFill/>
          <a:ln/>
        </p:spPr>
        <p:txBody>
          <a:bodyPr wrap="square" lIns="0" tIns="0" rIns="0" bIns="0" rtlCol="0" anchor="t"/>
          <a:lstStyle/>
          <a:p>
            <a:pPr algn="ctr" indent="0" marL="0">
              <a:lnSpc>
                <a:spcPct val="105000"/>
              </a:lnSpc>
              <a:buNone/>
            </a:pPr>
            <a:r>
              <a:rPr lang="en-US" sz="1150" dirty="0">
                <a:solidFill>
                  <a:srgbClr val="3F4C60"/>
                </a:solidFill>
                <a:latin typeface="Calibri" pitchFamily="34" charset="0"/>
                <a:ea typeface="Calibri" pitchFamily="34" charset="-122"/>
                <a:cs typeface="Calibri" pitchFamily="34" charset="-120"/>
              </a:rPr>
              <a:t>raw/taxi landed as month=YYYY-MM/ folders — idempotent per month.</a:t>
            </a:r>
            <a:endParaRPr lang="en-US" sz="1150" dirty="0"/>
          </a:p>
        </p:txBody>
      </p:sp>
      <p:sp>
        <p:nvSpPr>
          <p:cNvPr id="11" name="Text 7"/>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10</a:t>
            </a:r>
            <a:endParaRPr lang="en-US" sz="1000" dirty="0"/>
          </a:p>
        </p:txBody>
      </p:sp>
      <p:sp>
        <p:nvSpPr>
          <p:cNvPr id="12" name="Text 8"/>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STORAGE &amp; CATALOG</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Iceberg partitions &amp; the REST catalog</a:t>
            </a:r>
            <a:endParaRPr lang="en-US" sz="3000" dirty="0"/>
          </a:p>
        </p:txBody>
      </p:sp>
      <p:sp>
        <p:nvSpPr>
          <p:cNvPr id="5" name="Shape 3"/>
          <p:cNvSpPr/>
          <p:nvPr/>
        </p:nvSpPr>
        <p:spPr>
          <a:xfrm>
            <a:off x="406908" y="2235708"/>
            <a:ext cx="5510632" cy="2588520"/>
          </a:xfrm>
          <a:prstGeom prst="roundRect">
            <a:avLst>
              <a:gd name="adj" fmla="val 212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minio_bronze.png">    </p:cNvPr>
          <p:cNvPicPr>
            <a:picLocks noChangeAspect="1"/>
          </p:cNvPicPr>
          <p:nvPr/>
        </p:nvPicPr>
        <p:blipFill>
          <a:blip r:embed="rId1"/>
          <a:stretch>
            <a:fillRect/>
          </a:stretch>
        </p:blipFill>
        <p:spPr>
          <a:xfrm>
            <a:off x="457200" y="2286000"/>
            <a:ext cx="5410048" cy="2487936"/>
          </a:xfrm>
          <a:prstGeom prst="rect">
            <a:avLst/>
          </a:prstGeom>
        </p:spPr>
      </p:pic>
      <p:sp>
        <p:nvSpPr>
          <p:cNvPr id="7" name="Text 4"/>
          <p:cNvSpPr txBox="1"/>
          <p:nvPr/>
        </p:nvSpPr>
        <p:spPr>
          <a:xfrm>
            <a:off x="457200" y="4920240"/>
            <a:ext cx="5410048" cy="548640"/>
          </a:xfrm>
          <a:prstGeom prst="rect">
            <a:avLst/>
          </a:prstGeom>
          <a:noFill/>
          <a:ln/>
        </p:spPr>
        <p:txBody>
          <a:bodyPr wrap="square" lIns="0" tIns="0" rIns="0" bIns="0" rtlCol="0" anchor="t"/>
          <a:lstStyle/>
          <a:p>
            <a:pPr algn="ctr" indent="0" marL="0">
              <a:lnSpc>
                <a:spcPct val="105000"/>
              </a:lnSpc>
              <a:buNone/>
            </a:pPr>
            <a:r>
              <a:rPr lang="en-US" sz="1150" dirty="0">
                <a:solidFill>
                  <a:srgbClr val="3F4C60"/>
                </a:solidFill>
                <a:latin typeface="Calibri" pitchFamily="34" charset="0"/>
                <a:ea typeface="Calibri" pitchFamily="34" charset="-122"/>
                <a:cs typeface="Calibri" pitchFamily="34" charset="-120"/>
              </a:rPr>
              <a:t>bronze.taxi_trips, physically partitioned by trip_start_timestamp_month.</a:t>
            </a:r>
            <a:endParaRPr lang="en-US" sz="1150" dirty="0"/>
          </a:p>
        </p:txBody>
      </p:sp>
      <p:sp>
        <p:nvSpPr>
          <p:cNvPr id="8" name="Shape 5"/>
          <p:cNvSpPr/>
          <p:nvPr/>
        </p:nvSpPr>
        <p:spPr>
          <a:xfrm>
            <a:off x="6274156" y="2345436"/>
            <a:ext cx="5510632" cy="2046098"/>
          </a:xfrm>
          <a:prstGeom prst="roundRect">
            <a:avLst>
              <a:gd name="adj" fmla="val 2681"/>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9" name="Image 1" descr="/home/claude/shots/lakekeeper.png">    </p:cNvPr>
          <p:cNvPicPr>
            <a:picLocks noChangeAspect="1"/>
          </p:cNvPicPr>
          <p:nvPr/>
        </p:nvPicPr>
        <p:blipFill>
          <a:blip r:embed="rId2"/>
          <a:stretch>
            <a:fillRect/>
          </a:stretch>
        </p:blipFill>
        <p:spPr>
          <a:xfrm>
            <a:off x="6324448" y="2395728"/>
            <a:ext cx="5410048" cy="1945514"/>
          </a:xfrm>
          <a:prstGeom prst="rect">
            <a:avLst/>
          </a:prstGeom>
        </p:spPr>
      </p:pic>
      <p:sp>
        <p:nvSpPr>
          <p:cNvPr id="10" name="Text 6"/>
          <p:cNvSpPr txBox="1"/>
          <p:nvPr/>
        </p:nvSpPr>
        <p:spPr>
          <a:xfrm>
            <a:off x="6324448" y="4487546"/>
            <a:ext cx="5410048" cy="548640"/>
          </a:xfrm>
          <a:prstGeom prst="rect">
            <a:avLst/>
          </a:prstGeom>
          <a:noFill/>
          <a:ln/>
        </p:spPr>
        <p:txBody>
          <a:bodyPr wrap="square" lIns="0" tIns="0" rIns="0" bIns="0" rtlCol="0" anchor="t"/>
          <a:lstStyle/>
          <a:p>
            <a:pPr algn="ctr" indent="0" marL="0">
              <a:lnSpc>
                <a:spcPct val="105000"/>
              </a:lnSpc>
              <a:buNone/>
            </a:pPr>
            <a:r>
              <a:rPr lang="en-US" sz="1150" dirty="0">
                <a:solidFill>
                  <a:srgbClr val="3F4C60"/>
                </a:solidFill>
                <a:latin typeface="Calibri" pitchFamily="34" charset="0"/>
                <a:ea typeface="Calibri" pitchFamily="34" charset="-122"/>
                <a:cs typeface="Calibri" pitchFamily="34" charset="-120"/>
              </a:rPr>
              <a:t>Lakekeeper warehouse — bronze &amp; silver plus all six gold marts, catalog active.</a:t>
            </a:r>
            <a:endParaRPr lang="en-US" sz="1150" dirty="0"/>
          </a:p>
        </p:txBody>
      </p:sp>
      <p:sp>
        <p:nvSpPr>
          <p:cNvPr id="11" name="Text 7"/>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11</a:t>
            </a:r>
            <a:endParaRPr lang="en-US" sz="1000" dirty="0"/>
          </a:p>
        </p:txBody>
      </p:sp>
      <p:sp>
        <p:nvSpPr>
          <p:cNvPr id="12" name="Text 8"/>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QUERY</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Querying the lakehouse with DuckDB</a:t>
            </a:r>
            <a:endParaRPr lang="en-US" sz="3000" dirty="0"/>
          </a:p>
        </p:txBody>
      </p:sp>
      <p:sp>
        <p:nvSpPr>
          <p:cNvPr id="5" name="Shape 3"/>
          <p:cNvSpPr/>
          <p:nvPr/>
        </p:nvSpPr>
        <p:spPr>
          <a:xfrm>
            <a:off x="1016356" y="1641348"/>
            <a:ext cx="10158984" cy="3980332"/>
          </a:xfrm>
          <a:prstGeom prst="roundRect">
            <a:avLst>
              <a:gd name="adj" fmla="val 137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duckdb.png">    </p:cNvPr>
          <p:cNvPicPr>
            <a:picLocks noChangeAspect="1"/>
          </p:cNvPicPr>
          <p:nvPr/>
        </p:nvPicPr>
        <p:blipFill>
          <a:blip r:embed="rId1"/>
          <a:stretch>
            <a:fillRect/>
          </a:stretch>
        </p:blipFill>
        <p:spPr>
          <a:xfrm>
            <a:off x="1066648" y="1691640"/>
            <a:ext cx="10058400" cy="3879748"/>
          </a:xfrm>
          <a:prstGeom prst="rect">
            <a:avLst/>
          </a:prstGeom>
        </p:spPr>
      </p:pic>
      <p:sp>
        <p:nvSpPr>
          <p:cNvPr id="7" name="Text 4"/>
          <p:cNvSpPr txBox="1"/>
          <p:nvPr/>
        </p:nvSpPr>
        <p:spPr>
          <a:xfrm>
            <a:off x="1371600" y="5717692"/>
            <a:ext cx="9448495" cy="54864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DuckDB (local query engine, WASM) reads the Iceberg tables through Lakekeeper — here joining silver.taxi_trips to community areas for the top pickup zones.</a:t>
            </a:r>
            <a:endParaRPr lang="en-US" sz="1200" dirty="0"/>
          </a:p>
        </p:txBody>
      </p:sp>
      <p:sp>
        <p:nvSpPr>
          <p:cNvPr id="8" name="Text 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12</a:t>
            </a:r>
            <a:endParaRPr lang="en-US" sz="1000" dirty="0"/>
          </a:p>
        </p:txBody>
      </p:sp>
      <p:sp>
        <p:nvSpPr>
          <p:cNvPr id="9" name="Text 6"/>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BI DASHBOARD</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The analytics dashboard</a:t>
            </a:r>
            <a:endParaRPr lang="en-US" sz="3000" dirty="0"/>
          </a:p>
        </p:txBody>
      </p:sp>
      <p:sp>
        <p:nvSpPr>
          <p:cNvPr id="5" name="Shape 3"/>
          <p:cNvSpPr/>
          <p:nvPr/>
        </p:nvSpPr>
        <p:spPr>
          <a:xfrm>
            <a:off x="1590290" y="1522476"/>
            <a:ext cx="9011116" cy="4169664"/>
          </a:xfrm>
          <a:prstGeom prst="roundRect">
            <a:avLst>
              <a:gd name="adj" fmla="val 1316"/>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dashboard_overview.png">    </p:cNvPr>
          <p:cNvPicPr>
            <a:picLocks noChangeAspect="1"/>
          </p:cNvPicPr>
          <p:nvPr/>
        </p:nvPicPr>
        <p:blipFill>
          <a:blip r:embed="rId1"/>
          <a:stretch>
            <a:fillRect/>
          </a:stretch>
        </p:blipFill>
        <p:spPr>
          <a:xfrm>
            <a:off x="1640582" y="1572768"/>
            <a:ext cx="8910532" cy="4069080"/>
          </a:xfrm>
          <a:prstGeom prst="rect">
            <a:avLst/>
          </a:prstGeom>
        </p:spPr>
      </p:pic>
      <p:sp>
        <p:nvSpPr>
          <p:cNvPr id="7" name="Text 4"/>
          <p:cNvSpPr txBox="1"/>
          <p:nvPr/>
        </p:nvSpPr>
        <p:spPr>
          <a:xfrm>
            <a:off x="1188720" y="5769864"/>
            <a:ext cx="9814255" cy="548640"/>
          </a:xfrm>
          <a:prstGeom prst="rect">
            <a:avLst/>
          </a:prstGeom>
          <a:noFill/>
          <a:ln/>
        </p:spPr>
        <p:txBody>
          <a:bodyPr wrap="square" lIns="0" tIns="0" rIns="0" bIns="0" rtlCol="0" anchor="t"/>
          <a:lstStyle/>
          <a:p>
            <a:pPr algn="ctr" indent="0" marL="0">
              <a:lnSpc>
                <a:spcPct val="105000"/>
              </a:lnSpc>
              <a:buNone/>
            </a:pPr>
            <a:r>
              <a:rPr lang="en-US" sz="1200" dirty="0">
                <a:solidFill>
                  <a:srgbClr val="3F4C60"/>
                </a:solidFill>
                <a:latin typeface="Calibri" pitchFamily="34" charset="0"/>
                <a:ea typeface="Calibri" pitchFamily="34" charset="-122"/>
                <a:cs typeface="Calibri" pitchFamily="34" charset="-120"/>
              </a:rPr>
              <a:t>Live KPIs for Nov–Dec 2023 — 992,850 trips · $26.8M revenue · $21.85 avg fare · 14.6% avg tip — with the daily trips-vs-revenue trend. Every filter re-queries DuckDB live.</a:t>
            </a:r>
            <a:endParaRPr lang="en-US" sz="1200" dirty="0"/>
          </a:p>
        </p:txBody>
      </p:sp>
      <p:sp>
        <p:nvSpPr>
          <p:cNvPr id="8" name="Text 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13</a:t>
            </a:r>
            <a:endParaRPr lang="en-US" sz="1000" dirty="0"/>
          </a:p>
        </p:txBody>
      </p:sp>
      <p:sp>
        <p:nvSpPr>
          <p:cNvPr id="9" name="Text 6"/>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EVIDENCE · BI DASHBOARD</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Demand, payment mix &amp; top areas</a:t>
            </a:r>
            <a:endParaRPr lang="en-US" sz="3000" dirty="0"/>
          </a:p>
        </p:txBody>
      </p:sp>
      <p:sp>
        <p:nvSpPr>
          <p:cNvPr id="5" name="Shape 3"/>
          <p:cNvSpPr/>
          <p:nvPr/>
        </p:nvSpPr>
        <p:spPr>
          <a:xfrm>
            <a:off x="406908" y="2235708"/>
            <a:ext cx="5510632" cy="2587207"/>
          </a:xfrm>
          <a:prstGeom prst="roundRect">
            <a:avLst>
              <a:gd name="adj" fmla="val 2121"/>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6" name="Image 0" descr="/home/claude/shots/dashboard_demand.png">    </p:cNvPr>
          <p:cNvPicPr>
            <a:picLocks noChangeAspect="1"/>
          </p:cNvPicPr>
          <p:nvPr/>
        </p:nvPicPr>
        <p:blipFill>
          <a:blip r:embed="rId1"/>
          <a:stretch>
            <a:fillRect/>
          </a:stretch>
        </p:blipFill>
        <p:spPr>
          <a:xfrm>
            <a:off x="457200" y="2286000"/>
            <a:ext cx="5410048" cy="2486623"/>
          </a:xfrm>
          <a:prstGeom prst="rect">
            <a:avLst/>
          </a:prstGeom>
        </p:spPr>
      </p:pic>
      <p:sp>
        <p:nvSpPr>
          <p:cNvPr id="7" name="Text 4"/>
          <p:cNvSpPr txBox="1"/>
          <p:nvPr/>
        </p:nvSpPr>
        <p:spPr>
          <a:xfrm>
            <a:off x="457200" y="4918927"/>
            <a:ext cx="5410048" cy="548640"/>
          </a:xfrm>
          <a:prstGeom prst="rect">
            <a:avLst/>
          </a:prstGeom>
          <a:noFill/>
          <a:ln/>
        </p:spPr>
        <p:txBody>
          <a:bodyPr wrap="square" lIns="0" tIns="0" rIns="0" bIns="0" rtlCol="0" anchor="t"/>
          <a:lstStyle/>
          <a:p>
            <a:pPr algn="ctr" indent="0" marL="0">
              <a:lnSpc>
                <a:spcPct val="105000"/>
              </a:lnSpc>
              <a:buNone/>
            </a:pPr>
            <a:r>
              <a:rPr lang="en-US" sz="1150" dirty="0">
                <a:solidFill>
                  <a:srgbClr val="3F4C60"/>
                </a:solidFill>
                <a:latin typeface="Calibri" pitchFamily="34" charset="0"/>
                <a:ea typeface="Calibri" pitchFamily="34" charset="-122"/>
                <a:cs typeface="Calibri" pitchFamily="34" charset="-120"/>
              </a:rPr>
              <a:t>Weekday × hour demand heatmap, top companies, payment mix (Credit 40% · Cash 31%).</a:t>
            </a:r>
            <a:endParaRPr lang="en-US" sz="1150" dirty="0"/>
          </a:p>
        </p:txBody>
      </p:sp>
      <p:sp>
        <p:nvSpPr>
          <p:cNvPr id="8" name="Shape 5"/>
          <p:cNvSpPr/>
          <p:nvPr/>
        </p:nvSpPr>
        <p:spPr>
          <a:xfrm>
            <a:off x="6274156" y="2235708"/>
            <a:ext cx="5510632" cy="2514254"/>
          </a:xfrm>
          <a:prstGeom prst="roundRect">
            <a:avLst>
              <a:gd name="adj" fmla="val 2182"/>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pic>
        <p:nvPicPr>
          <p:cNvPr id="9" name="Image 1" descr="/home/claude/shots/dashboard_areas.png">    </p:cNvPr>
          <p:cNvPicPr>
            <a:picLocks noChangeAspect="1"/>
          </p:cNvPicPr>
          <p:nvPr/>
        </p:nvPicPr>
        <p:blipFill>
          <a:blip r:embed="rId2"/>
          <a:stretch>
            <a:fillRect/>
          </a:stretch>
        </p:blipFill>
        <p:spPr>
          <a:xfrm>
            <a:off x="6324448" y="2286000"/>
            <a:ext cx="5410048" cy="2413670"/>
          </a:xfrm>
          <a:prstGeom prst="rect">
            <a:avLst/>
          </a:prstGeom>
        </p:spPr>
      </p:pic>
      <p:sp>
        <p:nvSpPr>
          <p:cNvPr id="10" name="Text 6"/>
          <p:cNvSpPr txBox="1"/>
          <p:nvPr/>
        </p:nvSpPr>
        <p:spPr>
          <a:xfrm>
            <a:off x="6324448" y="4845974"/>
            <a:ext cx="5410048" cy="548640"/>
          </a:xfrm>
          <a:prstGeom prst="rect">
            <a:avLst/>
          </a:prstGeom>
          <a:noFill/>
          <a:ln/>
        </p:spPr>
        <p:txBody>
          <a:bodyPr wrap="square" lIns="0" tIns="0" rIns="0" bIns="0" rtlCol="0" anchor="t"/>
          <a:lstStyle/>
          <a:p>
            <a:pPr algn="ctr" indent="0" marL="0">
              <a:lnSpc>
                <a:spcPct val="105000"/>
              </a:lnSpc>
              <a:buNone/>
            </a:pPr>
            <a:r>
              <a:rPr lang="en-US" sz="1150" dirty="0">
                <a:solidFill>
                  <a:srgbClr val="3F4C60"/>
                </a:solidFill>
                <a:latin typeface="Calibri" pitchFamily="34" charset="0"/>
                <a:ea typeface="Calibri" pitchFamily="34" charset="-122"/>
                <a:cs typeface="Calibri" pitchFamily="34" charset="-120"/>
              </a:rPr>
              <a:t>Top pickup areas — O'Hare &amp; Garfield Ridge flagged as airports; Near North Side leads.</a:t>
            </a:r>
            <a:endParaRPr lang="en-US" sz="1150" dirty="0"/>
          </a:p>
        </p:txBody>
      </p:sp>
      <p:sp>
        <p:nvSpPr>
          <p:cNvPr id="11" name="Text 7"/>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14</a:t>
            </a:r>
            <a:endParaRPr lang="en-US" sz="1000" dirty="0"/>
          </a:p>
        </p:txBody>
      </p:sp>
      <p:sp>
        <p:nvSpPr>
          <p:cNvPr id="12" name="Text 8"/>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INGESTION</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SODA API → raw CSV in MinIO</a:t>
            </a:r>
            <a:endParaRPr lang="en-US" sz="3000" dirty="0"/>
          </a:p>
        </p:txBody>
      </p:sp>
      <p:sp>
        <p:nvSpPr>
          <p:cNvPr id="5" name="Shape 3"/>
          <p:cNvSpPr/>
          <p:nvPr/>
        </p:nvSpPr>
        <p:spPr>
          <a:xfrm>
            <a:off x="457200" y="1572768"/>
            <a:ext cx="5943600" cy="4480560"/>
          </a:xfrm>
          <a:prstGeom prst="roundRect">
            <a:avLst>
              <a:gd name="adj" fmla="val 2041"/>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768096" y="1828800"/>
            <a:ext cx="603504" cy="603504"/>
          </a:xfrm>
          <a:prstGeom prst="ellipse">
            <a:avLst/>
          </a:prstGeom>
          <a:solidFill>
            <a:srgbClr val="2E5A88"/>
          </a:solidFill>
          <a:ln/>
        </p:spPr>
      </p:sp>
      <p:pic>
        <p:nvPicPr>
          <p:cNvPr id="7" name="Image 0" descr="preencoded.png">    </p:cNvPr>
          <p:cNvPicPr>
            <a:picLocks noChangeAspect="1"/>
          </p:cNvPicPr>
          <p:nvPr/>
        </p:nvPicPr>
        <p:blipFill>
          <a:blip r:embed="rId1"/>
          <a:stretch>
            <a:fillRect/>
          </a:stretch>
        </p:blipFill>
        <p:spPr>
          <a:xfrm>
            <a:off x="912937" y="1973641"/>
            <a:ext cx="313822" cy="313822"/>
          </a:xfrm>
          <a:prstGeom prst="rect">
            <a:avLst/>
          </a:prstGeom>
        </p:spPr>
      </p:pic>
      <p:sp>
        <p:nvSpPr>
          <p:cNvPr id="8" name="Text 5"/>
          <p:cNvSpPr txBox="1"/>
          <p:nvPr/>
        </p:nvSpPr>
        <p:spPr>
          <a:xfrm>
            <a:off x="1536192" y="1828800"/>
            <a:ext cx="4663440" cy="603504"/>
          </a:xfrm>
          <a:prstGeom prst="rect">
            <a:avLst/>
          </a:prstGeom>
          <a:noFill/>
          <a:ln/>
        </p:spPr>
        <p:txBody>
          <a:bodyPr wrap="square" lIns="0" tIns="0" rIns="0" bIns="0" rtlCol="0" anchor="ctr"/>
          <a:lstStyle/>
          <a:p>
            <a:pPr indent="0" marL="0">
              <a:buNone/>
            </a:pPr>
            <a:r>
              <a:rPr lang="en-US" sz="1600" b="1" dirty="0">
                <a:solidFill>
                  <a:srgbClr val="18263D"/>
                </a:solidFill>
                <a:latin typeface="Cambria" pitchFamily="34" charset="0"/>
                <a:ea typeface="Cambria" pitchFamily="34" charset="-122"/>
                <a:cs typeface="Cambria" pitchFamily="34" charset="-120"/>
              </a:rPr>
              <a:t>A standalone extractor, separate from Spark</a:t>
            </a:r>
            <a:endParaRPr lang="en-US" sz="1600" dirty="0"/>
          </a:p>
        </p:txBody>
      </p:sp>
      <p:sp>
        <p:nvSpPr>
          <p:cNvPr id="9" name="Text 6"/>
          <p:cNvSpPr txBox="1"/>
          <p:nvPr/>
        </p:nvSpPr>
        <p:spPr>
          <a:xfrm>
            <a:off x="841248" y="2542032"/>
            <a:ext cx="5175504" cy="3383280"/>
          </a:xfrm>
          <a:prstGeom prst="rect">
            <a:avLst/>
          </a:prstGeom>
          <a:noFill/>
          <a:ln/>
        </p:spPr>
        <p:txBody>
          <a:bodyPr wrap="square" lIns="0" tIns="0" rIns="0" bIns="0" rtlCol="0" anchor="ctr"/>
          <a:lstStyle/>
          <a:p>
            <a:pPr marL="177800" indent="-177800">
              <a:spcAft>
                <a:spcPts val="900"/>
              </a:spcAft>
              <a:buSzPct val="100000"/>
              <a:buChar char="•"/>
            </a:pPr>
            <a:r>
              <a:rPr lang="en-US" sz="1450" b="1" dirty="0">
                <a:solidFill>
                  <a:srgbClr val="3F4C60"/>
                </a:solidFill>
                <a:latin typeface="Calibri" pitchFamily="34" charset="0"/>
                <a:ea typeface="Calibri" pitchFamily="34" charset="-122"/>
                <a:cs typeface="Calibri" pitchFamily="34" charset="-120"/>
              </a:rPr>
              <a:t>Pure-Python requests + boto3 — no Spark needed to land raw</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Pages one month window: $where filters trip_start_timestamp, $select projects only needed columns</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$order + $limit=50000 + $offset for stable pagination</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X-App-Token header avoids Socrata throttling</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Retry / backoff on 429 &amp; 5xx responses</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Streams SODA's native .csv straight to MinIO — no JSON→CSV step</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Idempotent: deletes the month prefix before writing</a:t>
            </a:r>
            <a:endParaRPr lang="en-US" sz="1450" dirty="0"/>
          </a:p>
        </p:txBody>
      </p:sp>
      <p:sp>
        <p:nvSpPr>
          <p:cNvPr id="10" name="Shape 7"/>
          <p:cNvSpPr/>
          <p:nvPr/>
        </p:nvSpPr>
        <p:spPr>
          <a:xfrm>
            <a:off x="6720840" y="1572768"/>
            <a:ext cx="5013655" cy="1965960"/>
          </a:xfrm>
          <a:prstGeom prst="roundRect">
            <a:avLst>
              <a:gd name="adj" fmla="val 4651"/>
            </a:avLst>
          </a:prstGeom>
          <a:solidFill>
            <a:srgbClr val="0E1B33"/>
          </a:solidFill>
          <a:ln/>
          <a:effectLst>
            <a:outerShdw sx="100000" sy="100000" kx="0" ky="0" algn="bl" rotWithShape="0" blurRad="101600" dist="38100" dir="5400000">
              <a:srgbClr val="9AA7B8">
                <a:alpha val="32000"/>
              </a:srgbClr>
            </a:outerShdw>
          </a:effectLst>
        </p:spPr>
      </p:sp>
      <p:sp>
        <p:nvSpPr>
          <p:cNvPr id="11" name="Text 8"/>
          <p:cNvSpPr txBox="1"/>
          <p:nvPr/>
        </p:nvSpPr>
        <p:spPr>
          <a:xfrm>
            <a:off x="6995160" y="1737360"/>
            <a:ext cx="4465015" cy="320040"/>
          </a:xfrm>
          <a:prstGeom prst="rect">
            <a:avLst/>
          </a:prstGeom>
          <a:noFill/>
          <a:ln/>
        </p:spPr>
        <p:txBody>
          <a:bodyPr wrap="square" lIns="0" tIns="0" rIns="0" bIns="0" rtlCol="0" anchor="ctr"/>
          <a:lstStyle/>
          <a:p>
            <a:pPr indent="0" marL="0">
              <a:buNone/>
            </a:pPr>
            <a:r>
              <a:rPr lang="en-US" sz="1200" b="1" spc="200" kern="0" dirty="0">
                <a:solidFill>
                  <a:srgbClr val="F2B705"/>
                </a:solidFill>
                <a:latin typeface="Calibri" pitchFamily="34" charset="0"/>
                <a:ea typeface="Calibri" pitchFamily="34" charset="-122"/>
                <a:cs typeface="Calibri" pitchFamily="34" charset="-120"/>
              </a:rPr>
              <a:t>API query</a:t>
            </a:r>
            <a:endParaRPr lang="en-US" sz="1200" dirty="0"/>
          </a:p>
        </p:txBody>
      </p:sp>
      <p:sp>
        <p:nvSpPr>
          <p:cNvPr id="12" name="Text 9"/>
          <p:cNvSpPr txBox="1"/>
          <p:nvPr/>
        </p:nvSpPr>
        <p:spPr>
          <a:xfrm>
            <a:off x="6995160" y="2103120"/>
            <a:ext cx="4510735" cy="1371600"/>
          </a:xfrm>
          <a:prstGeom prst="rect">
            <a:avLst/>
          </a:prstGeom>
          <a:noFill/>
          <a:ln/>
        </p:spPr>
        <p:txBody>
          <a:bodyPr wrap="square" lIns="0" tIns="0" rIns="0" bIns="0" rtlCol="0" anchor="ctr"/>
          <a:lstStyle/>
          <a:p>
            <a:pPr indent="0" marL="0">
              <a:lnSpc>
                <a:spcPct val="105000"/>
              </a:lnSpc>
              <a:buNone/>
            </a:pPr>
            <a:r>
              <a:rPr lang="en-US" sz="1100" dirty="0">
                <a:solidFill>
                  <a:srgbClr val="FFD34E"/>
                </a:solidFill>
                <a:latin typeface="Courier New" pitchFamily="34" charset="0"/>
                <a:ea typeface="Courier New" pitchFamily="34" charset="-122"/>
                <a:cs typeface="Courier New" pitchFamily="34" charset="-120"/>
              </a:rPr>
              <a:t>GET /resource/wrvz-psew.csv
</a:t>
            </a:r>
            <a:pPr indent="0" marL="0">
              <a:lnSpc>
                <a:spcPct val="105000"/>
              </a:lnSpc>
              <a:buNone/>
            </a:pPr>
            <a:r>
              <a:rPr lang="en-US" sz="1100" dirty="0">
                <a:solidFill>
                  <a:srgbClr val="CBD6E6"/>
                </a:solidFill>
                <a:latin typeface="Courier New" pitchFamily="34" charset="0"/>
                <a:ea typeface="Courier New" pitchFamily="34" charset="-122"/>
                <a:cs typeface="Courier New" pitchFamily="34" charset="-120"/>
              </a:rPr>
              <a:t>$where=trip_start_timestamp
     &gt;= START and &lt; END
</a:t>
            </a:r>
            <a:pPr indent="0" marL="0">
              <a:lnSpc>
                <a:spcPct val="105000"/>
              </a:lnSpc>
              <a:buNone/>
            </a:pPr>
            <a:r>
              <a:rPr lang="en-US" sz="1100" dirty="0">
                <a:solidFill>
                  <a:srgbClr val="CBD6E6"/>
                </a:solidFill>
                <a:latin typeface="Courier New" pitchFamily="34" charset="0"/>
                <a:ea typeface="Courier New" pitchFamily="34" charset="-122"/>
                <a:cs typeface="Courier New" pitchFamily="34" charset="-120"/>
              </a:rPr>
              <a:t>$select=trip_id, taxi_id, fare …
</a:t>
            </a:r>
            <a:pPr indent="0" marL="0">
              <a:lnSpc>
                <a:spcPct val="105000"/>
              </a:lnSpc>
              <a:buNone/>
            </a:pPr>
            <a:r>
              <a:rPr lang="en-US" sz="1100" dirty="0">
                <a:solidFill>
                  <a:srgbClr val="CBD6E6"/>
                </a:solidFill>
                <a:latin typeface="Courier New" pitchFamily="34" charset="0"/>
                <a:ea typeface="Courier New" pitchFamily="34" charset="-122"/>
                <a:cs typeface="Courier New" pitchFamily="34" charset="-120"/>
              </a:rPr>
              <a:t>$limit=50000 &amp;$offset=N</a:t>
            </a:r>
            <a:endParaRPr lang="en-US" sz="1100" dirty="0"/>
          </a:p>
        </p:txBody>
      </p:sp>
      <p:sp>
        <p:nvSpPr>
          <p:cNvPr id="13" name="Shape 10"/>
          <p:cNvSpPr/>
          <p:nvPr/>
        </p:nvSpPr>
        <p:spPr>
          <a:xfrm>
            <a:off x="6720840" y="3749040"/>
            <a:ext cx="5013655" cy="2304288"/>
          </a:xfrm>
          <a:prstGeom prst="roundRect">
            <a:avLst>
              <a:gd name="adj" fmla="val 396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4" name="Text 11"/>
          <p:cNvSpPr txBox="1"/>
          <p:nvPr/>
        </p:nvSpPr>
        <p:spPr>
          <a:xfrm>
            <a:off x="6995160" y="3913632"/>
            <a:ext cx="4465015" cy="320040"/>
          </a:xfrm>
          <a:prstGeom prst="rect">
            <a:avLst/>
          </a:prstGeom>
          <a:noFill/>
          <a:ln/>
        </p:spPr>
        <p:txBody>
          <a:bodyPr wrap="square" lIns="0" tIns="0" rIns="0" bIns="0" rtlCol="0" anchor="ctr"/>
          <a:lstStyle/>
          <a:p>
            <a:pPr indent="0" marL="0">
              <a:buNone/>
            </a:pPr>
            <a:r>
              <a:rPr lang="en-US" sz="1350" b="1" dirty="0">
                <a:solidFill>
                  <a:srgbClr val="18263D"/>
                </a:solidFill>
                <a:latin typeface="Cambria" pitchFamily="34" charset="0"/>
                <a:ea typeface="Cambria" pitchFamily="34" charset="-122"/>
                <a:cs typeface="Cambria" pitchFamily="34" charset="-120"/>
              </a:rPr>
              <a:t>Landed layout in MinIO</a:t>
            </a:r>
            <a:endParaRPr lang="en-US" sz="1350" dirty="0"/>
          </a:p>
        </p:txBody>
      </p:sp>
      <p:sp>
        <p:nvSpPr>
          <p:cNvPr id="15" name="Text 12"/>
          <p:cNvSpPr txBox="1"/>
          <p:nvPr/>
        </p:nvSpPr>
        <p:spPr>
          <a:xfrm>
            <a:off x="7013448" y="4315968"/>
            <a:ext cx="4465015" cy="1645920"/>
          </a:xfrm>
          <a:prstGeom prst="rect">
            <a:avLst/>
          </a:prstGeom>
          <a:noFill/>
          <a:ln/>
        </p:spPr>
        <p:txBody>
          <a:bodyPr wrap="square" lIns="0" tIns="0" rIns="0" bIns="0" rtlCol="0" anchor="ctr"/>
          <a:lstStyle/>
          <a:p>
            <a:pPr indent="0" marL="0">
              <a:lnSpc>
                <a:spcPct val="110000"/>
              </a:lnSpc>
              <a:buNone/>
            </a:pPr>
            <a:r>
              <a:rPr lang="en-US" sz="1050" b="1" dirty="0">
                <a:solidFill>
                  <a:srgbClr val="18263D"/>
                </a:solidFill>
                <a:latin typeface="Courier New" pitchFamily="34" charset="0"/>
                <a:ea typeface="Courier New" pitchFamily="34" charset="-122"/>
                <a:cs typeface="Courier New" pitchFamily="34" charset="-120"/>
              </a:rPr>
              <a:t>lakehouse/
</a:t>
            </a:r>
            <a:pPr indent="0" marL="0">
              <a:lnSpc>
                <a:spcPct val="110000"/>
              </a:lnSpc>
              <a:buNone/>
            </a:pPr>
            <a:r>
              <a:rPr lang="en-US" sz="1050" dirty="0">
                <a:solidFill>
                  <a:srgbClr val="2E5A88"/>
                </a:solidFill>
                <a:latin typeface="Courier New" pitchFamily="34" charset="0"/>
                <a:ea typeface="Courier New" pitchFamily="34" charset="-122"/>
                <a:cs typeface="Courier New" pitchFamily="34" charset="-120"/>
              </a:rPr>
              <a:t>└─ raw/taxi/
</a:t>
            </a:r>
            <a:pPr indent="0" marL="0">
              <a:lnSpc>
                <a:spcPct val="110000"/>
              </a:lnSpc>
              <a:buNone/>
            </a:pPr>
            <a:r>
              <a:rPr lang="en-US" sz="1050" dirty="0">
                <a:solidFill>
                  <a:srgbClr val="3F4C60"/>
                </a:solidFill>
                <a:latin typeface="Courier New" pitchFamily="34" charset="0"/>
                <a:ea typeface="Courier New" pitchFamily="34" charset="-122"/>
                <a:cs typeface="Courier New" pitchFamily="34" charset="-120"/>
              </a:rPr>
              <a:t>   ├─ month=2023-07/part-0000.csv
</a:t>
            </a:r>
            <a:pPr indent="0" marL="0">
              <a:lnSpc>
                <a:spcPct val="110000"/>
              </a:lnSpc>
              <a:buNone/>
            </a:pPr>
            <a:r>
              <a:rPr lang="en-US" sz="1050" dirty="0">
                <a:solidFill>
                  <a:srgbClr val="3F4C60"/>
                </a:solidFill>
                <a:latin typeface="Courier New" pitchFamily="34" charset="0"/>
                <a:ea typeface="Courier New" pitchFamily="34" charset="-122"/>
                <a:cs typeface="Courier New" pitchFamily="34" charset="-120"/>
              </a:rPr>
              <a:t>   ├─ month=2023-08/part-0000.csv
</a:t>
            </a:r>
            <a:pPr indent="0" marL="0">
              <a:lnSpc>
                <a:spcPct val="110000"/>
              </a:lnSpc>
              <a:buNone/>
            </a:pPr>
            <a:r>
              <a:rPr lang="en-US" sz="1050" dirty="0">
                <a:solidFill>
                  <a:srgbClr val="738298"/>
                </a:solidFill>
                <a:latin typeface="Courier New" pitchFamily="34" charset="0"/>
                <a:ea typeface="Courier New" pitchFamily="34" charset="-122"/>
                <a:cs typeface="Courier New" pitchFamily="34" charset="-120"/>
              </a:rPr>
              <a:t>   ├─ …
</a:t>
            </a:r>
            <a:pPr indent="0" marL="0">
              <a:lnSpc>
                <a:spcPct val="110000"/>
              </a:lnSpc>
              <a:buNone/>
            </a:pPr>
            <a:r>
              <a:rPr lang="en-US" sz="1050" dirty="0">
                <a:solidFill>
                  <a:srgbClr val="3F4C60"/>
                </a:solidFill>
                <a:latin typeface="Courier New" pitchFamily="34" charset="0"/>
                <a:ea typeface="Courier New" pitchFamily="34" charset="-122"/>
                <a:cs typeface="Courier New" pitchFamily="34" charset="-120"/>
              </a:rPr>
              <a:t>   └─ month=2023-12/part-0000.csv</a:t>
            </a:r>
            <a:endParaRPr lang="en-US" sz="1050" dirty="0"/>
          </a:p>
        </p:txBody>
      </p:sp>
      <p:sp>
        <p:nvSpPr>
          <p:cNvPr id="16" name="Text 13"/>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15</a:t>
            </a:r>
            <a:endParaRPr lang="en-US" sz="1000" dirty="0"/>
          </a:p>
        </p:txBody>
      </p:sp>
      <p:sp>
        <p:nvSpPr>
          <p:cNvPr id="17" name="Text 14"/>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TRANSFORM</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Bronze &amp; Silver in Spark</a:t>
            </a:r>
            <a:endParaRPr lang="en-US" sz="3000" dirty="0"/>
          </a:p>
        </p:txBody>
      </p:sp>
      <p:sp>
        <p:nvSpPr>
          <p:cNvPr id="5" name="Shape 3"/>
          <p:cNvSpPr/>
          <p:nvPr/>
        </p:nvSpPr>
        <p:spPr>
          <a:xfrm>
            <a:off x="457200" y="1572768"/>
            <a:ext cx="5455768" cy="2148840"/>
          </a:xfrm>
          <a:prstGeom prst="roundRect">
            <a:avLst>
              <a:gd name="adj" fmla="val 4255"/>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749808" y="1847088"/>
            <a:ext cx="585216" cy="585216"/>
          </a:xfrm>
          <a:prstGeom prst="ellipse">
            <a:avLst/>
          </a:prstGeom>
          <a:solidFill>
            <a:srgbClr val="A9744F"/>
          </a:solidFill>
          <a:ln/>
        </p:spPr>
      </p:sp>
      <p:pic>
        <p:nvPicPr>
          <p:cNvPr id="7" name="Image 0" descr="preencoded.png">    </p:cNvPr>
          <p:cNvPicPr>
            <a:picLocks noChangeAspect="1"/>
          </p:cNvPicPr>
          <p:nvPr/>
        </p:nvPicPr>
        <p:blipFill>
          <a:blip r:embed="rId1"/>
          <a:stretch>
            <a:fillRect/>
          </a:stretch>
        </p:blipFill>
        <p:spPr>
          <a:xfrm>
            <a:off x="890260" y="1987540"/>
            <a:ext cx="304312" cy="304312"/>
          </a:xfrm>
          <a:prstGeom prst="rect">
            <a:avLst/>
          </a:prstGeom>
        </p:spPr>
      </p:pic>
      <p:sp>
        <p:nvSpPr>
          <p:cNvPr id="8" name="Text 5"/>
          <p:cNvSpPr txBox="1"/>
          <p:nvPr/>
        </p:nvSpPr>
        <p:spPr>
          <a:xfrm>
            <a:off x="1481328" y="1847088"/>
            <a:ext cx="4267048" cy="585216"/>
          </a:xfrm>
          <a:prstGeom prst="rect">
            <a:avLst/>
          </a:prstGeom>
          <a:noFill/>
          <a:ln/>
        </p:spPr>
        <p:txBody>
          <a:bodyPr wrap="square" lIns="0" tIns="0" rIns="0" bIns="0" rtlCol="0" anchor="ctr"/>
          <a:lstStyle/>
          <a:p>
            <a:pPr indent="0" marL="0">
              <a:buNone/>
            </a:pPr>
            <a:r>
              <a:rPr lang="en-US" sz="1600" b="1" dirty="0">
                <a:solidFill>
                  <a:srgbClr val="A9744F"/>
                </a:solidFill>
                <a:latin typeface="Cambria" pitchFamily="34" charset="0"/>
                <a:ea typeface="Cambria" pitchFamily="34" charset="-122"/>
                <a:cs typeface="Cambria" pitchFamily="34" charset="-120"/>
              </a:rPr>
              <a:t>BRONZE — read &amp; type</a:t>
            </a:r>
            <a:endParaRPr lang="en-US" sz="1600" dirty="0"/>
          </a:p>
        </p:txBody>
      </p:sp>
      <p:sp>
        <p:nvSpPr>
          <p:cNvPr id="9" name="Text 6"/>
          <p:cNvSpPr txBox="1"/>
          <p:nvPr/>
        </p:nvSpPr>
        <p:spPr>
          <a:xfrm>
            <a:off x="841248" y="2505456"/>
            <a:ext cx="4724248" cy="1097280"/>
          </a:xfrm>
          <a:prstGeom prst="rect">
            <a:avLst/>
          </a:prstGeom>
          <a:noFill/>
          <a:ln/>
        </p:spPr>
        <p:txBody>
          <a:bodyPr wrap="square" lIns="0" tIns="0" rIns="0" bIns="0" rtlCol="0" anchor="ctr"/>
          <a:lstStyle/>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Spark reads raw CSV over S3A (hadoop-aws) with an explicit StructType — no inferSchema at scale</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Writes Iceberg partitioned by months(); dynamic partition overwrite = clean per-month replays</a:t>
            </a:r>
            <a:endParaRPr lang="en-US" sz="1450" dirty="0"/>
          </a:p>
        </p:txBody>
      </p:sp>
      <p:sp>
        <p:nvSpPr>
          <p:cNvPr id="10" name="Shape 7"/>
          <p:cNvSpPr/>
          <p:nvPr/>
        </p:nvSpPr>
        <p:spPr>
          <a:xfrm>
            <a:off x="6278728" y="1572768"/>
            <a:ext cx="5455768" cy="2148840"/>
          </a:xfrm>
          <a:prstGeom prst="roundRect">
            <a:avLst>
              <a:gd name="adj" fmla="val 4255"/>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1" name="Shape 8"/>
          <p:cNvSpPr/>
          <p:nvPr/>
        </p:nvSpPr>
        <p:spPr>
          <a:xfrm>
            <a:off x="6571336" y="1847088"/>
            <a:ext cx="585216" cy="585216"/>
          </a:xfrm>
          <a:prstGeom prst="ellipse">
            <a:avLst/>
          </a:prstGeom>
          <a:solidFill>
            <a:srgbClr val="8A97A3"/>
          </a:solidFill>
          <a:ln/>
        </p:spPr>
      </p:sp>
      <p:pic>
        <p:nvPicPr>
          <p:cNvPr id="12" name="Image 1" descr="preencoded.png">    </p:cNvPr>
          <p:cNvPicPr>
            <a:picLocks noChangeAspect="1"/>
          </p:cNvPicPr>
          <p:nvPr/>
        </p:nvPicPr>
        <p:blipFill>
          <a:blip r:embed="rId2"/>
          <a:stretch>
            <a:fillRect/>
          </a:stretch>
        </p:blipFill>
        <p:spPr>
          <a:xfrm>
            <a:off x="6711787" y="1987540"/>
            <a:ext cx="304312" cy="304312"/>
          </a:xfrm>
          <a:prstGeom prst="rect">
            <a:avLst/>
          </a:prstGeom>
        </p:spPr>
      </p:pic>
      <p:sp>
        <p:nvSpPr>
          <p:cNvPr id="13" name="Text 9"/>
          <p:cNvSpPr txBox="1"/>
          <p:nvPr/>
        </p:nvSpPr>
        <p:spPr>
          <a:xfrm>
            <a:off x="7302856" y="1847088"/>
            <a:ext cx="4267048" cy="585216"/>
          </a:xfrm>
          <a:prstGeom prst="rect">
            <a:avLst/>
          </a:prstGeom>
          <a:noFill/>
          <a:ln/>
        </p:spPr>
        <p:txBody>
          <a:bodyPr wrap="square" lIns="0" tIns="0" rIns="0" bIns="0" rtlCol="0" anchor="ctr"/>
          <a:lstStyle/>
          <a:p>
            <a:pPr indent="0" marL="0">
              <a:buNone/>
            </a:pPr>
            <a:r>
              <a:rPr lang="en-US" sz="1600" b="1" dirty="0">
                <a:solidFill>
                  <a:srgbClr val="5C6873"/>
                </a:solidFill>
                <a:latin typeface="Cambria" pitchFamily="34" charset="0"/>
                <a:ea typeface="Cambria" pitchFamily="34" charset="-122"/>
                <a:cs typeface="Cambria" pitchFamily="34" charset="-120"/>
              </a:rPr>
              <a:t>SILVER — clean &amp; enrich</a:t>
            </a:r>
            <a:endParaRPr lang="en-US" sz="1600" dirty="0"/>
          </a:p>
        </p:txBody>
      </p:sp>
      <p:sp>
        <p:nvSpPr>
          <p:cNvPr id="14" name="Text 10"/>
          <p:cNvSpPr txBox="1"/>
          <p:nvPr/>
        </p:nvSpPr>
        <p:spPr>
          <a:xfrm>
            <a:off x="6662776" y="2505456"/>
            <a:ext cx="4724248" cy="1097280"/>
          </a:xfrm>
          <a:prstGeom prst="rect">
            <a:avLst/>
          </a:prstGeom>
          <a:noFill/>
          <a:ln/>
        </p:spPr>
        <p:txBody>
          <a:bodyPr wrap="square" lIns="0" tIns="0" rIns="0" bIns="0" rtlCol="0" anchor="ctr"/>
          <a:lstStyle/>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Dedupe by trip_id, drop null-key rows, overwritePartitions back into silver</a:t>
            </a:r>
            <a:endParaRPr lang="en-US" sz="1450" dirty="0"/>
          </a:p>
          <a:p>
            <a:pPr marL="177800" indent="-177800">
              <a:spcAft>
                <a:spcPts val="900"/>
              </a:spcAft>
              <a:buSzPct val="100000"/>
              <a:buChar char="•"/>
            </a:pPr>
            <a:r>
              <a:rPr lang="en-US" sz="1450" dirty="0">
                <a:solidFill>
                  <a:srgbClr val="3F4C60"/>
                </a:solidFill>
                <a:latin typeface="Calibri" pitchFamily="34" charset="0"/>
                <a:ea typeface="Calibri" pitchFamily="34" charset="-122"/>
                <a:cs typeface="Calibri" pitchFamily="34" charset="-120"/>
              </a:rPr>
              <a:t>Derives trip_date, trip_hour, day_of_week, duration_min, speed_mph, tip_pct, is_airport</a:t>
            </a:r>
            <a:endParaRPr lang="en-US" sz="1450" dirty="0"/>
          </a:p>
        </p:txBody>
      </p:sp>
      <p:sp>
        <p:nvSpPr>
          <p:cNvPr id="15" name="Text 11"/>
          <p:cNvSpPr txBox="1"/>
          <p:nvPr/>
        </p:nvSpPr>
        <p:spPr>
          <a:xfrm>
            <a:off x="457200" y="3977640"/>
            <a:ext cx="5486400" cy="274320"/>
          </a:xfrm>
          <a:prstGeom prst="rect">
            <a:avLst/>
          </a:prstGeom>
          <a:noFill/>
          <a:ln/>
        </p:spPr>
        <p:txBody>
          <a:bodyPr wrap="square" lIns="0" tIns="0" rIns="0" bIns="0" rtlCol="0" anchor="ctr"/>
          <a:lstStyle/>
          <a:p>
            <a:pPr indent="0" marL="0">
              <a:buNone/>
            </a:pPr>
            <a:r>
              <a:rPr lang="en-US" sz="1200" b="1" spc="200" kern="0" dirty="0">
                <a:solidFill>
                  <a:srgbClr val="2E5A88"/>
                </a:solidFill>
                <a:latin typeface="Calibri" pitchFamily="34" charset="0"/>
                <a:ea typeface="Calibri" pitchFamily="34" charset="-122"/>
                <a:cs typeface="Calibri" pitchFamily="34" charset="-120"/>
              </a:rPr>
              <a:t>Derived analytical fields</a:t>
            </a:r>
            <a:endParaRPr lang="en-US" sz="1200" dirty="0"/>
          </a:p>
        </p:txBody>
      </p:sp>
      <p:sp>
        <p:nvSpPr>
          <p:cNvPr id="16" name="Shape 12"/>
          <p:cNvSpPr/>
          <p:nvPr/>
        </p:nvSpPr>
        <p:spPr>
          <a:xfrm>
            <a:off x="457200" y="4315968"/>
            <a:ext cx="1068019" cy="310896"/>
          </a:xfrm>
          <a:prstGeom prst="roundRect">
            <a:avLst>
              <a:gd name="adj" fmla="val 50000"/>
            </a:avLst>
          </a:prstGeom>
          <a:solidFill>
            <a:srgbClr val="16294A"/>
          </a:solidFill>
          <a:ln/>
        </p:spPr>
      </p:sp>
      <p:sp>
        <p:nvSpPr>
          <p:cNvPr id="17" name="Text 13"/>
          <p:cNvSpPr txBox="1"/>
          <p:nvPr/>
        </p:nvSpPr>
        <p:spPr>
          <a:xfrm>
            <a:off x="457200" y="4315968"/>
            <a:ext cx="1068019"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trip_date</a:t>
            </a:r>
            <a:endParaRPr lang="en-US" sz="1150" dirty="0"/>
          </a:p>
        </p:txBody>
      </p:sp>
      <p:sp>
        <p:nvSpPr>
          <p:cNvPr id="18" name="Shape 14"/>
          <p:cNvSpPr/>
          <p:nvPr/>
        </p:nvSpPr>
        <p:spPr>
          <a:xfrm>
            <a:off x="1671523" y="4315968"/>
            <a:ext cx="1068019" cy="310896"/>
          </a:xfrm>
          <a:prstGeom prst="roundRect">
            <a:avLst>
              <a:gd name="adj" fmla="val 50000"/>
            </a:avLst>
          </a:prstGeom>
          <a:solidFill>
            <a:srgbClr val="16294A"/>
          </a:solidFill>
          <a:ln/>
        </p:spPr>
      </p:sp>
      <p:sp>
        <p:nvSpPr>
          <p:cNvPr id="19" name="Text 15"/>
          <p:cNvSpPr txBox="1"/>
          <p:nvPr/>
        </p:nvSpPr>
        <p:spPr>
          <a:xfrm>
            <a:off x="1671523" y="4315968"/>
            <a:ext cx="1068019"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trip_hour</a:t>
            </a:r>
            <a:endParaRPr lang="en-US" sz="1150" dirty="0"/>
          </a:p>
        </p:txBody>
      </p:sp>
      <p:sp>
        <p:nvSpPr>
          <p:cNvPr id="20" name="Shape 16"/>
          <p:cNvSpPr/>
          <p:nvPr/>
        </p:nvSpPr>
        <p:spPr>
          <a:xfrm>
            <a:off x="2885846" y="4315968"/>
            <a:ext cx="1236269" cy="310896"/>
          </a:xfrm>
          <a:prstGeom prst="roundRect">
            <a:avLst>
              <a:gd name="adj" fmla="val 50000"/>
            </a:avLst>
          </a:prstGeom>
          <a:solidFill>
            <a:srgbClr val="16294A"/>
          </a:solidFill>
          <a:ln/>
        </p:spPr>
      </p:sp>
      <p:sp>
        <p:nvSpPr>
          <p:cNvPr id="21" name="Text 17"/>
          <p:cNvSpPr txBox="1"/>
          <p:nvPr/>
        </p:nvSpPr>
        <p:spPr>
          <a:xfrm>
            <a:off x="2885846" y="4315968"/>
            <a:ext cx="1236269"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day_of_week</a:t>
            </a:r>
            <a:endParaRPr lang="en-US" sz="1150" dirty="0"/>
          </a:p>
        </p:txBody>
      </p:sp>
      <p:sp>
        <p:nvSpPr>
          <p:cNvPr id="22" name="Shape 18"/>
          <p:cNvSpPr/>
          <p:nvPr/>
        </p:nvSpPr>
        <p:spPr>
          <a:xfrm>
            <a:off x="4268419" y="4315968"/>
            <a:ext cx="1320394" cy="310896"/>
          </a:xfrm>
          <a:prstGeom prst="roundRect">
            <a:avLst>
              <a:gd name="adj" fmla="val 50000"/>
            </a:avLst>
          </a:prstGeom>
          <a:solidFill>
            <a:srgbClr val="16294A"/>
          </a:solidFill>
          <a:ln/>
        </p:spPr>
      </p:sp>
      <p:sp>
        <p:nvSpPr>
          <p:cNvPr id="23" name="Text 19"/>
          <p:cNvSpPr txBox="1"/>
          <p:nvPr/>
        </p:nvSpPr>
        <p:spPr>
          <a:xfrm>
            <a:off x="4268419" y="4315968"/>
            <a:ext cx="1320394"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duration_min</a:t>
            </a:r>
            <a:endParaRPr lang="en-US" sz="1150" dirty="0"/>
          </a:p>
        </p:txBody>
      </p:sp>
      <p:sp>
        <p:nvSpPr>
          <p:cNvPr id="24" name="Shape 20"/>
          <p:cNvSpPr/>
          <p:nvPr/>
        </p:nvSpPr>
        <p:spPr>
          <a:xfrm>
            <a:off x="5735117" y="4315968"/>
            <a:ext cx="1068019" cy="310896"/>
          </a:xfrm>
          <a:prstGeom prst="roundRect">
            <a:avLst>
              <a:gd name="adj" fmla="val 50000"/>
            </a:avLst>
          </a:prstGeom>
          <a:solidFill>
            <a:srgbClr val="16294A"/>
          </a:solidFill>
          <a:ln/>
        </p:spPr>
      </p:sp>
      <p:sp>
        <p:nvSpPr>
          <p:cNvPr id="25" name="Text 21"/>
          <p:cNvSpPr txBox="1"/>
          <p:nvPr/>
        </p:nvSpPr>
        <p:spPr>
          <a:xfrm>
            <a:off x="5735117" y="4315968"/>
            <a:ext cx="1068019"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speed_mph</a:t>
            </a:r>
            <a:endParaRPr lang="en-US" sz="1150" dirty="0"/>
          </a:p>
        </p:txBody>
      </p:sp>
      <p:sp>
        <p:nvSpPr>
          <p:cNvPr id="26" name="Shape 22"/>
          <p:cNvSpPr/>
          <p:nvPr/>
        </p:nvSpPr>
        <p:spPr>
          <a:xfrm>
            <a:off x="6949440" y="4315968"/>
            <a:ext cx="899770" cy="310896"/>
          </a:xfrm>
          <a:prstGeom prst="roundRect">
            <a:avLst>
              <a:gd name="adj" fmla="val 50000"/>
            </a:avLst>
          </a:prstGeom>
          <a:solidFill>
            <a:srgbClr val="16294A"/>
          </a:solidFill>
          <a:ln/>
        </p:spPr>
      </p:sp>
      <p:sp>
        <p:nvSpPr>
          <p:cNvPr id="27" name="Text 23"/>
          <p:cNvSpPr txBox="1"/>
          <p:nvPr/>
        </p:nvSpPr>
        <p:spPr>
          <a:xfrm>
            <a:off x="6949440" y="4315968"/>
            <a:ext cx="899770"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tip_pct</a:t>
            </a:r>
            <a:endParaRPr lang="en-US" sz="1150" dirty="0"/>
          </a:p>
        </p:txBody>
      </p:sp>
      <p:sp>
        <p:nvSpPr>
          <p:cNvPr id="28" name="Shape 24"/>
          <p:cNvSpPr/>
          <p:nvPr/>
        </p:nvSpPr>
        <p:spPr>
          <a:xfrm>
            <a:off x="7995514" y="4315968"/>
            <a:ext cx="1152144" cy="310896"/>
          </a:xfrm>
          <a:prstGeom prst="roundRect">
            <a:avLst>
              <a:gd name="adj" fmla="val 50000"/>
            </a:avLst>
          </a:prstGeom>
          <a:solidFill>
            <a:srgbClr val="16294A"/>
          </a:solidFill>
          <a:ln/>
        </p:spPr>
      </p:sp>
      <p:sp>
        <p:nvSpPr>
          <p:cNvPr id="29" name="Text 25"/>
          <p:cNvSpPr txBox="1"/>
          <p:nvPr/>
        </p:nvSpPr>
        <p:spPr>
          <a:xfrm>
            <a:off x="7995514" y="4315968"/>
            <a:ext cx="1152144" cy="310896"/>
          </a:xfrm>
          <a:prstGeom prst="rect">
            <a:avLst/>
          </a:prstGeom>
          <a:noFill/>
          <a:ln/>
        </p:spPr>
        <p:txBody>
          <a:bodyPr wrap="square" lIns="0" tIns="0" rIns="0" bIns="0" rtlCol="0" anchor="ctr"/>
          <a:lstStyle/>
          <a:p>
            <a:pPr algn="ctr" indent="0" marL="0">
              <a:buNone/>
            </a:pPr>
            <a:r>
              <a:rPr lang="en-US" sz="1150" b="1" dirty="0">
                <a:solidFill>
                  <a:srgbClr val="FFD34E"/>
                </a:solidFill>
                <a:latin typeface="Calibri" pitchFamily="34" charset="0"/>
                <a:ea typeface="Calibri" pitchFamily="34" charset="-122"/>
                <a:cs typeface="Calibri" pitchFamily="34" charset="-120"/>
              </a:rPr>
              <a:t>is_airport</a:t>
            </a:r>
            <a:endParaRPr lang="en-US" sz="1150" dirty="0"/>
          </a:p>
        </p:txBody>
      </p:sp>
      <p:sp>
        <p:nvSpPr>
          <p:cNvPr id="30" name="Shape 26"/>
          <p:cNvSpPr/>
          <p:nvPr/>
        </p:nvSpPr>
        <p:spPr>
          <a:xfrm>
            <a:off x="457200" y="4892040"/>
            <a:ext cx="11277295" cy="1161288"/>
          </a:xfrm>
          <a:prstGeom prst="roundRect">
            <a:avLst>
              <a:gd name="adj" fmla="val 7874"/>
            </a:avLst>
          </a:prstGeom>
          <a:solidFill>
            <a:srgbClr val="FBF2E0"/>
          </a:solidFill>
          <a:ln w="15875">
            <a:solidFill>
              <a:srgbClr val="F2B705"/>
            </a:solidFill>
            <a:prstDash val="solid"/>
          </a:ln>
          <a:effectLst>
            <a:outerShdw sx="100000" sy="100000" kx="0" ky="0" algn="bl" rotWithShape="0" blurRad="101600" dist="38100" dir="5400000">
              <a:srgbClr val="9AA7B8">
                <a:alpha val="32000"/>
              </a:srgbClr>
            </a:outerShdw>
          </a:effectLst>
        </p:spPr>
      </p:sp>
      <p:sp>
        <p:nvSpPr>
          <p:cNvPr id="31" name="Shape 27"/>
          <p:cNvSpPr/>
          <p:nvPr/>
        </p:nvSpPr>
        <p:spPr>
          <a:xfrm>
            <a:off x="749808" y="5138928"/>
            <a:ext cx="640080" cy="640080"/>
          </a:xfrm>
          <a:prstGeom prst="ellipse">
            <a:avLst/>
          </a:prstGeom>
          <a:solidFill>
            <a:srgbClr val="E08A1E"/>
          </a:solidFill>
          <a:ln/>
        </p:spPr>
      </p:sp>
      <p:pic>
        <p:nvPicPr>
          <p:cNvPr id="32" name="Image 2" descr="preencoded.png">    </p:cNvPr>
          <p:cNvPicPr>
            <a:picLocks noChangeAspect="1"/>
          </p:cNvPicPr>
          <p:nvPr/>
        </p:nvPicPr>
        <p:blipFill>
          <a:blip r:embed="rId3"/>
          <a:stretch>
            <a:fillRect/>
          </a:stretch>
        </p:blipFill>
        <p:spPr>
          <a:xfrm>
            <a:off x="903427" y="5292547"/>
            <a:ext cx="332842" cy="332842"/>
          </a:xfrm>
          <a:prstGeom prst="rect">
            <a:avLst/>
          </a:prstGeom>
        </p:spPr>
      </p:pic>
      <p:sp>
        <p:nvSpPr>
          <p:cNvPr id="33" name="Text 28"/>
          <p:cNvSpPr txBox="1"/>
          <p:nvPr/>
        </p:nvSpPr>
        <p:spPr>
          <a:xfrm>
            <a:off x="1600200" y="5029200"/>
            <a:ext cx="5486400" cy="365760"/>
          </a:xfrm>
          <a:prstGeom prst="rect">
            <a:avLst/>
          </a:prstGeom>
          <a:noFill/>
          <a:ln/>
        </p:spPr>
        <p:txBody>
          <a:bodyPr wrap="square" lIns="0" tIns="0" rIns="0" bIns="0" rtlCol="0" anchor="ctr"/>
          <a:lstStyle/>
          <a:p>
            <a:pPr indent="0" marL="0">
              <a:buNone/>
            </a:pPr>
            <a:r>
              <a:rPr lang="en-US" sz="1500" b="1" dirty="0">
                <a:solidFill>
                  <a:srgbClr val="9A5B12"/>
                </a:solidFill>
                <a:latin typeface="Cambria" pitchFamily="34" charset="0"/>
                <a:ea typeface="Cambria" pitchFamily="34" charset="-122"/>
                <a:cs typeface="Cambria" pitchFamily="34" charset="-120"/>
              </a:rPr>
              <a:t>Real anomalies caught — logged as non-blocking WARN</a:t>
            </a:r>
            <a:endParaRPr lang="en-US" sz="1500" dirty="0"/>
          </a:p>
        </p:txBody>
      </p:sp>
      <p:sp>
        <p:nvSpPr>
          <p:cNvPr id="34" name="Text 29"/>
          <p:cNvSpPr txBox="1"/>
          <p:nvPr/>
        </p:nvSpPr>
        <p:spPr>
          <a:xfrm>
            <a:off x="1600200" y="5413248"/>
            <a:ext cx="5852160" cy="548640"/>
          </a:xfrm>
          <a:prstGeom prst="rect">
            <a:avLst/>
          </a:prstGeom>
          <a:noFill/>
          <a:ln/>
        </p:spPr>
        <p:txBody>
          <a:bodyPr wrap="square" lIns="0" tIns="0" rIns="0" bIns="0" rtlCol="0" anchor="t"/>
          <a:lstStyle/>
          <a:p>
            <a:pPr indent="0" marL="0">
              <a:buNone/>
            </a:pPr>
            <a:r>
              <a:rPr lang="en-US" sz="1200" dirty="0">
                <a:solidFill>
                  <a:srgbClr val="3F4C60"/>
                </a:solidFill>
                <a:latin typeface="Calibri" pitchFamily="34" charset="0"/>
                <a:ea typeface="Calibri" pitchFamily="34" charset="-122"/>
                <a:cs typeface="Calibri" pitchFamily="34" charset="-120"/>
              </a:rPr>
              <a:t>The data quality layer flagged impossible values without failing the run — visible in the UI for triage.</a:t>
            </a:r>
            <a:endParaRPr lang="en-US" sz="1200" dirty="0"/>
          </a:p>
        </p:txBody>
      </p:sp>
      <p:sp>
        <p:nvSpPr>
          <p:cNvPr id="35" name="Shape 30"/>
          <p:cNvSpPr/>
          <p:nvPr/>
        </p:nvSpPr>
        <p:spPr>
          <a:xfrm>
            <a:off x="7818120" y="5029200"/>
            <a:ext cx="1847088" cy="896112"/>
          </a:xfrm>
          <a:prstGeom prst="roundRect">
            <a:avLst>
              <a:gd name="adj" fmla="val 8163"/>
            </a:avLst>
          </a:prstGeom>
          <a:solidFill>
            <a:srgbClr val="FFFFFF"/>
          </a:solidFill>
          <a:ln w="12700">
            <a:solidFill>
              <a:srgbClr val="F2B705"/>
            </a:solidFill>
            <a:prstDash val="solid"/>
          </a:ln>
        </p:spPr>
      </p:sp>
      <p:sp>
        <p:nvSpPr>
          <p:cNvPr id="36" name="Text 31"/>
          <p:cNvSpPr txBox="1"/>
          <p:nvPr/>
        </p:nvSpPr>
        <p:spPr>
          <a:xfrm>
            <a:off x="7863840" y="5120640"/>
            <a:ext cx="1755648" cy="365760"/>
          </a:xfrm>
          <a:prstGeom prst="rect">
            <a:avLst/>
          </a:prstGeom>
          <a:noFill/>
          <a:ln/>
        </p:spPr>
        <p:txBody>
          <a:bodyPr wrap="square" lIns="0" tIns="0" rIns="0" bIns="0" rtlCol="0" anchor="ctr"/>
          <a:lstStyle/>
          <a:p>
            <a:pPr algn="ctr" indent="0" marL="0">
              <a:buNone/>
            </a:pPr>
            <a:r>
              <a:rPr lang="en-US" sz="1250" b="1" dirty="0">
                <a:solidFill>
                  <a:srgbClr val="9A5B12"/>
                </a:solidFill>
                <a:latin typeface="Courier New" pitchFamily="34" charset="0"/>
                <a:ea typeface="Courier New" pitchFamily="34" charset="-122"/>
                <a:cs typeface="Courier New" pitchFamily="34" charset="-120"/>
              </a:rPr>
              <a:t>speed_mph = 101,520</a:t>
            </a:r>
            <a:endParaRPr lang="en-US" sz="1250" dirty="0"/>
          </a:p>
        </p:txBody>
      </p:sp>
      <p:sp>
        <p:nvSpPr>
          <p:cNvPr id="37" name="Text 32"/>
          <p:cNvSpPr txBox="1"/>
          <p:nvPr/>
        </p:nvSpPr>
        <p:spPr>
          <a:xfrm>
            <a:off x="7872984" y="5486400"/>
            <a:ext cx="1737360" cy="384048"/>
          </a:xfrm>
          <a:prstGeom prst="rect">
            <a:avLst/>
          </a:prstGeom>
          <a:noFill/>
          <a:ln/>
        </p:spPr>
        <p:txBody>
          <a:bodyPr wrap="square" lIns="0" tIns="0" rIns="0" bIns="0" rtlCol="0" anchor="t"/>
          <a:lstStyle/>
          <a:p>
            <a:pPr algn="ctr" indent="0" marL="0">
              <a:buNone/>
            </a:pPr>
            <a:r>
              <a:rPr lang="en-US" sz="950" dirty="0">
                <a:solidFill>
                  <a:srgbClr val="738298"/>
                </a:solidFill>
                <a:latin typeface="Calibri" pitchFamily="34" charset="0"/>
                <a:ea typeface="Calibri" pitchFamily="34" charset="-122"/>
                <a:cs typeface="Calibri" pitchFamily="34" charset="-120"/>
              </a:rPr>
              <a:t>physically impossible speed</a:t>
            </a:r>
            <a:endParaRPr lang="en-US" sz="950" dirty="0"/>
          </a:p>
        </p:txBody>
      </p:sp>
      <p:sp>
        <p:nvSpPr>
          <p:cNvPr id="38" name="Shape 33"/>
          <p:cNvSpPr/>
          <p:nvPr/>
        </p:nvSpPr>
        <p:spPr>
          <a:xfrm>
            <a:off x="9793224" y="5029200"/>
            <a:ext cx="1847088" cy="896112"/>
          </a:xfrm>
          <a:prstGeom prst="roundRect">
            <a:avLst>
              <a:gd name="adj" fmla="val 8163"/>
            </a:avLst>
          </a:prstGeom>
          <a:solidFill>
            <a:srgbClr val="FFFFFF"/>
          </a:solidFill>
          <a:ln w="12700">
            <a:solidFill>
              <a:srgbClr val="F2B705"/>
            </a:solidFill>
            <a:prstDash val="solid"/>
          </a:ln>
        </p:spPr>
      </p:sp>
      <p:sp>
        <p:nvSpPr>
          <p:cNvPr id="39" name="Text 34"/>
          <p:cNvSpPr txBox="1"/>
          <p:nvPr/>
        </p:nvSpPr>
        <p:spPr>
          <a:xfrm>
            <a:off x="9838944" y="5120640"/>
            <a:ext cx="1755648" cy="365760"/>
          </a:xfrm>
          <a:prstGeom prst="rect">
            <a:avLst/>
          </a:prstGeom>
          <a:noFill/>
          <a:ln/>
        </p:spPr>
        <p:txBody>
          <a:bodyPr wrap="square" lIns="0" tIns="0" rIns="0" bIns="0" rtlCol="0" anchor="ctr"/>
          <a:lstStyle/>
          <a:p>
            <a:pPr algn="ctr" indent="0" marL="0">
              <a:buNone/>
            </a:pPr>
            <a:r>
              <a:rPr lang="en-US" sz="1250" b="1" dirty="0">
                <a:solidFill>
                  <a:srgbClr val="9A5B12"/>
                </a:solidFill>
                <a:latin typeface="Courier New" pitchFamily="34" charset="0"/>
                <a:ea typeface="Courier New" pitchFamily="34" charset="-122"/>
                <a:cs typeface="Courier New" pitchFamily="34" charset="-120"/>
              </a:rPr>
              <a:t>tip_pct = 153.8</a:t>
            </a:r>
            <a:endParaRPr lang="en-US" sz="1250" dirty="0"/>
          </a:p>
        </p:txBody>
      </p:sp>
      <p:sp>
        <p:nvSpPr>
          <p:cNvPr id="40" name="Text 35"/>
          <p:cNvSpPr txBox="1"/>
          <p:nvPr/>
        </p:nvSpPr>
        <p:spPr>
          <a:xfrm>
            <a:off x="9848088" y="5486400"/>
            <a:ext cx="1737360" cy="384048"/>
          </a:xfrm>
          <a:prstGeom prst="rect">
            <a:avLst/>
          </a:prstGeom>
          <a:noFill/>
          <a:ln/>
        </p:spPr>
        <p:txBody>
          <a:bodyPr wrap="square" lIns="0" tIns="0" rIns="0" bIns="0" rtlCol="0" anchor="t"/>
          <a:lstStyle/>
          <a:p>
            <a:pPr algn="ctr" indent="0" marL="0">
              <a:buNone/>
            </a:pPr>
            <a:r>
              <a:rPr lang="en-US" sz="950" dirty="0">
                <a:solidFill>
                  <a:srgbClr val="738298"/>
                </a:solidFill>
                <a:latin typeface="Calibri" pitchFamily="34" charset="0"/>
                <a:ea typeface="Calibri" pitchFamily="34" charset="-122"/>
                <a:cs typeface="Calibri" pitchFamily="34" charset="-120"/>
              </a:rPr>
              <a:t>tip larger than the fare</a:t>
            </a:r>
            <a:endParaRPr lang="en-US" sz="950" dirty="0"/>
          </a:p>
        </p:txBody>
      </p:sp>
      <p:sp>
        <p:nvSpPr>
          <p:cNvPr id="41" name="Text 36"/>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16</a:t>
            </a:r>
            <a:endParaRPr lang="en-US" sz="1000" dirty="0"/>
          </a:p>
        </p:txBody>
      </p:sp>
      <p:sp>
        <p:nvSpPr>
          <p:cNvPr id="42" name="Text 37"/>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SERVING LAYER TABLES</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Gold marts for the BI team</a:t>
            </a:r>
            <a:endParaRPr lang="en-US" sz="3000" dirty="0"/>
          </a:p>
        </p:txBody>
      </p:sp>
      <p:sp>
        <p:nvSpPr>
          <p:cNvPr id="5" name="Shape 3"/>
          <p:cNvSpPr/>
          <p:nvPr/>
        </p:nvSpPr>
        <p:spPr>
          <a:xfrm>
            <a:off x="457200" y="1691640"/>
            <a:ext cx="3576218" cy="1828800"/>
          </a:xfrm>
          <a:prstGeom prst="roundRect">
            <a:avLst>
              <a:gd name="adj" fmla="val 5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731520" y="1947672"/>
            <a:ext cx="548640" cy="548640"/>
          </a:xfrm>
          <a:prstGeom prst="ellipse">
            <a:avLst/>
          </a:prstGeom>
          <a:solidFill>
            <a:srgbClr val="CBA02E"/>
          </a:solidFill>
          <a:ln/>
        </p:spPr>
      </p:sp>
      <p:pic>
        <p:nvPicPr>
          <p:cNvPr id="7" name="Image 0" descr="preencoded.png">    </p:cNvPr>
          <p:cNvPicPr>
            <a:picLocks noChangeAspect="1"/>
          </p:cNvPicPr>
          <p:nvPr/>
        </p:nvPicPr>
        <p:blipFill>
          <a:blip r:embed="rId1"/>
          <a:stretch>
            <a:fillRect/>
          </a:stretch>
        </p:blipFill>
        <p:spPr>
          <a:xfrm>
            <a:off x="863194" y="2079346"/>
            <a:ext cx="285293" cy="285293"/>
          </a:xfrm>
          <a:prstGeom prst="rect">
            <a:avLst/>
          </a:prstGeom>
        </p:spPr>
      </p:pic>
      <p:sp>
        <p:nvSpPr>
          <p:cNvPr id="8" name="Text 5"/>
          <p:cNvSpPr txBox="1"/>
          <p:nvPr/>
        </p:nvSpPr>
        <p:spPr>
          <a:xfrm>
            <a:off x="1389888" y="1965960"/>
            <a:ext cx="2524658" cy="502920"/>
          </a:xfrm>
          <a:prstGeom prst="rect">
            <a:avLst/>
          </a:prstGeom>
          <a:noFill/>
          <a:ln/>
        </p:spPr>
        <p:txBody>
          <a:bodyPr wrap="square" lIns="0" tIns="0" rIns="0" bIns="0" rtlCol="0" anchor="ctr"/>
          <a:lstStyle/>
          <a:p>
            <a:pPr indent="0" marL="0">
              <a:buNone/>
            </a:pPr>
            <a:r>
              <a:rPr lang="en-US" sz="1350" b="1" dirty="0">
                <a:solidFill>
                  <a:srgbClr val="18263D"/>
                </a:solidFill>
                <a:latin typeface="Courier New" pitchFamily="34" charset="0"/>
                <a:ea typeface="Courier New" pitchFamily="34" charset="-122"/>
                <a:cs typeface="Courier New" pitchFamily="34" charset="-120"/>
              </a:rPr>
              <a:t>trips_daily</a:t>
            </a:r>
            <a:endParaRPr lang="en-US" sz="1350" dirty="0"/>
          </a:p>
        </p:txBody>
      </p:sp>
      <p:sp>
        <p:nvSpPr>
          <p:cNvPr id="9" name="Text 6"/>
          <p:cNvSpPr txBox="1"/>
          <p:nvPr/>
        </p:nvSpPr>
        <p:spPr>
          <a:xfrm>
            <a:off x="731520" y="2624328"/>
            <a:ext cx="3073298" cy="777240"/>
          </a:xfrm>
          <a:prstGeom prst="rect">
            <a:avLst/>
          </a:prstGeom>
          <a:noFill/>
          <a:ln/>
        </p:spPr>
        <p:txBody>
          <a:bodyPr wrap="square" lIns="0" tIns="0" rIns="0" bIns="0" rtlCol="0" anchor="t"/>
          <a:lstStyle/>
          <a:p>
            <a:pPr indent="0" marL="0">
              <a:lnSpc>
                <a:spcPct val="103000"/>
              </a:lnSpc>
              <a:buNone/>
            </a:pPr>
            <a:r>
              <a:rPr lang="en-US" sz="1150" dirty="0">
                <a:solidFill>
                  <a:srgbClr val="3F4C60"/>
                </a:solidFill>
                <a:latin typeface="Calibri" pitchFamily="34" charset="0"/>
                <a:ea typeface="Calibri" pitchFamily="34" charset="-122"/>
                <a:cs typeface="Calibri" pitchFamily="34" charset="-120"/>
              </a:rPr>
              <a:t>trips, revenue, avg fare, avg tip %, avg miles, avg duration — by day</a:t>
            </a:r>
            <a:endParaRPr lang="en-US" sz="1150" dirty="0"/>
          </a:p>
        </p:txBody>
      </p:sp>
      <p:sp>
        <p:nvSpPr>
          <p:cNvPr id="10" name="Shape 7"/>
          <p:cNvSpPr/>
          <p:nvPr/>
        </p:nvSpPr>
        <p:spPr>
          <a:xfrm>
            <a:off x="4307738" y="1691640"/>
            <a:ext cx="3576218" cy="1828800"/>
          </a:xfrm>
          <a:prstGeom prst="roundRect">
            <a:avLst>
              <a:gd name="adj" fmla="val 5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1" name="Shape 8"/>
          <p:cNvSpPr/>
          <p:nvPr/>
        </p:nvSpPr>
        <p:spPr>
          <a:xfrm>
            <a:off x="4582058" y="1947672"/>
            <a:ext cx="548640" cy="548640"/>
          </a:xfrm>
          <a:prstGeom prst="ellipse">
            <a:avLst/>
          </a:prstGeom>
          <a:solidFill>
            <a:srgbClr val="CBA02E"/>
          </a:solidFill>
          <a:ln/>
        </p:spPr>
      </p:sp>
      <p:pic>
        <p:nvPicPr>
          <p:cNvPr id="12" name="Image 1" descr="preencoded.png">    </p:cNvPr>
          <p:cNvPicPr>
            <a:picLocks noChangeAspect="1"/>
          </p:cNvPicPr>
          <p:nvPr/>
        </p:nvPicPr>
        <p:blipFill>
          <a:blip r:embed="rId2"/>
          <a:stretch>
            <a:fillRect/>
          </a:stretch>
        </p:blipFill>
        <p:spPr>
          <a:xfrm>
            <a:off x="4713732" y="2079346"/>
            <a:ext cx="285293" cy="285293"/>
          </a:xfrm>
          <a:prstGeom prst="rect">
            <a:avLst/>
          </a:prstGeom>
        </p:spPr>
      </p:pic>
      <p:sp>
        <p:nvSpPr>
          <p:cNvPr id="13" name="Text 9"/>
          <p:cNvSpPr txBox="1"/>
          <p:nvPr/>
        </p:nvSpPr>
        <p:spPr>
          <a:xfrm>
            <a:off x="5240426" y="1965960"/>
            <a:ext cx="2524658" cy="502920"/>
          </a:xfrm>
          <a:prstGeom prst="rect">
            <a:avLst/>
          </a:prstGeom>
          <a:noFill/>
          <a:ln/>
        </p:spPr>
        <p:txBody>
          <a:bodyPr wrap="square" lIns="0" tIns="0" rIns="0" bIns="0" rtlCol="0" anchor="ctr"/>
          <a:lstStyle/>
          <a:p>
            <a:pPr indent="0" marL="0">
              <a:buNone/>
            </a:pPr>
            <a:r>
              <a:rPr lang="en-US" sz="1350" b="1" dirty="0">
                <a:solidFill>
                  <a:srgbClr val="18263D"/>
                </a:solidFill>
                <a:latin typeface="Courier New" pitchFamily="34" charset="0"/>
                <a:ea typeface="Courier New" pitchFamily="34" charset="-122"/>
                <a:cs typeface="Courier New" pitchFamily="34" charset="-120"/>
              </a:rPr>
              <a:t>trips_by_hour</a:t>
            </a:r>
            <a:endParaRPr lang="en-US" sz="1350" dirty="0"/>
          </a:p>
        </p:txBody>
      </p:sp>
      <p:sp>
        <p:nvSpPr>
          <p:cNvPr id="14" name="Text 10"/>
          <p:cNvSpPr txBox="1"/>
          <p:nvPr/>
        </p:nvSpPr>
        <p:spPr>
          <a:xfrm>
            <a:off x="4582058" y="2624328"/>
            <a:ext cx="3073298" cy="777240"/>
          </a:xfrm>
          <a:prstGeom prst="rect">
            <a:avLst/>
          </a:prstGeom>
          <a:noFill/>
          <a:ln/>
        </p:spPr>
        <p:txBody>
          <a:bodyPr wrap="square" lIns="0" tIns="0" rIns="0" bIns="0" rtlCol="0" anchor="t"/>
          <a:lstStyle/>
          <a:p>
            <a:pPr indent="0" marL="0">
              <a:lnSpc>
                <a:spcPct val="103000"/>
              </a:lnSpc>
              <a:buNone/>
            </a:pPr>
            <a:r>
              <a:rPr lang="en-US" sz="1150" dirty="0">
                <a:solidFill>
                  <a:srgbClr val="3F4C60"/>
                </a:solidFill>
                <a:latin typeface="Calibri" pitchFamily="34" charset="0"/>
                <a:ea typeface="Calibri" pitchFamily="34" charset="-122"/>
                <a:cs typeface="Calibri" pitchFamily="34" charset="-120"/>
              </a:rPr>
              <a:t>hour-of-day × day-of-week demand heatmap</a:t>
            </a:r>
            <a:endParaRPr lang="en-US" sz="1150" dirty="0"/>
          </a:p>
        </p:txBody>
      </p:sp>
      <p:sp>
        <p:nvSpPr>
          <p:cNvPr id="15" name="Shape 11"/>
          <p:cNvSpPr/>
          <p:nvPr/>
        </p:nvSpPr>
        <p:spPr>
          <a:xfrm>
            <a:off x="8158277" y="1691640"/>
            <a:ext cx="3576218" cy="1828800"/>
          </a:xfrm>
          <a:prstGeom prst="roundRect">
            <a:avLst>
              <a:gd name="adj" fmla="val 5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6" name="Shape 12"/>
          <p:cNvSpPr/>
          <p:nvPr/>
        </p:nvSpPr>
        <p:spPr>
          <a:xfrm>
            <a:off x="8432597" y="1947672"/>
            <a:ext cx="548640" cy="548640"/>
          </a:xfrm>
          <a:prstGeom prst="ellipse">
            <a:avLst/>
          </a:prstGeom>
          <a:solidFill>
            <a:srgbClr val="CBA02E"/>
          </a:solidFill>
          <a:ln/>
        </p:spPr>
      </p:sp>
      <p:pic>
        <p:nvPicPr>
          <p:cNvPr id="17" name="Image 2" descr="preencoded.png">    </p:cNvPr>
          <p:cNvPicPr>
            <a:picLocks noChangeAspect="1"/>
          </p:cNvPicPr>
          <p:nvPr/>
        </p:nvPicPr>
        <p:blipFill>
          <a:blip r:embed="rId3"/>
          <a:stretch>
            <a:fillRect/>
          </a:stretch>
        </p:blipFill>
        <p:spPr>
          <a:xfrm>
            <a:off x="8564270" y="2079346"/>
            <a:ext cx="285293" cy="285293"/>
          </a:xfrm>
          <a:prstGeom prst="rect">
            <a:avLst/>
          </a:prstGeom>
        </p:spPr>
      </p:pic>
      <p:sp>
        <p:nvSpPr>
          <p:cNvPr id="18" name="Text 13"/>
          <p:cNvSpPr txBox="1"/>
          <p:nvPr/>
        </p:nvSpPr>
        <p:spPr>
          <a:xfrm>
            <a:off x="9090965" y="1965960"/>
            <a:ext cx="2524658" cy="502920"/>
          </a:xfrm>
          <a:prstGeom prst="rect">
            <a:avLst/>
          </a:prstGeom>
          <a:noFill/>
          <a:ln/>
        </p:spPr>
        <p:txBody>
          <a:bodyPr wrap="square" lIns="0" tIns="0" rIns="0" bIns="0" rtlCol="0" anchor="ctr"/>
          <a:lstStyle/>
          <a:p>
            <a:pPr indent="0" marL="0">
              <a:buNone/>
            </a:pPr>
            <a:r>
              <a:rPr lang="en-US" sz="1350" b="1" dirty="0">
                <a:solidFill>
                  <a:srgbClr val="18263D"/>
                </a:solidFill>
                <a:latin typeface="Courier New" pitchFamily="34" charset="0"/>
                <a:ea typeface="Courier New" pitchFamily="34" charset="-122"/>
                <a:cs typeface="Courier New" pitchFamily="34" charset="-120"/>
              </a:rPr>
              <a:t>trips_by_company</a:t>
            </a:r>
            <a:endParaRPr lang="en-US" sz="1350" dirty="0"/>
          </a:p>
        </p:txBody>
      </p:sp>
      <p:sp>
        <p:nvSpPr>
          <p:cNvPr id="19" name="Text 14"/>
          <p:cNvSpPr txBox="1"/>
          <p:nvPr/>
        </p:nvSpPr>
        <p:spPr>
          <a:xfrm>
            <a:off x="8432597" y="2624328"/>
            <a:ext cx="3073298" cy="777240"/>
          </a:xfrm>
          <a:prstGeom prst="rect">
            <a:avLst/>
          </a:prstGeom>
          <a:noFill/>
          <a:ln/>
        </p:spPr>
        <p:txBody>
          <a:bodyPr wrap="square" lIns="0" tIns="0" rIns="0" bIns="0" rtlCol="0" anchor="t"/>
          <a:lstStyle/>
          <a:p>
            <a:pPr indent="0" marL="0">
              <a:lnSpc>
                <a:spcPct val="103000"/>
              </a:lnSpc>
              <a:buNone/>
            </a:pPr>
            <a:r>
              <a:rPr lang="en-US" sz="1150" dirty="0">
                <a:solidFill>
                  <a:srgbClr val="3F4C60"/>
                </a:solidFill>
                <a:latin typeface="Calibri" pitchFamily="34" charset="0"/>
                <a:ea typeface="Calibri" pitchFamily="34" charset="-122"/>
                <a:cs typeface="Calibri" pitchFamily="34" charset="-120"/>
              </a:rPr>
              <a:t>trips, revenue and avg fare per operator</a:t>
            </a:r>
            <a:endParaRPr lang="en-US" sz="1150" dirty="0"/>
          </a:p>
        </p:txBody>
      </p:sp>
      <p:sp>
        <p:nvSpPr>
          <p:cNvPr id="20" name="Shape 15"/>
          <p:cNvSpPr/>
          <p:nvPr/>
        </p:nvSpPr>
        <p:spPr>
          <a:xfrm>
            <a:off x="457200" y="3794760"/>
            <a:ext cx="3576218" cy="1828800"/>
          </a:xfrm>
          <a:prstGeom prst="roundRect">
            <a:avLst>
              <a:gd name="adj" fmla="val 5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1" name="Shape 16"/>
          <p:cNvSpPr/>
          <p:nvPr/>
        </p:nvSpPr>
        <p:spPr>
          <a:xfrm>
            <a:off x="731520" y="4050792"/>
            <a:ext cx="548640" cy="548640"/>
          </a:xfrm>
          <a:prstGeom prst="ellipse">
            <a:avLst/>
          </a:prstGeom>
          <a:solidFill>
            <a:srgbClr val="CBA02E"/>
          </a:solidFill>
          <a:ln/>
        </p:spPr>
      </p:sp>
      <p:pic>
        <p:nvPicPr>
          <p:cNvPr id="22" name="Image 3" descr="preencoded.png">    </p:cNvPr>
          <p:cNvPicPr>
            <a:picLocks noChangeAspect="1"/>
          </p:cNvPicPr>
          <p:nvPr/>
        </p:nvPicPr>
        <p:blipFill>
          <a:blip r:embed="rId4"/>
          <a:stretch>
            <a:fillRect/>
          </a:stretch>
        </p:blipFill>
        <p:spPr>
          <a:xfrm>
            <a:off x="863194" y="4182466"/>
            <a:ext cx="285293" cy="285293"/>
          </a:xfrm>
          <a:prstGeom prst="rect">
            <a:avLst/>
          </a:prstGeom>
        </p:spPr>
      </p:pic>
      <p:sp>
        <p:nvSpPr>
          <p:cNvPr id="23" name="Text 17"/>
          <p:cNvSpPr txBox="1"/>
          <p:nvPr/>
        </p:nvSpPr>
        <p:spPr>
          <a:xfrm>
            <a:off x="1389888" y="4069080"/>
            <a:ext cx="2524658" cy="502920"/>
          </a:xfrm>
          <a:prstGeom prst="rect">
            <a:avLst/>
          </a:prstGeom>
          <a:noFill/>
          <a:ln/>
        </p:spPr>
        <p:txBody>
          <a:bodyPr wrap="square" lIns="0" tIns="0" rIns="0" bIns="0" rtlCol="0" anchor="ctr"/>
          <a:lstStyle/>
          <a:p>
            <a:pPr indent="0" marL="0">
              <a:buNone/>
            </a:pPr>
            <a:r>
              <a:rPr lang="en-US" sz="1350" b="1" dirty="0">
                <a:solidFill>
                  <a:srgbClr val="18263D"/>
                </a:solidFill>
                <a:latin typeface="Courier New" pitchFamily="34" charset="0"/>
                <a:ea typeface="Courier New" pitchFamily="34" charset="-122"/>
                <a:cs typeface="Courier New" pitchFamily="34" charset="-120"/>
              </a:rPr>
              <a:t>payment_mix</a:t>
            </a:r>
            <a:endParaRPr lang="en-US" sz="1350" dirty="0"/>
          </a:p>
        </p:txBody>
      </p:sp>
      <p:sp>
        <p:nvSpPr>
          <p:cNvPr id="24" name="Text 18"/>
          <p:cNvSpPr txBox="1"/>
          <p:nvPr/>
        </p:nvSpPr>
        <p:spPr>
          <a:xfrm>
            <a:off x="731520" y="4727448"/>
            <a:ext cx="3073298" cy="777240"/>
          </a:xfrm>
          <a:prstGeom prst="rect">
            <a:avLst/>
          </a:prstGeom>
          <a:noFill/>
          <a:ln/>
        </p:spPr>
        <p:txBody>
          <a:bodyPr wrap="square" lIns="0" tIns="0" rIns="0" bIns="0" rtlCol="0" anchor="t"/>
          <a:lstStyle/>
          <a:p>
            <a:pPr indent="0" marL="0">
              <a:lnSpc>
                <a:spcPct val="103000"/>
              </a:lnSpc>
              <a:buNone/>
            </a:pPr>
            <a:r>
              <a:rPr lang="en-US" sz="1150" dirty="0">
                <a:solidFill>
                  <a:srgbClr val="3F4C60"/>
                </a:solidFill>
                <a:latin typeface="Calibri" pitchFamily="34" charset="0"/>
                <a:ea typeface="Calibri" pitchFamily="34" charset="-122"/>
                <a:cs typeface="Calibri" pitchFamily="34" charset="-120"/>
              </a:rPr>
              <a:t>share of trips by payment_type</a:t>
            </a:r>
            <a:endParaRPr lang="en-US" sz="1150" dirty="0"/>
          </a:p>
        </p:txBody>
      </p:sp>
      <p:sp>
        <p:nvSpPr>
          <p:cNvPr id="25" name="Shape 19"/>
          <p:cNvSpPr/>
          <p:nvPr/>
        </p:nvSpPr>
        <p:spPr>
          <a:xfrm>
            <a:off x="4307738" y="3794760"/>
            <a:ext cx="3576218" cy="1828800"/>
          </a:xfrm>
          <a:prstGeom prst="roundRect">
            <a:avLst>
              <a:gd name="adj" fmla="val 5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6" name="Shape 20"/>
          <p:cNvSpPr/>
          <p:nvPr/>
        </p:nvSpPr>
        <p:spPr>
          <a:xfrm>
            <a:off x="4582058" y="4050792"/>
            <a:ext cx="548640" cy="548640"/>
          </a:xfrm>
          <a:prstGeom prst="ellipse">
            <a:avLst/>
          </a:prstGeom>
          <a:solidFill>
            <a:srgbClr val="CBA02E"/>
          </a:solidFill>
          <a:ln/>
        </p:spPr>
      </p:sp>
      <p:pic>
        <p:nvPicPr>
          <p:cNvPr id="27" name="Image 4" descr="preencoded.png">    </p:cNvPr>
          <p:cNvPicPr>
            <a:picLocks noChangeAspect="1"/>
          </p:cNvPicPr>
          <p:nvPr/>
        </p:nvPicPr>
        <p:blipFill>
          <a:blip r:embed="rId5"/>
          <a:stretch>
            <a:fillRect/>
          </a:stretch>
        </p:blipFill>
        <p:spPr>
          <a:xfrm>
            <a:off x="4713732" y="4182466"/>
            <a:ext cx="285293" cy="285293"/>
          </a:xfrm>
          <a:prstGeom prst="rect">
            <a:avLst/>
          </a:prstGeom>
        </p:spPr>
      </p:pic>
      <p:sp>
        <p:nvSpPr>
          <p:cNvPr id="28" name="Text 21"/>
          <p:cNvSpPr txBox="1"/>
          <p:nvPr/>
        </p:nvSpPr>
        <p:spPr>
          <a:xfrm>
            <a:off x="5240426" y="4069080"/>
            <a:ext cx="2524658" cy="502920"/>
          </a:xfrm>
          <a:prstGeom prst="rect">
            <a:avLst/>
          </a:prstGeom>
          <a:noFill/>
          <a:ln/>
        </p:spPr>
        <p:txBody>
          <a:bodyPr wrap="square" lIns="0" tIns="0" rIns="0" bIns="0" rtlCol="0" anchor="ctr"/>
          <a:lstStyle/>
          <a:p>
            <a:pPr indent="0" marL="0">
              <a:buNone/>
            </a:pPr>
            <a:r>
              <a:rPr lang="en-US" sz="1350" b="1" dirty="0">
                <a:solidFill>
                  <a:srgbClr val="18263D"/>
                </a:solidFill>
                <a:latin typeface="Courier New" pitchFamily="34" charset="0"/>
                <a:ea typeface="Courier New" pitchFamily="34" charset="-122"/>
                <a:cs typeface="Courier New" pitchFamily="34" charset="-120"/>
              </a:rPr>
              <a:t>top_routes</a:t>
            </a:r>
            <a:endParaRPr lang="en-US" sz="1350" dirty="0"/>
          </a:p>
        </p:txBody>
      </p:sp>
      <p:sp>
        <p:nvSpPr>
          <p:cNvPr id="29" name="Text 22"/>
          <p:cNvSpPr txBox="1"/>
          <p:nvPr/>
        </p:nvSpPr>
        <p:spPr>
          <a:xfrm>
            <a:off x="4582058" y="4727448"/>
            <a:ext cx="3073298" cy="777240"/>
          </a:xfrm>
          <a:prstGeom prst="rect">
            <a:avLst/>
          </a:prstGeom>
          <a:noFill/>
          <a:ln/>
        </p:spPr>
        <p:txBody>
          <a:bodyPr wrap="square" lIns="0" tIns="0" rIns="0" bIns="0" rtlCol="0" anchor="t"/>
          <a:lstStyle/>
          <a:p>
            <a:pPr indent="0" marL="0">
              <a:lnSpc>
                <a:spcPct val="103000"/>
              </a:lnSpc>
              <a:buNone/>
            </a:pPr>
            <a:r>
              <a:rPr lang="en-US" sz="1150" dirty="0">
                <a:solidFill>
                  <a:srgbClr val="3F4C60"/>
                </a:solidFill>
                <a:latin typeface="Calibri" pitchFamily="34" charset="0"/>
                <a:ea typeface="Calibri" pitchFamily="34" charset="-122"/>
                <a:cs typeface="Calibri" pitchFamily="34" charset="-120"/>
              </a:rPr>
              <a:t>pickup → dropoff area pairs, trips, avg fare</a:t>
            </a:r>
            <a:endParaRPr lang="en-US" sz="1150" dirty="0"/>
          </a:p>
        </p:txBody>
      </p:sp>
      <p:sp>
        <p:nvSpPr>
          <p:cNvPr id="30" name="Shape 23"/>
          <p:cNvSpPr/>
          <p:nvPr/>
        </p:nvSpPr>
        <p:spPr>
          <a:xfrm>
            <a:off x="8158277" y="3794760"/>
            <a:ext cx="3576218" cy="1828800"/>
          </a:xfrm>
          <a:prstGeom prst="roundRect">
            <a:avLst>
              <a:gd name="adj" fmla="val 5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31" name="Shape 24"/>
          <p:cNvSpPr/>
          <p:nvPr/>
        </p:nvSpPr>
        <p:spPr>
          <a:xfrm>
            <a:off x="8432597" y="4050792"/>
            <a:ext cx="548640" cy="548640"/>
          </a:xfrm>
          <a:prstGeom prst="ellipse">
            <a:avLst/>
          </a:prstGeom>
          <a:solidFill>
            <a:srgbClr val="CBA02E"/>
          </a:solidFill>
          <a:ln/>
        </p:spPr>
      </p:sp>
      <p:pic>
        <p:nvPicPr>
          <p:cNvPr id="32" name="Image 5" descr="preencoded.png">    </p:cNvPr>
          <p:cNvPicPr>
            <a:picLocks noChangeAspect="1"/>
          </p:cNvPicPr>
          <p:nvPr/>
        </p:nvPicPr>
        <p:blipFill>
          <a:blip r:embed="rId6"/>
          <a:stretch>
            <a:fillRect/>
          </a:stretch>
        </p:blipFill>
        <p:spPr>
          <a:xfrm>
            <a:off x="8564270" y="4182466"/>
            <a:ext cx="285293" cy="285293"/>
          </a:xfrm>
          <a:prstGeom prst="rect">
            <a:avLst/>
          </a:prstGeom>
        </p:spPr>
      </p:pic>
      <p:sp>
        <p:nvSpPr>
          <p:cNvPr id="33" name="Text 25"/>
          <p:cNvSpPr txBox="1"/>
          <p:nvPr/>
        </p:nvSpPr>
        <p:spPr>
          <a:xfrm>
            <a:off x="9090965" y="4069080"/>
            <a:ext cx="2524658" cy="502920"/>
          </a:xfrm>
          <a:prstGeom prst="rect">
            <a:avLst/>
          </a:prstGeom>
          <a:noFill/>
          <a:ln/>
        </p:spPr>
        <p:txBody>
          <a:bodyPr wrap="square" lIns="0" tIns="0" rIns="0" bIns="0" rtlCol="0" anchor="ctr"/>
          <a:lstStyle/>
          <a:p>
            <a:pPr indent="0" marL="0">
              <a:buNone/>
            </a:pPr>
            <a:r>
              <a:rPr lang="en-US" sz="1350" b="1" dirty="0">
                <a:solidFill>
                  <a:srgbClr val="18263D"/>
                </a:solidFill>
                <a:latin typeface="Courier New" pitchFamily="34" charset="0"/>
                <a:ea typeface="Courier New" pitchFamily="34" charset="-122"/>
                <a:cs typeface="Courier New" pitchFamily="34" charset="-120"/>
              </a:rPr>
              <a:t>trips_by_pickup_area</a:t>
            </a:r>
            <a:endParaRPr lang="en-US" sz="1350" dirty="0"/>
          </a:p>
        </p:txBody>
      </p:sp>
      <p:sp>
        <p:nvSpPr>
          <p:cNvPr id="34" name="Text 26"/>
          <p:cNvSpPr txBox="1"/>
          <p:nvPr/>
        </p:nvSpPr>
        <p:spPr>
          <a:xfrm>
            <a:off x="8432597" y="4727448"/>
            <a:ext cx="3073298" cy="777240"/>
          </a:xfrm>
          <a:prstGeom prst="rect">
            <a:avLst/>
          </a:prstGeom>
          <a:noFill/>
          <a:ln/>
        </p:spPr>
        <p:txBody>
          <a:bodyPr wrap="square" lIns="0" tIns="0" rIns="0" bIns="0" rtlCol="0" anchor="t"/>
          <a:lstStyle/>
          <a:p>
            <a:pPr indent="0" marL="0">
              <a:lnSpc>
                <a:spcPct val="103000"/>
              </a:lnSpc>
              <a:buNone/>
            </a:pPr>
            <a:r>
              <a:rPr lang="en-US" sz="1150" dirty="0">
                <a:solidFill>
                  <a:srgbClr val="3F4C60"/>
                </a:solidFill>
                <a:latin typeface="Calibri" pitchFamily="34" charset="0"/>
                <a:ea typeface="Calibri" pitchFamily="34" charset="-122"/>
                <a:cs typeface="Calibri" pitchFamily="34" charset="-120"/>
              </a:rPr>
              <a:t>trips &amp; revenue per community area (+ airport flags)</a:t>
            </a:r>
            <a:endParaRPr lang="en-US" sz="1150" dirty="0"/>
          </a:p>
        </p:txBody>
      </p:sp>
      <p:sp>
        <p:nvSpPr>
          <p:cNvPr id="35" name="Shape 27"/>
          <p:cNvSpPr/>
          <p:nvPr/>
        </p:nvSpPr>
        <p:spPr>
          <a:xfrm>
            <a:off x="457200" y="5724144"/>
            <a:ext cx="11277295" cy="548640"/>
          </a:xfrm>
          <a:prstGeom prst="roundRect">
            <a:avLst>
              <a:gd name="adj" fmla="val 16667"/>
            </a:avLst>
          </a:prstGeom>
          <a:solidFill>
            <a:srgbClr val="0E1B33"/>
          </a:solidFill>
          <a:ln/>
        </p:spPr>
      </p:sp>
      <p:sp>
        <p:nvSpPr>
          <p:cNvPr id="36" name="Text 28"/>
          <p:cNvSpPr txBox="1"/>
          <p:nvPr/>
        </p:nvSpPr>
        <p:spPr>
          <a:xfrm>
            <a:off x="731520" y="5724144"/>
            <a:ext cx="10728655" cy="548640"/>
          </a:xfrm>
          <a:prstGeom prst="rect">
            <a:avLst/>
          </a:prstGeom>
          <a:noFill/>
          <a:ln/>
        </p:spPr>
        <p:txBody>
          <a:bodyPr wrap="square" lIns="0" tIns="0" rIns="0" bIns="0" rtlCol="0" anchor="ctr"/>
          <a:lstStyle/>
          <a:p>
            <a:pPr indent="0" marL="0">
              <a:buNone/>
            </a:pPr>
            <a:r>
              <a:rPr lang="en-US" sz="1300" b="1" dirty="0">
                <a:solidFill>
                  <a:srgbClr val="F2B705"/>
                </a:solidFill>
                <a:latin typeface="Calibri" pitchFamily="34" charset="0"/>
                <a:ea typeface="Calibri" pitchFamily="34" charset="-122"/>
                <a:cs typeface="Calibri" pitchFamily="34" charset="-120"/>
              </a:rPr>
              <a:t>Directly answers the brief:  </a:t>
            </a:r>
            <a:pPr indent="0" marL="0">
              <a:buNone/>
            </a:pPr>
            <a:r>
              <a:rPr lang="en-US" sz="1300" dirty="0">
                <a:solidFill>
                  <a:srgbClr val="E6EEF7"/>
                </a:solidFill>
                <a:latin typeface="Calibri" pitchFamily="34" charset="0"/>
                <a:ea typeface="Calibri" pitchFamily="34" charset="-122"/>
                <a:cs typeface="Calibri" pitchFamily="34" charset="-120"/>
              </a:rPr>
              <a:t>revenue per day  ·  average trip duration  ·  top pickup zones</a:t>
            </a:r>
            <a:endParaRPr lang="en-US" sz="1300" dirty="0"/>
          </a:p>
        </p:txBody>
      </p:sp>
      <p:sp>
        <p:nvSpPr>
          <p:cNvPr id="37" name="Text 29"/>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17</a:t>
            </a:r>
            <a:endParaRPr lang="en-US" sz="1000" dirty="0"/>
          </a:p>
        </p:txBody>
      </p:sp>
      <p:sp>
        <p:nvSpPr>
          <p:cNvPr id="38" name="Text 30"/>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ORCHESTRATION</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One asset graph, two run modes</a:t>
            </a:r>
            <a:endParaRPr lang="en-US" sz="3000" dirty="0"/>
          </a:p>
        </p:txBody>
      </p:sp>
      <p:sp>
        <p:nvSpPr>
          <p:cNvPr id="5" name="Shape 3"/>
          <p:cNvSpPr/>
          <p:nvPr/>
        </p:nvSpPr>
        <p:spPr>
          <a:xfrm>
            <a:off x="457200" y="1572768"/>
            <a:ext cx="5455768" cy="1783080"/>
          </a:xfrm>
          <a:prstGeom prst="roundRect">
            <a:avLst>
              <a:gd name="adj" fmla="val 512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749808" y="1865376"/>
            <a:ext cx="603504" cy="603504"/>
          </a:xfrm>
          <a:prstGeom prst="ellipse">
            <a:avLst/>
          </a:prstGeom>
          <a:solidFill>
            <a:srgbClr val="2E5A88"/>
          </a:solidFill>
          <a:ln/>
        </p:spPr>
      </p:sp>
      <p:pic>
        <p:nvPicPr>
          <p:cNvPr id="7" name="Image 0" descr="preencoded.png">    </p:cNvPr>
          <p:cNvPicPr>
            <a:picLocks noChangeAspect="1"/>
          </p:cNvPicPr>
          <p:nvPr/>
        </p:nvPicPr>
        <p:blipFill>
          <a:blip r:embed="rId1"/>
          <a:stretch>
            <a:fillRect/>
          </a:stretch>
        </p:blipFill>
        <p:spPr>
          <a:xfrm>
            <a:off x="894649" y="2010217"/>
            <a:ext cx="313822" cy="313822"/>
          </a:xfrm>
          <a:prstGeom prst="rect">
            <a:avLst/>
          </a:prstGeom>
        </p:spPr>
      </p:pic>
      <p:sp>
        <p:nvSpPr>
          <p:cNvPr id="8" name="Text 5"/>
          <p:cNvSpPr txBox="1"/>
          <p:nvPr/>
        </p:nvSpPr>
        <p:spPr>
          <a:xfrm>
            <a:off x="1508760" y="1865376"/>
            <a:ext cx="4221328" cy="603504"/>
          </a:xfrm>
          <a:prstGeom prst="rect">
            <a:avLst/>
          </a:prstGeom>
          <a:noFill/>
          <a:ln/>
        </p:spPr>
        <p:txBody>
          <a:bodyPr wrap="square" lIns="0" tIns="0" rIns="0" bIns="0" rtlCol="0" anchor="ctr"/>
          <a:lstStyle/>
          <a:p>
            <a:pPr indent="0" marL="0">
              <a:buNone/>
            </a:pPr>
            <a:r>
              <a:rPr lang="en-US" sz="1650" b="1" dirty="0">
                <a:solidFill>
                  <a:srgbClr val="18263D"/>
                </a:solidFill>
                <a:latin typeface="Cambria" pitchFamily="34" charset="0"/>
                <a:ea typeface="Cambria" pitchFamily="34" charset="-122"/>
                <a:cs typeface="Cambria" pitchFamily="34" charset="-120"/>
              </a:rPr>
              <a:t>Backfill — history</a:t>
            </a:r>
            <a:endParaRPr lang="en-US" sz="1650" dirty="0"/>
          </a:p>
        </p:txBody>
      </p:sp>
      <p:sp>
        <p:nvSpPr>
          <p:cNvPr id="9" name="Text 6"/>
          <p:cNvSpPr txBox="1"/>
          <p:nvPr/>
        </p:nvSpPr>
        <p:spPr>
          <a:xfrm>
            <a:off x="841248" y="2560320"/>
            <a:ext cx="4724248" cy="731520"/>
          </a:xfrm>
          <a:prstGeom prst="rect">
            <a:avLst/>
          </a:prstGeom>
          <a:noFill/>
          <a:ln/>
        </p:spPr>
        <p:txBody>
          <a:bodyPr wrap="square" lIns="0" tIns="0" rIns="0" bIns="0" rtlCol="0" anchor="t"/>
          <a:lstStyle/>
          <a:p>
            <a:pPr indent="0" marL="0">
              <a:lnSpc>
                <a:spcPct val="105000"/>
              </a:lnSpc>
              <a:buNone/>
            </a:pPr>
            <a:r>
              <a:rPr lang="en-US" sz="1250" dirty="0">
                <a:solidFill>
                  <a:srgbClr val="3F4C60"/>
                </a:solidFill>
                <a:latin typeface="Calibri" pitchFamily="34" charset="0"/>
                <a:ea typeface="Calibri" pitchFamily="34" charset="-122"/>
                <a:cs typeface="Calibri" pitchFamily="34" charset="-120"/>
              </a:rPr>
              <a:t>Materialize a partition range (UI backfill or CLI). Loads any span of months on demand — used for the full 6-month load.</a:t>
            </a:r>
            <a:endParaRPr lang="en-US" sz="1250" dirty="0"/>
          </a:p>
        </p:txBody>
      </p:sp>
      <p:sp>
        <p:nvSpPr>
          <p:cNvPr id="10" name="Shape 7"/>
          <p:cNvSpPr/>
          <p:nvPr/>
        </p:nvSpPr>
        <p:spPr>
          <a:xfrm>
            <a:off x="6278728" y="1572768"/>
            <a:ext cx="5455768" cy="1783080"/>
          </a:xfrm>
          <a:prstGeom prst="roundRect">
            <a:avLst>
              <a:gd name="adj" fmla="val 512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1" name="Shape 8"/>
          <p:cNvSpPr/>
          <p:nvPr/>
        </p:nvSpPr>
        <p:spPr>
          <a:xfrm>
            <a:off x="6571336" y="1865376"/>
            <a:ext cx="603504" cy="603504"/>
          </a:xfrm>
          <a:prstGeom prst="ellipse">
            <a:avLst/>
          </a:prstGeom>
          <a:solidFill>
            <a:srgbClr val="CBA02E"/>
          </a:solidFill>
          <a:ln/>
        </p:spPr>
      </p:sp>
      <p:pic>
        <p:nvPicPr>
          <p:cNvPr id="12" name="Image 1" descr="preencoded.png">    </p:cNvPr>
          <p:cNvPicPr>
            <a:picLocks noChangeAspect="1"/>
          </p:cNvPicPr>
          <p:nvPr/>
        </p:nvPicPr>
        <p:blipFill>
          <a:blip r:embed="rId2"/>
          <a:stretch>
            <a:fillRect/>
          </a:stretch>
        </p:blipFill>
        <p:spPr>
          <a:xfrm>
            <a:off x="6716177" y="2010217"/>
            <a:ext cx="313822" cy="313822"/>
          </a:xfrm>
          <a:prstGeom prst="rect">
            <a:avLst/>
          </a:prstGeom>
        </p:spPr>
      </p:pic>
      <p:sp>
        <p:nvSpPr>
          <p:cNvPr id="13" name="Text 9"/>
          <p:cNvSpPr txBox="1"/>
          <p:nvPr/>
        </p:nvSpPr>
        <p:spPr>
          <a:xfrm>
            <a:off x="7330288" y="1865376"/>
            <a:ext cx="4221328" cy="603504"/>
          </a:xfrm>
          <a:prstGeom prst="rect">
            <a:avLst/>
          </a:prstGeom>
          <a:noFill/>
          <a:ln/>
        </p:spPr>
        <p:txBody>
          <a:bodyPr wrap="square" lIns="0" tIns="0" rIns="0" bIns="0" rtlCol="0" anchor="ctr"/>
          <a:lstStyle/>
          <a:p>
            <a:pPr indent="0" marL="0">
              <a:buNone/>
            </a:pPr>
            <a:r>
              <a:rPr lang="en-US" sz="1650" b="1" dirty="0">
                <a:solidFill>
                  <a:srgbClr val="18263D"/>
                </a:solidFill>
                <a:latin typeface="Cambria" pitchFamily="34" charset="0"/>
                <a:ea typeface="Cambria" pitchFamily="34" charset="-122"/>
                <a:cs typeface="Cambria" pitchFamily="34" charset="-120"/>
              </a:rPr>
              <a:t>Delta — incremental</a:t>
            </a:r>
            <a:endParaRPr lang="en-US" sz="1650" dirty="0"/>
          </a:p>
        </p:txBody>
      </p:sp>
      <p:sp>
        <p:nvSpPr>
          <p:cNvPr id="14" name="Text 10"/>
          <p:cNvSpPr txBox="1"/>
          <p:nvPr/>
        </p:nvSpPr>
        <p:spPr>
          <a:xfrm>
            <a:off x="6662776" y="2560320"/>
            <a:ext cx="4724248" cy="731520"/>
          </a:xfrm>
          <a:prstGeom prst="rect">
            <a:avLst/>
          </a:prstGeom>
          <a:noFill/>
          <a:ln/>
        </p:spPr>
        <p:txBody>
          <a:bodyPr wrap="square" lIns="0" tIns="0" rIns="0" bIns="0" rtlCol="0" anchor="t"/>
          <a:lstStyle/>
          <a:p>
            <a:pPr indent="0" marL="0">
              <a:lnSpc>
                <a:spcPct val="105000"/>
              </a:lnSpc>
              <a:buNone/>
            </a:pPr>
            <a:r>
              <a:rPr lang="en-US" sz="1250" dirty="0">
                <a:solidFill>
                  <a:srgbClr val="3F4C60"/>
                </a:solidFill>
                <a:latin typeface="Calibri" pitchFamily="34" charset="0"/>
                <a:ea typeface="Calibri" pitchFamily="34" charset="-122"/>
                <a:cs typeface="Calibri" pitchFamily="34" charset="-120"/>
              </a:rPr>
              <a:t>A schedule runs the newest month on a cadence; a weekly lookback re-materializes the last 2 months to absorb late / corrected trips.</a:t>
            </a:r>
            <a:endParaRPr lang="en-US" sz="1250" dirty="0"/>
          </a:p>
        </p:txBody>
      </p:sp>
      <p:sp>
        <p:nvSpPr>
          <p:cNvPr id="15" name="Shape 11"/>
          <p:cNvSpPr/>
          <p:nvPr/>
        </p:nvSpPr>
        <p:spPr>
          <a:xfrm>
            <a:off x="457200" y="3657600"/>
            <a:ext cx="3576218" cy="2377440"/>
          </a:xfrm>
          <a:prstGeom prst="roundRect">
            <a:avLst>
              <a:gd name="adj" fmla="val 3846"/>
            </a:avLst>
          </a:prstGeom>
          <a:solidFill>
            <a:srgbClr val="16294A"/>
          </a:solidFill>
          <a:ln/>
          <a:effectLst>
            <a:outerShdw sx="100000" sy="100000" kx="0" ky="0" algn="bl" rotWithShape="0" blurRad="101600" dist="38100" dir="5400000">
              <a:srgbClr val="9AA7B8">
                <a:alpha val="32000"/>
              </a:srgbClr>
            </a:outerShdw>
          </a:effectLst>
        </p:spPr>
      </p:sp>
      <p:sp>
        <p:nvSpPr>
          <p:cNvPr id="16" name="Shape 12"/>
          <p:cNvSpPr/>
          <p:nvPr/>
        </p:nvSpPr>
        <p:spPr>
          <a:xfrm>
            <a:off x="1943557" y="3913632"/>
            <a:ext cx="603504" cy="603504"/>
          </a:xfrm>
          <a:prstGeom prst="ellipse">
            <a:avLst/>
          </a:prstGeom>
          <a:solidFill>
            <a:srgbClr val="F2B705"/>
          </a:solidFill>
          <a:ln/>
        </p:spPr>
      </p:sp>
      <p:pic>
        <p:nvPicPr>
          <p:cNvPr id="17" name="Image 2" descr="preencoded.png">    </p:cNvPr>
          <p:cNvPicPr>
            <a:picLocks noChangeAspect="1"/>
          </p:cNvPicPr>
          <p:nvPr/>
        </p:nvPicPr>
        <p:blipFill>
          <a:blip r:embed="rId3"/>
          <a:stretch>
            <a:fillRect/>
          </a:stretch>
        </p:blipFill>
        <p:spPr>
          <a:xfrm>
            <a:off x="2088398" y="4058473"/>
            <a:ext cx="313822" cy="313822"/>
          </a:xfrm>
          <a:prstGeom prst="rect">
            <a:avLst/>
          </a:prstGeom>
        </p:spPr>
      </p:pic>
      <p:sp>
        <p:nvSpPr>
          <p:cNvPr id="18" name="Text 13"/>
          <p:cNvSpPr txBox="1"/>
          <p:nvPr/>
        </p:nvSpPr>
        <p:spPr>
          <a:xfrm>
            <a:off x="594360" y="4617720"/>
            <a:ext cx="3301898" cy="411480"/>
          </a:xfrm>
          <a:prstGeom prst="rect">
            <a:avLst/>
          </a:prstGeom>
          <a:noFill/>
          <a:ln/>
        </p:spPr>
        <p:txBody>
          <a:bodyPr wrap="square" lIns="0" tIns="0" rIns="0" bIns="0" rtlCol="0" anchor="ctr"/>
          <a:lstStyle/>
          <a:p>
            <a:pPr algn="ctr" indent="0" marL="0">
              <a:buNone/>
            </a:pPr>
            <a:r>
              <a:rPr lang="en-US" sz="1450" b="1" dirty="0">
                <a:solidFill>
                  <a:srgbClr val="FFD34E"/>
                </a:solidFill>
                <a:latin typeface="Cambria" pitchFamily="34" charset="0"/>
                <a:ea typeface="Cambria" pitchFamily="34" charset="-122"/>
                <a:cs typeface="Cambria" pitchFamily="34" charset="-120"/>
              </a:rPr>
              <a:t>Pipes → Docker</a:t>
            </a:r>
            <a:endParaRPr lang="en-US" sz="1450" dirty="0"/>
          </a:p>
        </p:txBody>
      </p:sp>
      <p:sp>
        <p:nvSpPr>
          <p:cNvPr id="19" name="Text 14"/>
          <p:cNvSpPr txBox="1"/>
          <p:nvPr/>
        </p:nvSpPr>
        <p:spPr>
          <a:xfrm>
            <a:off x="676656" y="5047488"/>
            <a:ext cx="3137306" cy="868680"/>
          </a:xfrm>
          <a:prstGeom prst="rect">
            <a:avLst/>
          </a:prstGeom>
          <a:noFill/>
          <a:ln/>
        </p:spPr>
        <p:txBody>
          <a:bodyPr wrap="square" lIns="0" tIns="0" rIns="0" bIns="0" rtlCol="0" anchor="t"/>
          <a:lstStyle/>
          <a:p>
            <a:pPr algn="ctr" indent="0" marL="0">
              <a:lnSpc>
                <a:spcPct val="105000"/>
              </a:lnSpc>
              <a:buNone/>
            </a:pPr>
            <a:r>
              <a:rPr lang="en-US" sz="1150" dirty="0">
                <a:solidFill>
                  <a:srgbClr val="CBD6E6"/>
                </a:solidFill>
                <a:latin typeface="Calibri" pitchFamily="34" charset="0"/>
                <a:ea typeface="Calibri" pitchFamily="34" charset="-122"/>
                <a:cs typeface="Calibri" pitchFamily="34" charset="-120"/>
              </a:rPr>
              <a:t>Dagster launches the Spark container per run and streams logs, metadata and materializations back.</a:t>
            </a:r>
            <a:endParaRPr lang="en-US" sz="1150" dirty="0"/>
          </a:p>
        </p:txBody>
      </p:sp>
      <p:sp>
        <p:nvSpPr>
          <p:cNvPr id="20" name="Shape 15"/>
          <p:cNvSpPr/>
          <p:nvPr/>
        </p:nvSpPr>
        <p:spPr>
          <a:xfrm>
            <a:off x="4307738" y="3657600"/>
            <a:ext cx="3576218" cy="2377440"/>
          </a:xfrm>
          <a:prstGeom prst="roundRect">
            <a:avLst>
              <a:gd name="adj" fmla="val 3846"/>
            </a:avLst>
          </a:prstGeom>
          <a:solidFill>
            <a:srgbClr val="16294A"/>
          </a:solidFill>
          <a:ln/>
          <a:effectLst>
            <a:outerShdw sx="100000" sy="100000" kx="0" ky="0" algn="bl" rotWithShape="0" blurRad="101600" dist="38100" dir="5400000">
              <a:srgbClr val="9AA7B8">
                <a:alpha val="32000"/>
              </a:srgbClr>
            </a:outerShdw>
          </a:effectLst>
        </p:spPr>
      </p:sp>
      <p:sp>
        <p:nvSpPr>
          <p:cNvPr id="21" name="Shape 16"/>
          <p:cNvSpPr/>
          <p:nvPr/>
        </p:nvSpPr>
        <p:spPr>
          <a:xfrm>
            <a:off x="5794096" y="3913632"/>
            <a:ext cx="603504" cy="603504"/>
          </a:xfrm>
          <a:prstGeom prst="ellipse">
            <a:avLst/>
          </a:prstGeom>
          <a:solidFill>
            <a:srgbClr val="F2B705"/>
          </a:solidFill>
          <a:ln/>
        </p:spPr>
      </p:sp>
      <p:pic>
        <p:nvPicPr>
          <p:cNvPr id="22" name="Image 3" descr="preencoded.png">    </p:cNvPr>
          <p:cNvPicPr>
            <a:picLocks noChangeAspect="1"/>
          </p:cNvPicPr>
          <p:nvPr/>
        </p:nvPicPr>
        <p:blipFill>
          <a:blip r:embed="rId4"/>
          <a:stretch>
            <a:fillRect/>
          </a:stretch>
        </p:blipFill>
        <p:spPr>
          <a:xfrm>
            <a:off x="5938937" y="4058473"/>
            <a:ext cx="313822" cy="313822"/>
          </a:xfrm>
          <a:prstGeom prst="rect">
            <a:avLst/>
          </a:prstGeom>
        </p:spPr>
      </p:pic>
      <p:sp>
        <p:nvSpPr>
          <p:cNvPr id="23" name="Text 17"/>
          <p:cNvSpPr txBox="1"/>
          <p:nvPr/>
        </p:nvSpPr>
        <p:spPr>
          <a:xfrm>
            <a:off x="4444898" y="4617720"/>
            <a:ext cx="3301898" cy="411480"/>
          </a:xfrm>
          <a:prstGeom prst="rect">
            <a:avLst/>
          </a:prstGeom>
          <a:noFill/>
          <a:ln/>
        </p:spPr>
        <p:txBody>
          <a:bodyPr wrap="square" lIns="0" tIns="0" rIns="0" bIns="0" rtlCol="0" anchor="ctr"/>
          <a:lstStyle/>
          <a:p>
            <a:pPr algn="ctr" indent="0" marL="0">
              <a:buNone/>
            </a:pPr>
            <a:r>
              <a:rPr lang="en-US" sz="1450" b="1" dirty="0">
                <a:solidFill>
                  <a:srgbClr val="FFD34E"/>
                </a:solidFill>
                <a:latin typeface="Cambria" pitchFamily="34" charset="0"/>
                <a:ea typeface="Cambria" pitchFamily="34" charset="-122"/>
                <a:cs typeface="Cambria" pitchFamily="34" charset="-120"/>
              </a:rPr>
              <a:t>Monthly partitions</a:t>
            </a:r>
            <a:endParaRPr lang="en-US" sz="1450" dirty="0"/>
          </a:p>
        </p:txBody>
      </p:sp>
      <p:sp>
        <p:nvSpPr>
          <p:cNvPr id="24" name="Text 18"/>
          <p:cNvSpPr txBox="1"/>
          <p:nvPr/>
        </p:nvSpPr>
        <p:spPr>
          <a:xfrm>
            <a:off x="4527194" y="5047488"/>
            <a:ext cx="3137306" cy="868680"/>
          </a:xfrm>
          <a:prstGeom prst="rect">
            <a:avLst/>
          </a:prstGeom>
          <a:noFill/>
          <a:ln/>
        </p:spPr>
        <p:txBody>
          <a:bodyPr wrap="square" lIns="0" tIns="0" rIns="0" bIns="0" rtlCol="0" anchor="t"/>
          <a:lstStyle/>
          <a:p>
            <a:pPr algn="ctr" indent="0" marL="0">
              <a:lnSpc>
                <a:spcPct val="105000"/>
              </a:lnSpc>
              <a:buNone/>
            </a:pPr>
            <a:r>
              <a:rPr lang="en-US" sz="1150" dirty="0">
                <a:solidFill>
                  <a:srgbClr val="CBD6E6"/>
                </a:solidFill>
                <a:latin typeface="Calibri" pitchFamily="34" charset="0"/>
                <a:ea typeface="Calibri" pitchFamily="34" charset="-122"/>
                <a:cs typeface="Calibri" pitchFamily="34" charset="-120"/>
              </a:rPr>
              <a:t>raw → bronze → silver are month-partitioned; raw is upstream of bronze; the window is passed as env.</a:t>
            </a:r>
            <a:endParaRPr lang="en-US" sz="1150" dirty="0"/>
          </a:p>
        </p:txBody>
      </p:sp>
      <p:sp>
        <p:nvSpPr>
          <p:cNvPr id="25" name="Shape 19"/>
          <p:cNvSpPr/>
          <p:nvPr/>
        </p:nvSpPr>
        <p:spPr>
          <a:xfrm>
            <a:off x="8158277" y="3657600"/>
            <a:ext cx="3576218" cy="2377440"/>
          </a:xfrm>
          <a:prstGeom prst="roundRect">
            <a:avLst>
              <a:gd name="adj" fmla="val 3846"/>
            </a:avLst>
          </a:prstGeom>
          <a:solidFill>
            <a:srgbClr val="16294A"/>
          </a:solidFill>
          <a:ln/>
          <a:effectLst>
            <a:outerShdw sx="100000" sy="100000" kx="0" ky="0" algn="bl" rotWithShape="0" blurRad="101600" dist="38100" dir="5400000">
              <a:srgbClr val="9AA7B8">
                <a:alpha val="32000"/>
              </a:srgbClr>
            </a:outerShdw>
          </a:effectLst>
        </p:spPr>
      </p:sp>
      <p:sp>
        <p:nvSpPr>
          <p:cNvPr id="26" name="Shape 20"/>
          <p:cNvSpPr/>
          <p:nvPr/>
        </p:nvSpPr>
        <p:spPr>
          <a:xfrm>
            <a:off x="9644634" y="3913632"/>
            <a:ext cx="603504" cy="603504"/>
          </a:xfrm>
          <a:prstGeom prst="ellipse">
            <a:avLst/>
          </a:prstGeom>
          <a:solidFill>
            <a:srgbClr val="F2B705"/>
          </a:solidFill>
          <a:ln/>
        </p:spPr>
      </p:sp>
      <p:pic>
        <p:nvPicPr>
          <p:cNvPr id="27" name="Image 4" descr="preencoded.png">    </p:cNvPr>
          <p:cNvPicPr>
            <a:picLocks noChangeAspect="1"/>
          </p:cNvPicPr>
          <p:nvPr/>
        </p:nvPicPr>
        <p:blipFill>
          <a:blip r:embed="rId5"/>
          <a:stretch>
            <a:fillRect/>
          </a:stretch>
        </p:blipFill>
        <p:spPr>
          <a:xfrm>
            <a:off x="9789475" y="4058473"/>
            <a:ext cx="313822" cy="313822"/>
          </a:xfrm>
          <a:prstGeom prst="rect">
            <a:avLst/>
          </a:prstGeom>
        </p:spPr>
      </p:pic>
      <p:sp>
        <p:nvSpPr>
          <p:cNvPr id="28" name="Text 21"/>
          <p:cNvSpPr txBox="1"/>
          <p:nvPr/>
        </p:nvSpPr>
        <p:spPr>
          <a:xfrm>
            <a:off x="8295437" y="4617720"/>
            <a:ext cx="3301898" cy="411480"/>
          </a:xfrm>
          <a:prstGeom prst="rect">
            <a:avLst/>
          </a:prstGeom>
          <a:noFill/>
          <a:ln/>
        </p:spPr>
        <p:txBody>
          <a:bodyPr wrap="square" lIns="0" tIns="0" rIns="0" bIns="0" rtlCol="0" anchor="ctr"/>
          <a:lstStyle/>
          <a:p>
            <a:pPr algn="ctr" indent="0" marL="0">
              <a:buNone/>
            </a:pPr>
            <a:r>
              <a:rPr lang="en-US" sz="1450" b="1" dirty="0">
                <a:solidFill>
                  <a:srgbClr val="FFD34E"/>
                </a:solidFill>
                <a:latin typeface="Cambria" pitchFamily="34" charset="0"/>
                <a:ea typeface="Cambria" pitchFamily="34" charset="-122"/>
                <a:cs typeface="Cambria" pitchFamily="34" charset="-120"/>
              </a:rPr>
              <a:t>Maintenance asset</a:t>
            </a:r>
            <a:endParaRPr lang="en-US" sz="1450" dirty="0"/>
          </a:p>
        </p:txBody>
      </p:sp>
      <p:sp>
        <p:nvSpPr>
          <p:cNvPr id="29" name="Text 22"/>
          <p:cNvSpPr txBox="1"/>
          <p:nvPr/>
        </p:nvSpPr>
        <p:spPr>
          <a:xfrm>
            <a:off x="8377733" y="5047488"/>
            <a:ext cx="3137306" cy="868680"/>
          </a:xfrm>
          <a:prstGeom prst="rect">
            <a:avLst/>
          </a:prstGeom>
          <a:noFill/>
          <a:ln/>
        </p:spPr>
        <p:txBody>
          <a:bodyPr wrap="square" lIns="0" tIns="0" rIns="0" bIns="0" rtlCol="0" anchor="t"/>
          <a:lstStyle/>
          <a:p>
            <a:pPr algn="ctr" indent="0" marL="0">
              <a:lnSpc>
                <a:spcPct val="105000"/>
              </a:lnSpc>
              <a:buNone/>
            </a:pPr>
            <a:r>
              <a:rPr lang="en-US" sz="1150" dirty="0">
                <a:solidFill>
                  <a:srgbClr val="CBD6E6"/>
                </a:solidFill>
                <a:latin typeface="Calibri" pitchFamily="34" charset="0"/>
                <a:ea typeface="Calibri" pitchFamily="34" charset="-122"/>
                <a:cs typeface="Calibri" pitchFamily="34" charset="-120"/>
              </a:rPr>
              <a:t>rewrite_data_files, rewrite_manifests, expire_snapshots on silver/gold — scheduled after loads.</a:t>
            </a:r>
            <a:endParaRPr lang="en-US" sz="1150" dirty="0"/>
          </a:p>
        </p:txBody>
      </p:sp>
      <p:sp>
        <p:nvSpPr>
          <p:cNvPr id="30" name="Text 23"/>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18</a:t>
            </a:r>
            <a:endParaRPr lang="en-US" sz="1000" dirty="0"/>
          </a:p>
        </p:txBody>
      </p:sp>
      <p:sp>
        <p:nvSpPr>
          <p:cNvPr id="31" name="Text 24"/>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OBSERVABILITY &amp; DATA QUALITY</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Every step is logged, timed and checked</a:t>
            </a:r>
            <a:endParaRPr lang="en-US" sz="3000" dirty="0"/>
          </a:p>
        </p:txBody>
      </p:sp>
      <p:pic>
        <p:nvPicPr>
          <p:cNvPr id="5" name="Image 0" descr="/home/claude/diag_obs.png">    </p:cNvPr>
          <p:cNvPicPr>
            <a:picLocks noChangeAspect="1"/>
          </p:cNvPicPr>
          <p:nvPr/>
        </p:nvPicPr>
        <p:blipFill>
          <a:blip r:embed="rId1"/>
          <a:stretch>
            <a:fillRect/>
          </a:stretch>
        </p:blipFill>
        <p:spPr>
          <a:xfrm>
            <a:off x="978408" y="1554480"/>
            <a:ext cx="10241280" cy="3931920"/>
          </a:xfrm>
          <a:prstGeom prst="rect">
            <a:avLst/>
          </a:prstGeom>
        </p:spPr>
      </p:pic>
      <p:sp>
        <p:nvSpPr>
          <p:cNvPr id="6" name="Shape 3"/>
          <p:cNvSpPr/>
          <p:nvPr/>
        </p:nvSpPr>
        <p:spPr>
          <a:xfrm>
            <a:off x="457200" y="5596128"/>
            <a:ext cx="11277295" cy="603504"/>
          </a:xfrm>
          <a:prstGeom prst="roundRect">
            <a:avLst>
              <a:gd name="adj" fmla="val 15152"/>
            </a:avLst>
          </a:prstGeom>
          <a:solidFill>
            <a:srgbClr val="0E1B33"/>
          </a:solidFill>
          <a:ln/>
        </p:spPr>
      </p:sp>
      <p:sp>
        <p:nvSpPr>
          <p:cNvPr id="7" name="Shape 4"/>
          <p:cNvSpPr/>
          <p:nvPr/>
        </p:nvSpPr>
        <p:spPr>
          <a:xfrm>
            <a:off x="676656" y="5705856"/>
            <a:ext cx="384048" cy="384048"/>
          </a:xfrm>
          <a:prstGeom prst="ellipse">
            <a:avLst/>
          </a:prstGeom>
          <a:solidFill>
            <a:srgbClr val="F2B705"/>
          </a:solidFill>
          <a:ln/>
        </p:spPr>
      </p:sp>
      <p:pic>
        <p:nvPicPr>
          <p:cNvPr id="8" name="Image 1" descr="preencoded.png">    </p:cNvPr>
          <p:cNvPicPr>
            <a:picLocks noChangeAspect="1"/>
          </p:cNvPicPr>
          <p:nvPr/>
        </p:nvPicPr>
        <p:blipFill>
          <a:blip r:embed="rId2"/>
          <a:stretch>
            <a:fillRect/>
          </a:stretch>
        </p:blipFill>
        <p:spPr>
          <a:xfrm>
            <a:off x="768828" y="5798028"/>
            <a:ext cx="199705" cy="199705"/>
          </a:xfrm>
          <a:prstGeom prst="rect">
            <a:avLst/>
          </a:prstGeom>
        </p:spPr>
      </p:pic>
      <p:sp>
        <p:nvSpPr>
          <p:cNvPr id="9" name="Text 5"/>
          <p:cNvSpPr txBox="1"/>
          <p:nvPr/>
        </p:nvSpPr>
        <p:spPr>
          <a:xfrm>
            <a:off x="1234440" y="5596128"/>
            <a:ext cx="10271455" cy="603504"/>
          </a:xfrm>
          <a:prstGeom prst="rect">
            <a:avLst/>
          </a:prstGeom>
          <a:noFill/>
          <a:ln/>
        </p:spPr>
        <p:txBody>
          <a:bodyPr wrap="square" lIns="0" tIns="0" rIns="0" bIns="0"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Native Dagster:  </a:t>
            </a:r>
            <a:pPr indent="0" marL="0">
              <a:buNone/>
            </a:pPr>
            <a:r>
              <a:rPr lang="en-US" sz="1250" dirty="0">
                <a:solidFill>
                  <a:srgbClr val="E6EEF7"/>
                </a:solidFill>
                <a:latin typeface="Calibri" pitchFamily="34" charset="0"/>
                <a:ea typeface="Calibri" pitchFamily="34" charset="-122"/>
                <a:cs typeface="Calibri" pitchFamily="34" charset="-120"/>
              </a:rPr>
              <a:t>structured logging  ·  timed steps (elapsed)  ·  numeric-metadata trend plots  ·  gold freshness checks</a:t>
            </a:r>
            <a:endParaRPr lang="en-US" sz="1250" dirty="0"/>
          </a:p>
        </p:txBody>
      </p:sp>
      <p:sp>
        <p:nvSpPr>
          <p:cNvPr id="10" name="Text 6"/>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19</a:t>
            </a:r>
            <a:endParaRPr lang="en-US" sz="1000" dirty="0"/>
          </a:p>
        </p:txBody>
      </p:sp>
      <p:sp>
        <p:nvSpPr>
          <p:cNvPr id="11" name="Text 7"/>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PERFORMANCE</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Partitioning &amp; Spark tuning</a:t>
            </a:r>
            <a:endParaRPr lang="en-US" sz="3000" dirty="0"/>
          </a:p>
        </p:txBody>
      </p:sp>
      <p:sp>
        <p:nvSpPr>
          <p:cNvPr id="5" name="Shape 3"/>
          <p:cNvSpPr/>
          <p:nvPr/>
        </p:nvSpPr>
        <p:spPr>
          <a:xfrm>
            <a:off x="457200" y="1600200"/>
            <a:ext cx="5455768" cy="2103120"/>
          </a:xfrm>
          <a:prstGeom prst="roundRect">
            <a:avLst>
              <a:gd name="adj" fmla="val 434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731520" y="1837944"/>
            <a:ext cx="566928" cy="566928"/>
          </a:xfrm>
          <a:prstGeom prst="ellipse">
            <a:avLst/>
          </a:prstGeom>
          <a:solidFill>
            <a:srgbClr val="2E5A88"/>
          </a:solidFill>
          <a:ln/>
        </p:spPr>
      </p:sp>
      <p:pic>
        <p:nvPicPr>
          <p:cNvPr id="7" name="Image 0" descr="preencoded.png">    </p:cNvPr>
          <p:cNvPicPr>
            <a:picLocks noChangeAspect="1"/>
          </p:cNvPicPr>
          <p:nvPr/>
        </p:nvPicPr>
        <p:blipFill>
          <a:blip r:embed="rId1"/>
          <a:stretch>
            <a:fillRect/>
          </a:stretch>
        </p:blipFill>
        <p:spPr>
          <a:xfrm>
            <a:off x="867583" y="1974007"/>
            <a:ext cx="294803" cy="294803"/>
          </a:xfrm>
          <a:prstGeom prst="rect">
            <a:avLst/>
          </a:prstGeom>
        </p:spPr>
      </p:pic>
      <p:sp>
        <p:nvSpPr>
          <p:cNvPr id="8" name="Text 5"/>
          <p:cNvSpPr txBox="1"/>
          <p:nvPr/>
        </p:nvSpPr>
        <p:spPr>
          <a:xfrm>
            <a:off x="1389888" y="1837944"/>
            <a:ext cx="4358488" cy="566928"/>
          </a:xfrm>
          <a:prstGeom prst="rect">
            <a:avLst/>
          </a:prstGeom>
          <a:noFill/>
          <a:ln/>
        </p:spPr>
        <p:txBody>
          <a:bodyPr wrap="square" lIns="0" tIns="0" rIns="0" bIns="0" rtlCol="0" anchor="ctr"/>
          <a:lstStyle/>
          <a:p>
            <a:pPr indent="0" marL="0">
              <a:buNone/>
            </a:pPr>
            <a:r>
              <a:rPr lang="en-US" sz="1550" b="1" dirty="0">
                <a:solidFill>
                  <a:srgbClr val="18263D"/>
                </a:solidFill>
                <a:latin typeface="Cambria" pitchFamily="34" charset="0"/>
                <a:ea typeface="Cambria" pitchFamily="34" charset="-122"/>
                <a:cs typeface="Cambria" pitchFamily="34" charset="-120"/>
              </a:rPr>
              <a:t>Physical layout</a:t>
            </a:r>
            <a:endParaRPr lang="en-US" sz="1550" dirty="0"/>
          </a:p>
        </p:txBody>
      </p:sp>
      <p:sp>
        <p:nvSpPr>
          <p:cNvPr id="9" name="Text 6"/>
          <p:cNvSpPr txBox="1"/>
          <p:nvPr/>
        </p:nvSpPr>
        <p:spPr>
          <a:xfrm>
            <a:off x="841248" y="2514600"/>
            <a:ext cx="4724248" cy="1097280"/>
          </a:xfrm>
          <a:prstGeom prst="rect">
            <a:avLst/>
          </a:prstGeom>
          <a:noFill/>
          <a:ln/>
        </p:spPr>
        <p:txBody>
          <a:bodyPr wrap="square" lIns="0" tIns="0" rIns="0" bIns="0" rtlCol="0" anchor="ctr"/>
          <a:lstStyle/>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months(trip_start_timestamp) partitioning on bronze &amp; silver</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Aligns with the monthly job window — avoids tiny-file explosion</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raw lands as month=YYYY-MM/ folders in MinIO</a:t>
            </a:r>
            <a:endParaRPr lang="en-US" sz="1150" dirty="0"/>
          </a:p>
        </p:txBody>
      </p:sp>
      <p:sp>
        <p:nvSpPr>
          <p:cNvPr id="10" name="Shape 7"/>
          <p:cNvSpPr/>
          <p:nvPr/>
        </p:nvSpPr>
        <p:spPr>
          <a:xfrm>
            <a:off x="6278728" y="1600200"/>
            <a:ext cx="5455768" cy="2103120"/>
          </a:xfrm>
          <a:prstGeom prst="roundRect">
            <a:avLst>
              <a:gd name="adj" fmla="val 434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1" name="Shape 8"/>
          <p:cNvSpPr/>
          <p:nvPr/>
        </p:nvSpPr>
        <p:spPr>
          <a:xfrm>
            <a:off x="6553048" y="1837944"/>
            <a:ext cx="566928" cy="566928"/>
          </a:xfrm>
          <a:prstGeom prst="ellipse">
            <a:avLst/>
          </a:prstGeom>
          <a:solidFill>
            <a:srgbClr val="2E5A88"/>
          </a:solidFill>
          <a:ln/>
        </p:spPr>
      </p:sp>
      <p:pic>
        <p:nvPicPr>
          <p:cNvPr id="12" name="Image 1" descr="preencoded.png">    </p:cNvPr>
          <p:cNvPicPr>
            <a:picLocks noChangeAspect="1"/>
          </p:cNvPicPr>
          <p:nvPr/>
        </p:nvPicPr>
        <p:blipFill>
          <a:blip r:embed="rId2"/>
          <a:stretch>
            <a:fillRect/>
          </a:stretch>
        </p:blipFill>
        <p:spPr>
          <a:xfrm>
            <a:off x="6689110" y="1974007"/>
            <a:ext cx="294803" cy="294803"/>
          </a:xfrm>
          <a:prstGeom prst="rect">
            <a:avLst/>
          </a:prstGeom>
        </p:spPr>
      </p:pic>
      <p:sp>
        <p:nvSpPr>
          <p:cNvPr id="13" name="Text 9"/>
          <p:cNvSpPr txBox="1"/>
          <p:nvPr/>
        </p:nvSpPr>
        <p:spPr>
          <a:xfrm>
            <a:off x="7211416" y="1837944"/>
            <a:ext cx="4358488" cy="566928"/>
          </a:xfrm>
          <a:prstGeom prst="rect">
            <a:avLst/>
          </a:prstGeom>
          <a:noFill/>
          <a:ln/>
        </p:spPr>
        <p:txBody>
          <a:bodyPr wrap="square" lIns="0" tIns="0" rIns="0" bIns="0" rtlCol="0" anchor="ctr"/>
          <a:lstStyle/>
          <a:p>
            <a:pPr indent="0" marL="0">
              <a:buNone/>
            </a:pPr>
            <a:r>
              <a:rPr lang="en-US" sz="1550" b="1" dirty="0">
                <a:solidFill>
                  <a:srgbClr val="18263D"/>
                </a:solidFill>
                <a:latin typeface="Cambria" pitchFamily="34" charset="0"/>
                <a:ea typeface="Cambria" pitchFamily="34" charset="-122"/>
                <a:cs typeface="Cambria" pitchFamily="34" charset="-120"/>
              </a:rPr>
              <a:t>Write tuning</a:t>
            </a:r>
            <a:endParaRPr lang="en-US" sz="1550" dirty="0"/>
          </a:p>
        </p:txBody>
      </p:sp>
      <p:sp>
        <p:nvSpPr>
          <p:cNvPr id="14" name="Text 10"/>
          <p:cNvSpPr txBox="1"/>
          <p:nvPr/>
        </p:nvSpPr>
        <p:spPr>
          <a:xfrm>
            <a:off x="6662776" y="2514600"/>
            <a:ext cx="4724248" cy="1097280"/>
          </a:xfrm>
          <a:prstGeom prst="rect">
            <a:avLst/>
          </a:prstGeom>
          <a:noFill/>
          <a:ln/>
        </p:spPr>
        <p:txBody>
          <a:bodyPr wrap="square" lIns="0" tIns="0" rIns="0" bIns="0" rtlCol="0" anchor="ctr"/>
          <a:lstStyle/>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hash distribution mode; ~128 MB target files; zstd parquet</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WRITE ORDERED BY (trip_start_timestamp, pickup_community_area)</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Dynamic partition overwrite for clean per-month replays</a:t>
            </a:r>
            <a:endParaRPr lang="en-US" sz="1150" dirty="0"/>
          </a:p>
        </p:txBody>
      </p:sp>
      <p:sp>
        <p:nvSpPr>
          <p:cNvPr id="15" name="Shape 11"/>
          <p:cNvSpPr/>
          <p:nvPr/>
        </p:nvSpPr>
        <p:spPr>
          <a:xfrm>
            <a:off x="457200" y="3977640"/>
            <a:ext cx="5455768" cy="2103120"/>
          </a:xfrm>
          <a:prstGeom prst="roundRect">
            <a:avLst>
              <a:gd name="adj" fmla="val 434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6" name="Shape 12"/>
          <p:cNvSpPr/>
          <p:nvPr/>
        </p:nvSpPr>
        <p:spPr>
          <a:xfrm>
            <a:off x="731520" y="4215384"/>
            <a:ext cx="566928" cy="566928"/>
          </a:xfrm>
          <a:prstGeom prst="ellipse">
            <a:avLst/>
          </a:prstGeom>
          <a:solidFill>
            <a:srgbClr val="2E5A88"/>
          </a:solidFill>
          <a:ln/>
        </p:spPr>
      </p:sp>
      <p:pic>
        <p:nvPicPr>
          <p:cNvPr id="17" name="Image 2" descr="preencoded.png">    </p:cNvPr>
          <p:cNvPicPr>
            <a:picLocks noChangeAspect="1"/>
          </p:cNvPicPr>
          <p:nvPr/>
        </p:nvPicPr>
        <p:blipFill>
          <a:blip r:embed="rId3"/>
          <a:stretch>
            <a:fillRect/>
          </a:stretch>
        </p:blipFill>
        <p:spPr>
          <a:xfrm>
            <a:off x="867583" y="4351447"/>
            <a:ext cx="294803" cy="294803"/>
          </a:xfrm>
          <a:prstGeom prst="rect">
            <a:avLst/>
          </a:prstGeom>
        </p:spPr>
      </p:pic>
      <p:sp>
        <p:nvSpPr>
          <p:cNvPr id="18" name="Text 13"/>
          <p:cNvSpPr txBox="1"/>
          <p:nvPr/>
        </p:nvSpPr>
        <p:spPr>
          <a:xfrm>
            <a:off x="1389888" y="4215384"/>
            <a:ext cx="4358488" cy="566928"/>
          </a:xfrm>
          <a:prstGeom prst="rect">
            <a:avLst/>
          </a:prstGeom>
          <a:noFill/>
          <a:ln/>
        </p:spPr>
        <p:txBody>
          <a:bodyPr wrap="square" lIns="0" tIns="0" rIns="0" bIns="0" rtlCol="0" anchor="ctr"/>
          <a:lstStyle/>
          <a:p>
            <a:pPr indent="0" marL="0">
              <a:buNone/>
            </a:pPr>
            <a:r>
              <a:rPr lang="en-US" sz="1550" b="1" dirty="0">
                <a:solidFill>
                  <a:srgbClr val="18263D"/>
                </a:solidFill>
                <a:latin typeface="Cambria" pitchFamily="34" charset="0"/>
                <a:ea typeface="Cambria" pitchFamily="34" charset="-122"/>
                <a:cs typeface="Cambria" pitchFamily="34" charset="-120"/>
              </a:rPr>
              <a:t>Read tuning</a:t>
            </a:r>
            <a:endParaRPr lang="en-US" sz="1550" dirty="0"/>
          </a:p>
        </p:txBody>
      </p:sp>
      <p:sp>
        <p:nvSpPr>
          <p:cNvPr id="19" name="Text 14"/>
          <p:cNvSpPr txBox="1"/>
          <p:nvPr/>
        </p:nvSpPr>
        <p:spPr>
          <a:xfrm>
            <a:off x="841248" y="4892040"/>
            <a:ext cx="4724248" cy="1097280"/>
          </a:xfrm>
          <a:prstGeom prst="rect">
            <a:avLst/>
          </a:prstGeom>
          <a:noFill/>
          <a:ln/>
        </p:spPr>
        <p:txBody>
          <a:bodyPr wrap="square" lIns="0" tIns="0" rIns="0" bIns="0" rtlCol="0" anchor="ctr"/>
          <a:lstStyle/>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Partition pruning + predicate pushdown on date ranges</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Explicit StructType — no inferSchema at scale; column projection at the API</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Broadcast join for the small community-area dim; AQE on by default</a:t>
            </a:r>
            <a:endParaRPr lang="en-US" sz="1150" dirty="0"/>
          </a:p>
        </p:txBody>
      </p:sp>
      <p:sp>
        <p:nvSpPr>
          <p:cNvPr id="20" name="Shape 15"/>
          <p:cNvSpPr/>
          <p:nvPr/>
        </p:nvSpPr>
        <p:spPr>
          <a:xfrm>
            <a:off x="6278728" y="3977640"/>
            <a:ext cx="5455768" cy="2103120"/>
          </a:xfrm>
          <a:prstGeom prst="roundRect">
            <a:avLst>
              <a:gd name="adj" fmla="val 4348"/>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1" name="Shape 16"/>
          <p:cNvSpPr/>
          <p:nvPr/>
        </p:nvSpPr>
        <p:spPr>
          <a:xfrm>
            <a:off x="6553048" y="4215384"/>
            <a:ext cx="566928" cy="566928"/>
          </a:xfrm>
          <a:prstGeom prst="ellipse">
            <a:avLst/>
          </a:prstGeom>
          <a:solidFill>
            <a:srgbClr val="2E5A88"/>
          </a:solidFill>
          <a:ln/>
        </p:spPr>
      </p:sp>
      <p:pic>
        <p:nvPicPr>
          <p:cNvPr id="22" name="Image 3" descr="preencoded.png">    </p:cNvPr>
          <p:cNvPicPr>
            <a:picLocks noChangeAspect="1"/>
          </p:cNvPicPr>
          <p:nvPr/>
        </p:nvPicPr>
        <p:blipFill>
          <a:blip r:embed="rId4"/>
          <a:stretch>
            <a:fillRect/>
          </a:stretch>
        </p:blipFill>
        <p:spPr>
          <a:xfrm>
            <a:off x="6689110" y="4351447"/>
            <a:ext cx="294803" cy="294803"/>
          </a:xfrm>
          <a:prstGeom prst="rect">
            <a:avLst/>
          </a:prstGeom>
        </p:spPr>
      </p:pic>
      <p:sp>
        <p:nvSpPr>
          <p:cNvPr id="23" name="Text 17"/>
          <p:cNvSpPr txBox="1"/>
          <p:nvPr/>
        </p:nvSpPr>
        <p:spPr>
          <a:xfrm>
            <a:off x="7211416" y="4215384"/>
            <a:ext cx="4358488" cy="566928"/>
          </a:xfrm>
          <a:prstGeom prst="rect">
            <a:avLst/>
          </a:prstGeom>
          <a:noFill/>
          <a:ln/>
        </p:spPr>
        <p:txBody>
          <a:bodyPr wrap="square" lIns="0" tIns="0" rIns="0" bIns="0" rtlCol="0" anchor="ctr"/>
          <a:lstStyle/>
          <a:p>
            <a:pPr indent="0" marL="0">
              <a:buNone/>
            </a:pPr>
            <a:r>
              <a:rPr lang="en-US" sz="1550" b="1" dirty="0">
                <a:solidFill>
                  <a:srgbClr val="18263D"/>
                </a:solidFill>
                <a:latin typeface="Cambria" pitchFamily="34" charset="0"/>
                <a:ea typeface="Cambria" pitchFamily="34" charset="-122"/>
                <a:cs typeface="Cambria" pitchFamily="34" charset="-120"/>
              </a:rPr>
              <a:t>Maintenance</a:t>
            </a:r>
            <a:endParaRPr lang="en-US" sz="1550" dirty="0"/>
          </a:p>
        </p:txBody>
      </p:sp>
      <p:sp>
        <p:nvSpPr>
          <p:cNvPr id="24" name="Text 18"/>
          <p:cNvSpPr txBox="1"/>
          <p:nvPr/>
        </p:nvSpPr>
        <p:spPr>
          <a:xfrm>
            <a:off x="6662776" y="4892040"/>
            <a:ext cx="4724248" cy="1097280"/>
          </a:xfrm>
          <a:prstGeom prst="rect">
            <a:avLst/>
          </a:prstGeom>
          <a:noFill/>
          <a:ln/>
        </p:spPr>
        <p:txBody>
          <a:bodyPr wrap="square" lIns="0" tIns="0" rIns="0" bIns="0" rtlCol="0" anchor="ctr"/>
          <a:lstStyle/>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rewrite_data_files + rewrite_manifests compaction</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expire_snapshots to keep metadata lean</a:t>
            </a:r>
            <a:endParaRPr lang="en-US" sz="1150" dirty="0"/>
          </a:p>
          <a:p>
            <a:pPr marL="177800" indent="-177800">
              <a:spcAft>
                <a:spcPts val="600"/>
              </a:spcAft>
              <a:buSzPct val="100000"/>
              <a:buChar char="•"/>
            </a:pPr>
            <a:r>
              <a:rPr lang="en-US" sz="1150" dirty="0">
                <a:solidFill>
                  <a:srgbClr val="3F4C60"/>
                </a:solidFill>
                <a:latin typeface="Calibri" pitchFamily="34" charset="0"/>
                <a:ea typeface="Calibri" pitchFamily="34" charset="-122"/>
                <a:cs typeface="Calibri" pitchFamily="34" charset="-120"/>
              </a:rPr>
              <a:t>Scheduled as a Dagster asset after loads</a:t>
            </a:r>
            <a:endParaRPr lang="en-US" sz="1150" dirty="0"/>
          </a:p>
        </p:txBody>
      </p:sp>
      <p:sp>
        <p:nvSpPr>
          <p:cNvPr id="25" name="Text 19"/>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20</a:t>
            </a:r>
            <a:endParaRPr lang="en-US" sz="1000" dirty="0"/>
          </a:p>
        </p:txBody>
      </p:sp>
      <p:sp>
        <p:nvSpPr>
          <p:cNvPr id="26" name="Text 20"/>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SERVING</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From gold marts to a dashboard</a:t>
            </a:r>
            <a:endParaRPr lang="en-US" sz="3000" dirty="0"/>
          </a:p>
        </p:txBody>
      </p:sp>
      <p:sp>
        <p:nvSpPr>
          <p:cNvPr id="5" name="Shape 3"/>
          <p:cNvSpPr/>
          <p:nvPr/>
        </p:nvSpPr>
        <p:spPr>
          <a:xfrm>
            <a:off x="457200" y="1645920"/>
            <a:ext cx="3484778" cy="3200400"/>
          </a:xfrm>
          <a:prstGeom prst="roundRect">
            <a:avLst>
              <a:gd name="adj" fmla="val 2857"/>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1742389" y="1920240"/>
            <a:ext cx="914400" cy="914400"/>
          </a:xfrm>
          <a:prstGeom prst="roundRect">
            <a:avLst>
              <a:gd name="adj" fmla="val 20000"/>
            </a:avLst>
          </a:prstGeom>
          <a:solidFill>
            <a:srgbClr val="0E1B33"/>
          </a:solidFill>
          <a:ln w="12700">
            <a:solidFill>
              <a:srgbClr val="0E1B33"/>
            </a:solidFill>
            <a:prstDash val="solid"/>
          </a:ln>
          <a:effectLst>
            <a:outerShdw sx="100000" sy="100000" kx="0" ky="0" algn="bl" rotWithShape="0" blurRad="101600" dist="38100" dir="5400000">
              <a:srgbClr val="9AA7B8">
                <a:alpha val="22000"/>
              </a:srgbClr>
            </a:outerShdw>
          </a:effectLst>
        </p:spPr>
      </p:sp>
      <p:pic>
        <p:nvPicPr>
          <p:cNvPr id="7" name="Image 0" descr="/home/claude/logos/out/duckdb.png">    </p:cNvPr>
          <p:cNvPicPr>
            <a:picLocks noChangeAspect="1"/>
          </p:cNvPicPr>
          <p:nvPr/>
        </p:nvPicPr>
        <p:blipFill>
          <a:blip r:embed="rId1"/>
          <a:stretch>
            <a:fillRect/>
          </a:stretch>
        </p:blipFill>
        <p:spPr>
          <a:xfrm>
            <a:off x="1906981" y="2084832"/>
            <a:ext cx="585216" cy="585216"/>
          </a:xfrm>
          <a:prstGeom prst="rect">
            <a:avLst/>
          </a:prstGeom>
        </p:spPr>
      </p:pic>
      <p:sp>
        <p:nvSpPr>
          <p:cNvPr id="8" name="Text 5"/>
          <p:cNvSpPr txBox="1"/>
          <p:nvPr/>
        </p:nvSpPr>
        <p:spPr>
          <a:xfrm>
            <a:off x="548640" y="2871216"/>
            <a:ext cx="3301898" cy="457200"/>
          </a:xfrm>
          <a:prstGeom prst="rect">
            <a:avLst/>
          </a:prstGeom>
          <a:noFill/>
          <a:ln/>
        </p:spPr>
        <p:txBody>
          <a:bodyPr wrap="square" lIns="0" tIns="0" rIns="0" bIns="0" rtlCol="0" anchor="ctr"/>
          <a:lstStyle/>
          <a:p>
            <a:pPr algn="ctr" indent="0" marL="0">
              <a:buNone/>
            </a:pPr>
            <a:r>
              <a:rPr lang="en-US" sz="1700" b="1" dirty="0">
                <a:solidFill>
                  <a:srgbClr val="18263D"/>
                </a:solidFill>
                <a:latin typeface="Cambria" pitchFamily="34" charset="0"/>
                <a:ea typeface="Cambria" pitchFamily="34" charset="-122"/>
                <a:cs typeface="Cambria" pitchFamily="34" charset="-120"/>
              </a:rPr>
              <a:t>DuckDB</a:t>
            </a:r>
            <a:endParaRPr lang="en-US" sz="1700" dirty="0"/>
          </a:p>
        </p:txBody>
      </p:sp>
      <p:sp>
        <p:nvSpPr>
          <p:cNvPr id="9" name="Text 6"/>
          <p:cNvSpPr txBox="1"/>
          <p:nvPr/>
        </p:nvSpPr>
        <p:spPr>
          <a:xfrm>
            <a:off x="694944" y="3346704"/>
            <a:ext cx="3009290" cy="1371600"/>
          </a:xfrm>
          <a:prstGeom prst="rect">
            <a:avLst/>
          </a:prstGeom>
          <a:noFill/>
          <a:ln/>
        </p:spPr>
        <p:txBody>
          <a:bodyPr wrap="square" lIns="0" tIns="0" rIns="0" bIns="0" rtlCol="0" anchor="t"/>
          <a:lstStyle/>
          <a:p>
            <a:pPr algn="ctr" indent="0" marL="0">
              <a:lnSpc>
                <a:spcPct val="108000"/>
              </a:lnSpc>
              <a:buNone/>
            </a:pPr>
            <a:r>
              <a:rPr lang="en-US" sz="1150" dirty="0">
                <a:solidFill>
                  <a:srgbClr val="3F4C60"/>
                </a:solidFill>
                <a:latin typeface="Calibri" pitchFamily="34" charset="0"/>
                <a:ea typeface="Calibri" pitchFamily="34" charset="-122"/>
                <a:cs typeface="Calibri" pitchFamily="34" charset="-120"/>
              </a:rPr>
              <a:t>Reads gold Iceberg tables through Lakekeeper. ACCESS_DELEGATION_MODE 'none' so the MinIO secret is used (avoids 403s). Read-only BI — all writes stay in Spark.</a:t>
            </a:r>
            <a:endParaRPr lang="en-US" sz="1150" dirty="0"/>
          </a:p>
        </p:txBody>
      </p:sp>
      <p:sp>
        <p:nvSpPr>
          <p:cNvPr id="10" name="Shape 7"/>
          <p:cNvSpPr/>
          <p:nvPr/>
        </p:nvSpPr>
        <p:spPr>
          <a:xfrm>
            <a:off x="3996842" y="3246120"/>
            <a:ext cx="301752" cy="0"/>
          </a:xfrm>
          <a:prstGeom prst="line">
            <a:avLst/>
          </a:prstGeom>
          <a:noFill/>
          <a:ln w="31750">
            <a:solidFill>
              <a:srgbClr val="F2B705"/>
            </a:solidFill>
            <a:prstDash val="solid"/>
            <a:tailEnd type="triangle"/>
          </a:ln>
        </p:spPr>
      </p:sp>
      <p:sp>
        <p:nvSpPr>
          <p:cNvPr id="11" name="Shape 8"/>
          <p:cNvSpPr/>
          <p:nvPr/>
        </p:nvSpPr>
        <p:spPr>
          <a:xfrm>
            <a:off x="4353458" y="1645920"/>
            <a:ext cx="3484778" cy="3200400"/>
          </a:xfrm>
          <a:prstGeom prst="roundRect">
            <a:avLst>
              <a:gd name="adj" fmla="val 2857"/>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2" name="Shape 9"/>
          <p:cNvSpPr/>
          <p:nvPr/>
        </p:nvSpPr>
        <p:spPr>
          <a:xfrm>
            <a:off x="5638648" y="1920240"/>
            <a:ext cx="914400" cy="914400"/>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13" name="Image 1" descr="/home/claude/logos/out/fastapi.png">    </p:cNvPr>
          <p:cNvPicPr>
            <a:picLocks noChangeAspect="1"/>
          </p:cNvPicPr>
          <p:nvPr/>
        </p:nvPicPr>
        <p:blipFill>
          <a:blip r:embed="rId2"/>
          <a:stretch>
            <a:fillRect/>
          </a:stretch>
        </p:blipFill>
        <p:spPr>
          <a:xfrm>
            <a:off x="5803240" y="2084832"/>
            <a:ext cx="585216" cy="585216"/>
          </a:xfrm>
          <a:prstGeom prst="rect">
            <a:avLst/>
          </a:prstGeom>
        </p:spPr>
      </p:pic>
      <p:sp>
        <p:nvSpPr>
          <p:cNvPr id="14" name="Text 10"/>
          <p:cNvSpPr txBox="1"/>
          <p:nvPr/>
        </p:nvSpPr>
        <p:spPr>
          <a:xfrm>
            <a:off x="4444898" y="2871216"/>
            <a:ext cx="3301898" cy="457200"/>
          </a:xfrm>
          <a:prstGeom prst="rect">
            <a:avLst/>
          </a:prstGeom>
          <a:noFill/>
          <a:ln/>
        </p:spPr>
        <p:txBody>
          <a:bodyPr wrap="square" lIns="0" tIns="0" rIns="0" bIns="0" rtlCol="0" anchor="ctr"/>
          <a:lstStyle/>
          <a:p>
            <a:pPr algn="ctr" indent="0" marL="0">
              <a:buNone/>
            </a:pPr>
            <a:r>
              <a:rPr lang="en-US" sz="1700" b="1" dirty="0">
                <a:solidFill>
                  <a:srgbClr val="18263D"/>
                </a:solidFill>
                <a:latin typeface="Cambria" pitchFamily="34" charset="0"/>
                <a:ea typeface="Cambria" pitchFamily="34" charset="-122"/>
                <a:cs typeface="Cambria" pitchFamily="34" charset="-120"/>
              </a:rPr>
              <a:t>FastAPI</a:t>
            </a:r>
            <a:endParaRPr lang="en-US" sz="1700" dirty="0"/>
          </a:p>
        </p:txBody>
      </p:sp>
      <p:sp>
        <p:nvSpPr>
          <p:cNvPr id="15" name="Text 11"/>
          <p:cNvSpPr txBox="1"/>
          <p:nvPr/>
        </p:nvSpPr>
        <p:spPr>
          <a:xfrm>
            <a:off x="4591202" y="3346704"/>
            <a:ext cx="3009290" cy="1371600"/>
          </a:xfrm>
          <a:prstGeom prst="rect">
            <a:avLst/>
          </a:prstGeom>
          <a:noFill/>
          <a:ln/>
        </p:spPr>
        <p:txBody>
          <a:bodyPr wrap="square" lIns="0" tIns="0" rIns="0" bIns="0" rtlCol="0" anchor="t"/>
          <a:lstStyle/>
          <a:p>
            <a:pPr algn="ctr" indent="0" marL="0">
              <a:lnSpc>
                <a:spcPct val="108000"/>
              </a:lnSpc>
              <a:buNone/>
            </a:pPr>
            <a:r>
              <a:rPr lang="en-US" sz="1150" dirty="0">
                <a:solidFill>
                  <a:srgbClr val="3F4C60"/>
                </a:solidFill>
                <a:latin typeface="Calibri" pitchFamily="34" charset="0"/>
                <a:ea typeface="Calibri" pitchFamily="34" charset="-122"/>
                <a:cs typeface="Calibri" pitchFamily="34" charset="-120"/>
              </a:rPr>
              <a:t>Thin JSON endpoints per mart: /api/summary, /trips-daily, /trips-by-hour, /trips-by-company, /payment-mix, /top-routes, /pickup-areas. CORS on for the Vite dev server.</a:t>
            </a:r>
            <a:endParaRPr lang="en-US" sz="1150" dirty="0"/>
          </a:p>
        </p:txBody>
      </p:sp>
      <p:sp>
        <p:nvSpPr>
          <p:cNvPr id="16" name="Shape 12"/>
          <p:cNvSpPr/>
          <p:nvPr/>
        </p:nvSpPr>
        <p:spPr>
          <a:xfrm>
            <a:off x="7893101" y="3246120"/>
            <a:ext cx="301752" cy="0"/>
          </a:xfrm>
          <a:prstGeom prst="line">
            <a:avLst/>
          </a:prstGeom>
          <a:noFill/>
          <a:ln w="31750">
            <a:solidFill>
              <a:srgbClr val="F2B705"/>
            </a:solidFill>
            <a:prstDash val="solid"/>
            <a:tailEnd type="triangle"/>
          </a:ln>
        </p:spPr>
      </p:sp>
      <p:sp>
        <p:nvSpPr>
          <p:cNvPr id="17" name="Shape 13"/>
          <p:cNvSpPr/>
          <p:nvPr/>
        </p:nvSpPr>
        <p:spPr>
          <a:xfrm>
            <a:off x="8249717" y="1645920"/>
            <a:ext cx="3484778" cy="3200400"/>
          </a:xfrm>
          <a:prstGeom prst="roundRect">
            <a:avLst>
              <a:gd name="adj" fmla="val 2857"/>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8" name="Shape 14"/>
          <p:cNvSpPr/>
          <p:nvPr/>
        </p:nvSpPr>
        <p:spPr>
          <a:xfrm>
            <a:off x="9534906" y="1920240"/>
            <a:ext cx="914400" cy="914400"/>
          </a:xfrm>
          <a:prstGeom prst="roundRect">
            <a:avLst>
              <a:gd name="adj" fmla="val 20000"/>
            </a:avLst>
          </a:prstGeom>
          <a:solidFill>
            <a:srgbClr val="FFFFFF"/>
          </a:solidFill>
          <a:ln w="12700">
            <a:solidFill>
              <a:srgbClr val="D9E0EA"/>
            </a:solidFill>
            <a:prstDash val="solid"/>
          </a:ln>
          <a:effectLst>
            <a:outerShdw sx="100000" sy="100000" kx="0" ky="0" algn="bl" rotWithShape="0" blurRad="101600" dist="38100" dir="5400000">
              <a:srgbClr val="9AA7B8">
                <a:alpha val="22000"/>
              </a:srgbClr>
            </a:outerShdw>
          </a:effectLst>
        </p:spPr>
      </p:sp>
      <p:pic>
        <p:nvPicPr>
          <p:cNvPr id="19" name="Image 2" descr="/home/claude/logos/out/react.png">    </p:cNvPr>
          <p:cNvPicPr>
            <a:picLocks noChangeAspect="1"/>
          </p:cNvPicPr>
          <p:nvPr/>
        </p:nvPicPr>
        <p:blipFill>
          <a:blip r:embed="rId3"/>
          <a:stretch>
            <a:fillRect/>
          </a:stretch>
        </p:blipFill>
        <p:spPr>
          <a:xfrm>
            <a:off x="9699498" y="2084832"/>
            <a:ext cx="585216" cy="585216"/>
          </a:xfrm>
          <a:prstGeom prst="rect">
            <a:avLst/>
          </a:prstGeom>
        </p:spPr>
      </p:pic>
      <p:sp>
        <p:nvSpPr>
          <p:cNvPr id="20" name="Text 15"/>
          <p:cNvSpPr txBox="1"/>
          <p:nvPr/>
        </p:nvSpPr>
        <p:spPr>
          <a:xfrm>
            <a:off x="8341157" y="2871216"/>
            <a:ext cx="3301898" cy="457200"/>
          </a:xfrm>
          <a:prstGeom prst="rect">
            <a:avLst/>
          </a:prstGeom>
          <a:noFill/>
          <a:ln/>
        </p:spPr>
        <p:txBody>
          <a:bodyPr wrap="square" lIns="0" tIns="0" rIns="0" bIns="0" rtlCol="0" anchor="ctr"/>
          <a:lstStyle/>
          <a:p>
            <a:pPr algn="ctr" indent="0" marL="0">
              <a:buNone/>
            </a:pPr>
            <a:r>
              <a:rPr lang="en-US" sz="1700" b="1" dirty="0">
                <a:solidFill>
                  <a:srgbClr val="18263D"/>
                </a:solidFill>
                <a:latin typeface="Cambria" pitchFamily="34" charset="0"/>
                <a:ea typeface="Cambria" pitchFamily="34" charset="-122"/>
                <a:cs typeface="Cambria" pitchFamily="34" charset="-120"/>
              </a:rPr>
              <a:t>React + Recharts</a:t>
            </a:r>
            <a:endParaRPr lang="en-US" sz="1700" dirty="0"/>
          </a:p>
        </p:txBody>
      </p:sp>
      <p:sp>
        <p:nvSpPr>
          <p:cNvPr id="21" name="Text 16"/>
          <p:cNvSpPr txBox="1"/>
          <p:nvPr/>
        </p:nvSpPr>
        <p:spPr>
          <a:xfrm>
            <a:off x="8487461" y="3346704"/>
            <a:ext cx="3009290" cy="1371600"/>
          </a:xfrm>
          <a:prstGeom prst="rect">
            <a:avLst/>
          </a:prstGeom>
          <a:noFill/>
          <a:ln/>
        </p:spPr>
        <p:txBody>
          <a:bodyPr wrap="square" lIns="0" tIns="0" rIns="0" bIns="0" rtlCol="0" anchor="t"/>
          <a:lstStyle/>
          <a:p>
            <a:pPr algn="ctr" indent="0" marL="0">
              <a:lnSpc>
                <a:spcPct val="108000"/>
              </a:lnSpc>
              <a:buNone/>
            </a:pPr>
            <a:r>
              <a:rPr lang="en-US" sz="1150" dirty="0">
                <a:solidFill>
                  <a:srgbClr val="3F4C60"/>
                </a:solidFill>
                <a:latin typeface="Calibri" pitchFamily="34" charset="0"/>
                <a:ea typeface="Calibri" pitchFamily="34" charset="-122"/>
                <a:cs typeface="Calibri" pitchFamily="34" charset="-120"/>
              </a:rPr>
              <a:t>Daily trips/revenue line, hour × weekday heatmap, company bar, payment pie, top-routes table, pickup-area ranking — fetched via react-query.</a:t>
            </a:r>
            <a:endParaRPr lang="en-US" sz="1150" dirty="0"/>
          </a:p>
        </p:txBody>
      </p:sp>
      <p:sp>
        <p:nvSpPr>
          <p:cNvPr id="22" name="Shape 17"/>
          <p:cNvSpPr/>
          <p:nvPr/>
        </p:nvSpPr>
        <p:spPr>
          <a:xfrm>
            <a:off x="457200" y="5074920"/>
            <a:ext cx="11277295" cy="960120"/>
          </a:xfrm>
          <a:prstGeom prst="roundRect">
            <a:avLst>
              <a:gd name="adj" fmla="val 9524"/>
            </a:avLst>
          </a:prstGeom>
          <a:solidFill>
            <a:srgbClr val="0E1B33"/>
          </a:solidFill>
          <a:ln/>
          <a:effectLst>
            <a:outerShdw sx="100000" sy="100000" kx="0" ky="0" algn="bl" rotWithShape="0" blurRad="101600" dist="38100" dir="5400000">
              <a:srgbClr val="9AA7B8">
                <a:alpha val="32000"/>
              </a:srgbClr>
            </a:outerShdw>
          </a:effectLst>
        </p:spPr>
      </p:sp>
      <p:sp>
        <p:nvSpPr>
          <p:cNvPr id="23" name="Shape 18"/>
          <p:cNvSpPr/>
          <p:nvPr/>
        </p:nvSpPr>
        <p:spPr>
          <a:xfrm>
            <a:off x="731520" y="5230368"/>
            <a:ext cx="640080" cy="640080"/>
          </a:xfrm>
          <a:prstGeom prst="ellipse">
            <a:avLst/>
          </a:prstGeom>
          <a:solidFill>
            <a:srgbClr val="F2B705"/>
          </a:solidFill>
          <a:ln/>
        </p:spPr>
      </p:sp>
      <p:pic>
        <p:nvPicPr>
          <p:cNvPr id="24" name="Image 3" descr="preencoded.png">    </p:cNvPr>
          <p:cNvPicPr>
            <a:picLocks noChangeAspect="1"/>
          </p:cNvPicPr>
          <p:nvPr/>
        </p:nvPicPr>
        <p:blipFill>
          <a:blip r:embed="rId4"/>
          <a:stretch>
            <a:fillRect/>
          </a:stretch>
        </p:blipFill>
        <p:spPr>
          <a:xfrm>
            <a:off x="885139" y="5383987"/>
            <a:ext cx="332842" cy="332842"/>
          </a:xfrm>
          <a:prstGeom prst="rect">
            <a:avLst/>
          </a:prstGeom>
        </p:spPr>
      </p:pic>
      <p:sp>
        <p:nvSpPr>
          <p:cNvPr id="25" name="Text 19"/>
          <p:cNvSpPr txBox="1"/>
          <p:nvPr/>
        </p:nvSpPr>
        <p:spPr>
          <a:xfrm>
            <a:off x="1554480" y="5074920"/>
            <a:ext cx="9905695" cy="960120"/>
          </a:xfrm>
          <a:prstGeom prst="rect">
            <a:avLst/>
          </a:prstGeom>
          <a:noFill/>
          <a:ln/>
        </p:spPr>
        <p:txBody>
          <a:bodyPr wrap="square" lIns="0" tIns="0" rIns="0" bIns="0" rtlCol="0" anchor="ctr"/>
          <a:lstStyle/>
          <a:p>
            <a:pPr indent="0" marL="0">
              <a:lnSpc>
                <a:spcPct val="105000"/>
              </a:lnSpc>
              <a:buNone/>
            </a:pPr>
            <a:r>
              <a:rPr lang="en-US" sz="1300" b="1" dirty="0">
                <a:solidFill>
                  <a:srgbClr val="F2B705"/>
                </a:solidFill>
                <a:latin typeface="Calibri" pitchFamily="34" charset="0"/>
                <a:ea typeface="Calibri" pitchFamily="34" charset="-122"/>
                <a:cs typeface="Calibri" pitchFamily="34" charset="-120"/>
              </a:rPr>
              <a:t>One catalog, two consumers.  </a:t>
            </a:r>
            <a:pPr indent="0" marL="0">
              <a:lnSpc>
                <a:spcPct val="105000"/>
              </a:lnSpc>
              <a:buNone/>
            </a:pPr>
            <a:r>
              <a:rPr lang="en-US" sz="1300" dirty="0">
                <a:solidFill>
                  <a:srgbClr val="E6EEF7"/>
                </a:solidFill>
                <a:latin typeface="Calibri" pitchFamily="34" charset="0"/>
                <a:ea typeface="Calibri" pitchFamily="34" charset="-122"/>
                <a:cs typeface="Calibri" pitchFamily="34" charset="-120"/>
              </a:rPr>
              <a:t>Spark writes and DuckDB reads through the same Lakekeeper REST catalog — no dev/prod split, no drift between write and read.</a:t>
            </a:r>
            <a:endParaRPr lang="en-US" sz="1300" dirty="0"/>
          </a:p>
        </p:txBody>
      </p:sp>
      <p:sp>
        <p:nvSpPr>
          <p:cNvPr id="26" name="Text 2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21</a:t>
            </a:r>
            <a:endParaRPr lang="en-US" sz="1000" dirty="0"/>
          </a:p>
        </p:txBody>
      </p:sp>
      <p:sp>
        <p:nvSpPr>
          <p:cNvPr id="27" name="Text 21"/>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REPRODUCIBILITY</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How to run it locally</a:t>
            </a:r>
            <a:endParaRPr lang="en-US" sz="3000" dirty="0"/>
          </a:p>
        </p:txBody>
      </p:sp>
      <p:sp>
        <p:nvSpPr>
          <p:cNvPr id="5" name="Shape 3"/>
          <p:cNvSpPr/>
          <p:nvPr/>
        </p:nvSpPr>
        <p:spPr>
          <a:xfrm>
            <a:off x="457200" y="1572768"/>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694944" y="1956816"/>
            <a:ext cx="603504" cy="603504"/>
          </a:xfrm>
          <a:prstGeom prst="ellipse">
            <a:avLst/>
          </a:prstGeom>
          <a:solidFill>
            <a:srgbClr val="0E1B33"/>
          </a:solidFill>
          <a:ln/>
        </p:spPr>
      </p:sp>
      <p:sp>
        <p:nvSpPr>
          <p:cNvPr id="7" name="Text 5"/>
          <p:cNvSpPr txBox="1"/>
          <p:nvPr/>
        </p:nvSpPr>
        <p:spPr>
          <a:xfrm>
            <a:off x="694944" y="1956816"/>
            <a:ext cx="603504" cy="603504"/>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481328" y="1719072"/>
            <a:ext cx="3672688" cy="365760"/>
          </a:xfrm>
          <a:prstGeom prst="rect">
            <a:avLst/>
          </a:prstGeom>
          <a:noFill/>
          <a:ln/>
        </p:spPr>
        <p:txBody>
          <a:bodyPr wrap="square" lIns="0" tIns="0" rIns="0" bIns="0" rtlCol="0" anchor="ctr"/>
          <a:lstStyle/>
          <a:p>
            <a:pPr indent="0" marL="0">
              <a:buNone/>
            </a:pPr>
            <a:r>
              <a:rPr lang="en-US" sz="1450" b="1" dirty="0">
                <a:solidFill>
                  <a:srgbClr val="18263D"/>
                </a:solidFill>
                <a:latin typeface="Cambria" pitchFamily="34" charset="0"/>
                <a:ea typeface="Cambria" pitchFamily="34" charset="-122"/>
                <a:cs typeface="Cambria" pitchFamily="34" charset="-120"/>
              </a:rPr>
              <a:t>Prerequisites</a:t>
            </a:r>
            <a:endParaRPr lang="en-US" sz="1450" dirty="0"/>
          </a:p>
        </p:txBody>
      </p:sp>
      <p:sp>
        <p:nvSpPr>
          <p:cNvPr id="9" name="Text 7"/>
          <p:cNvSpPr txBox="1"/>
          <p:nvPr/>
        </p:nvSpPr>
        <p:spPr>
          <a:xfrm>
            <a:off x="1481328" y="2084832"/>
            <a:ext cx="3672688" cy="731520"/>
          </a:xfrm>
          <a:prstGeom prst="rect">
            <a:avLst/>
          </a:prstGeom>
          <a:noFill/>
          <a:ln/>
        </p:spPr>
        <p:txBody>
          <a:bodyPr wrap="square" lIns="0" tIns="0" rIns="0" bIns="0" rtlCol="0" anchor="t"/>
          <a:lstStyle/>
          <a:p>
            <a:pPr indent="0" marL="0">
              <a:lnSpc>
                <a:spcPct val="103000"/>
              </a:lnSpc>
              <a:buNone/>
            </a:pPr>
            <a:r>
              <a:rPr lang="en-US" sz="1050" dirty="0">
                <a:solidFill>
                  <a:srgbClr val="3F4C60"/>
                </a:solidFill>
                <a:latin typeface="Calibri" pitchFamily="34" charset="0"/>
                <a:ea typeface="Calibri" pitchFamily="34" charset="-122"/>
                <a:cs typeface="Calibri" pitchFamily="34" charset="-120"/>
              </a:rPr>
              <a:t>Docker Desktop + uv installed. (Optional) a free CHICAGO_DATA_PORTAL_TOKEN in .env to speed extraction.</a:t>
            </a:r>
            <a:endParaRPr lang="en-US" sz="1050" dirty="0"/>
          </a:p>
        </p:txBody>
      </p:sp>
      <p:sp>
        <p:nvSpPr>
          <p:cNvPr id="10" name="Shape 8"/>
          <p:cNvSpPr/>
          <p:nvPr/>
        </p:nvSpPr>
        <p:spPr>
          <a:xfrm>
            <a:off x="5291176" y="1773936"/>
            <a:ext cx="438912" cy="438912"/>
          </a:xfrm>
          <a:prstGeom prst="ellipse">
            <a:avLst/>
          </a:prstGeom>
          <a:solidFill>
            <a:srgbClr val="2E5A88"/>
          </a:solidFill>
          <a:ln/>
        </p:spPr>
      </p:sp>
      <p:pic>
        <p:nvPicPr>
          <p:cNvPr id="11" name="Image 0" descr="preencoded.png">    </p:cNvPr>
          <p:cNvPicPr>
            <a:picLocks noChangeAspect="1"/>
          </p:cNvPicPr>
          <p:nvPr/>
        </p:nvPicPr>
        <p:blipFill>
          <a:blip r:embed="rId1"/>
          <a:stretch>
            <a:fillRect/>
          </a:stretch>
        </p:blipFill>
        <p:spPr>
          <a:xfrm>
            <a:off x="5396514" y="1879275"/>
            <a:ext cx="228234" cy="228234"/>
          </a:xfrm>
          <a:prstGeom prst="rect">
            <a:avLst/>
          </a:prstGeom>
        </p:spPr>
      </p:pic>
      <p:sp>
        <p:nvSpPr>
          <p:cNvPr id="12" name="Shape 9"/>
          <p:cNvSpPr/>
          <p:nvPr/>
        </p:nvSpPr>
        <p:spPr>
          <a:xfrm>
            <a:off x="6278728" y="1572768"/>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3" name="Shape 10"/>
          <p:cNvSpPr/>
          <p:nvPr/>
        </p:nvSpPr>
        <p:spPr>
          <a:xfrm>
            <a:off x="6516472" y="1956816"/>
            <a:ext cx="603504" cy="603504"/>
          </a:xfrm>
          <a:prstGeom prst="ellipse">
            <a:avLst/>
          </a:prstGeom>
          <a:solidFill>
            <a:srgbClr val="0E1B33"/>
          </a:solidFill>
          <a:ln/>
        </p:spPr>
      </p:sp>
      <p:sp>
        <p:nvSpPr>
          <p:cNvPr id="14" name="Text 11"/>
          <p:cNvSpPr txBox="1"/>
          <p:nvPr/>
        </p:nvSpPr>
        <p:spPr>
          <a:xfrm>
            <a:off x="6516472" y="1956816"/>
            <a:ext cx="603504" cy="603504"/>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2</a:t>
            </a:r>
            <a:endParaRPr lang="en-US" sz="2000" dirty="0"/>
          </a:p>
        </p:txBody>
      </p:sp>
      <p:sp>
        <p:nvSpPr>
          <p:cNvPr id="15" name="Text 12"/>
          <p:cNvSpPr txBox="1"/>
          <p:nvPr/>
        </p:nvSpPr>
        <p:spPr>
          <a:xfrm>
            <a:off x="7302856" y="1719072"/>
            <a:ext cx="3672688" cy="365760"/>
          </a:xfrm>
          <a:prstGeom prst="rect">
            <a:avLst/>
          </a:prstGeom>
          <a:noFill/>
          <a:ln/>
        </p:spPr>
        <p:txBody>
          <a:bodyPr wrap="square" lIns="0" tIns="0" rIns="0" bIns="0" rtlCol="0" anchor="ctr"/>
          <a:lstStyle/>
          <a:p>
            <a:pPr indent="0" marL="0">
              <a:buNone/>
            </a:pPr>
            <a:r>
              <a:rPr lang="en-US" sz="1450" b="1" dirty="0">
                <a:solidFill>
                  <a:srgbClr val="18263D"/>
                </a:solidFill>
                <a:latin typeface="Cambria" pitchFamily="34" charset="0"/>
                <a:ea typeface="Cambria" pitchFamily="34" charset="-122"/>
                <a:cs typeface="Cambria" pitchFamily="34" charset="-120"/>
              </a:rPr>
              <a:t>Configure the window</a:t>
            </a:r>
            <a:endParaRPr lang="en-US" sz="1450" dirty="0"/>
          </a:p>
        </p:txBody>
      </p:sp>
      <p:sp>
        <p:nvSpPr>
          <p:cNvPr id="16" name="Text 13"/>
          <p:cNvSpPr txBox="1"/>
          <p:nvPr/>
        </p:nvSpPr>
        <p:spPr>
          <a:xfrm>
            <a:off x="7302856" y="2084832"/>
            <a:ext cx="3672688" cy="731520"/>
          </a:xfrm>
          <a:prstGeom prst="rect">
            <a:avLst/>
          </a:prstGeom>
          <a:noFill/>
          <a:ln/>
        </p:spPr>
        <p:txBody>
          <a:bodyPr wrap="square" lIns="0" tIns="0" rIns="0" bIns="0" rtlCol="0" anchor="t"/>
          <a:lstStyle/>
          <a:p>
            <a:pPr indent="0" marL="0">
              <a:lnSpc>
                <a:spcPct val="103000"/>
              </a:lnSpc>
              <a:buNone/>
            </a:pPr>
            <a:r>
              <a:rPr lang="en-US" sz="1050" dirty="0">
                <a:solidFill>
                  <a:srgbClr val="3F4C60"/>
                </a:solidFill>
                <a:latin typeface="Calibri" pitchFamily="34" charset="0"/>
                <a:ea typeface="Calibri" pitchFamily="34" charset="-122"/>
                <a:cs typeface="Calibri" pitchFamily="34" charset="-120"/>
              </a:rPr>
              <a:t>Set the backfill window in .env (e.g. TAXI_BACKFILL_START=2023-07-01). Build the Spark image arte-spark:4.1.1.</a:t>
            </a:r>
            <a:endParaRPr lang="en-US" sz="1050" dirty="0"/>
          </a:p>
        </p:txBody>
      </p:sp>
      <p:sp>
        <p:nvSpPr>
          <p:cNvPr id="17" name="Shape 14"/>
          <p:cNvSpPr/>
          <p:nvPr/>
        </p:nvSpPr>
        <p:spPr>
          <a:xfrm>
            <a:off x="11112703" y="1773936"/>
            <a:ext cx="438912" cy="438912"/>
          </a:xfrm>
          <a:prstGeom prst="ellipse">
            <a:avLst/>
          </a:prstGeom>
          <a:solidFill>
            <a:srgbClr val="2E5A88"/>
          </a:solidFill>
          <a:ln/>
        </p:spPr>
      </p:sp>
      <p:pic>
        <p:nvPicPr>
          <p:cNvPr id="18" name="Image 1" descr="preencoded.png">    </p:cNvPr>
          <p:cNvPicPr>
            <a:picLocks noChangeAspect="1"/>
          </p:cNvPicPr>
          <p:nvPr/>
        </p:nvPicPr>
        <p:blipFill>
          <a:blip r:embed="rId2"/>
          <a:stretch>
            <a:fillRect/>
          </a:stretch>
        </p:blipFill>
        <p:spPr>
          <a:xfrm>
            <a:off x="11218042" y="1879275"/>
            <a:ext cx="228234" cy="228234"/>
          </a:xfrm>
          <a:prstGeom prst="rect">
            <a:avLst/>
          </a:prstGeom>
        </p:spPr>
      </p:pic>
      <p:sp>
        <p:nvSpPr>
          <p:cNvPr id="19" name="Shape 15"/>
          <p:cNvSpPr/>
          <p:nvPr/>
        </p:nvSpPr>
        <p:spPr>
          <a:xfrm>
            <a:off x="457200" y="3163824"/>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0" name="Shape 16"/>
          <p:cNvSpPr/>
          <p:nvPr/>
        </p:nvSpPr>
        <p:spPr>
          <a:xfrm>
            <a:off x="694944" y="3547872"/>
            <a:ext cx="603504" cy="603504"/>
          </a:xfrm>
          <a:prstGeom prst="ellipse">
            <a:avLst/>
          </a:prstGeom>
          <a:solidFill>
            <a:srgbClr val="0E1B33"/>
          </a:solidFill>
          <a:ln/>
        </p:spPr>
      </p:sp>
      <p:sp>
        <p:nvSpPr>
          <p:cNvPr id="21" name="Text 17"/>
          <p:cNvSpPr txBox="1"/>
          <p:nvPr/>
        </p:nvSpPr>
        <p:spPr>
          <a:xfrm>
            <a:off x="694944" y="3547872"/>
            <a:ext cx="603504" cy="603504"/>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3</a:t>
            </a:r>
            <a:endParaRPr lang="en-US" sz="2000" dirty="0"/>
          </a:p>
        </p:txBody>
      </p:sp>
      <p:sp>
        <p:nvSpPr>
          <p:cNvPr id="22" name="Text 18"/>
          <p:cNvSpPr txBox="1"/>
          <p:nvPr/>
        </p:nvSpPr>
        <p:spPr>
          <a:xfrm>
            <a:off x="1481328" y="3310128"/>
            <a:ext cx="3672688" cy="365760"/>
          </a:xfrm>
          <a:prstGeom prst="rect">
            <a:avLst/>
          </a:prstGeom>
          <a:noFill/>
          <a:ln/>
        </p:spPr>
        <p:txBody>
          <a:bodyPr wrap="square" lIns="0" tIns="0" rIns="0" bIns="0" rtlCol="0" anchor="ctr"/>
          <a:lstStyle/>
          <a:p>
            <a:pPr indent="0" marL="0">
              <a:buNone/>
            </a:pPr>
            <a:r>
              <a:rPr lang="en-US" sz="1450" b="1" dirty="0">
                <a:solidFill>
                  <a:srgbClr val="18263D"/>
                </a:solidFill>
                <a:latin typeface="Cambria" pitchFamily="34" charset="0"/>
                <a:ea typeface="Cambria" pitchFamily="34" charset="-122"/>
                <a:cs typeface="Cambria" pitchFamily="34" charset="-120"/>
              </a:rPr>
              <a:t>Bring infra up</a:t>
            </a:r>
            <a:endParaRPr lang="en-US" sz="1450" dirty="0"/>
          </a:p>
        </p:txBody>
      </p:sp>
      <p:sp>
        <p:nvSpPr>
          <p:cNvPr id="23" name="Text 19"/>
          <p:cNvSpPr txBox="1"/>
          <p:nvPr/>
        </p:nvSpPr>
        <p:spPr>
          <a:xfrm>
            <a:off x="1481328" y="3675888"/>
            <a:ext cx="3672688" cy="731520"/>
          </a:xfrm>
          <a:prstGeom prst="rect">
            <a:avLst/>
          </a:prstGeom>
          <a:noFill/>
          <a:ln/>
        </p:spPr>
        <p:txBody>
          <a:bodyPr wrap="square" lIns="0" tIns="0" rIns="0" bIns="0" rtlCol="0" anchor="t"/>
          <a:lstStyle/>
          <a:p>
            <a:pPr indent="0" marL="0">
              <a:lnSpc>
                <a:spcPct val="103000"/>
              </a:lnSpc>
              <a:buNone/>
            </a:pPr>
            <a:r>
              <a:rPr lang="en-US" sz="1050" dirty="0">
                <a:solidFill>
                  <a:srgbClr val="3F4C60"/>
                </a:solidFill>
                <a:latin typeface="Calibri" pitchFamily="34" charset="0"/>
                <a:ea typeface="Calibri" pitchFamily="34" charset="-122"/>
                <a:cs typeface="Calibri" pitchFamily="34" charset="-120"/>
              </a:rPr>
              <a:t>docker compose up -d — starts MinIO, Lakekeeper and Postgres, and creates the warehouse bucket. Idempotent; data persists.</a:t>
            </a:r>
            <a:endParaRPr lang="en-US" sz="1050" dirty="0"/>
          </a:p>
        </p:txBody>
      </p:sp>
      <p:sp>
        <p:nvSpPr>
          <p:cNvPr id="24" name="Shape 20"/>
          <p:cNvSpPr/>
          <p:nvPr/>
        </p:nvSpPr>
        <p:spPr>
          <a:xfrm>
            <a:off x="5291176" y="3364992"/>
            <a:ext cx="438912" cy="438912"/>
          </a:xfrm>
          <a:prstGeom prst="ellipse">
            <a:avLst/>
          </a:prstGeom>
          <a:solidFill>
            <a:srgbClr val="2E5A88"/>
          </a:solidFill>
          <a:ln/>
        </p:spPr>
      </p:sp>
      <p:pic>
        <p:nvPicPr>
          <p:cNvPr id="25" name="Image 2" descr="preencoded.png">    </p:cNvPr>
          <p:cNvPicPr>
            <a:picLocks noChangeAspect="1"/>
          </p:cNvPicPr>
          <p:nvPr/>
        </p:nvPicPr>
        <p:blipFill>
          <a:blip r:embed="rId3"/>
          <a:stretch>
            <a:fillRect/>
          </a:stretch>
        </p:blipFill>
        <p:spPr>
          <a:xfrm>
            <a:off x="5396514" y="3470331"/>
            <a:ext cx="228234" cy="228234"/>
          </a:xfrm>
          <a:prstGeom prst="rect">
            <a:avLst/>
          </a:prstGeom>
        </p:spPr>
      </p:pic>
      <p:sp>
        <p:nvSpPr>
          <p:cNvPr id="26" name="Shape 21"/>
          <p:cNvSpPr/>
          <p:nvPr/>
        </p:nvSpPr>
        <p:spPr>
          <a:xfrm>
            <a:off x="6278728" y="3163824"/>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7" name="Shape 22"/>
          <p:cNvSpPr/>
          <p:nvPr/>
        </p:nvSpPr>
        <p:spPr>
          <a:xfrm>
            <a:off x="6516472" y="3547872"/>
            <a:ext cx="603504" cy="603504"/>
          </a:xfrm>
          <a:prstGeom prst="ellipse">
            <a:avLst/>
          </a:prstGeom>
          <a:solidFill>
            <a:srgbClr val="0E1B33"/>
          </a:solidFill>
          <a:ln/>
        </p:spPr>
      </p:sp>
      <p:sp>
        <p:nvSpPr>
          <p:cNvPr id="28" name="Text 23"/>
          <p:cNvSpPr txBox="1"/>
          <p:nvPr/>
        </p:nvSpPr>
        <p:spPr>
          <a:xfrm>
            <a:off x="6516472" y="3547872"/>
            <a:ext cx="603504" cy="603504"/>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4</a:t>
            </a:r>
            <a:endParaRPr lang="en-US" sz="2000" dirty="0"/>
          </a:p>
        </p:txBody>
      </p:sp>
      <p:sp>
        <p:nvSpPr>
          <p:cNvPr id="29" name="Text 24"/>
          <p:cNvSpPr txBox="1"/>
          <p:nvPr/>
        </p:nvSpPr>
        <p:spPr>
          <a:xfrm>
            <a:off x="7302856" y="3310128"/>
            <a:ext cx="3672688" cy="365760"/>
          </a:xfrm>
          <a:prstGeom prst="rect">
            <a:avLst/>
          </a:prstGeom>
          <a:noFill/>
          <a:ln/>
        </p:spPr>
        <p:txBody>
          <a:bodyPr wrap="square" lIns="0" tIns="0" rIns="0" bIns="0" rtlCol="0" anchor="ctr"/>
          <a:lstStyle/>
          <a:p>
            <a:pPr indent="0" marL="0">
              <a:buNone/>
            </a:pPr>
            <a:r>
              <a:rPr lang="en-US" sz="1450" b="1" dirty="0">
                <a:solidFill>
                  <a:srgbClr val="18263D"/>
                </a:solidFill>
                <a:latin typeface="Cambria" pitchFamily="34" charset="0"/>
                <a:ea typeface="Cambria" pitchFamily="34" charset="-122"/>
                <a:cs typeface="Cambria" pitchFamily="34" charset="-120"/>
              </a:rPr>
              <a:t>Start Dagster</a:t>
            </a:r>
            <a:endParaRPr lang="en-US" sz="1450" dirty="0"/>
          </a:p>
        </p:txBody>
      </p:sp>
      <p:sp>
        <p:nvSpPr>
          <p:cNvPr id="30" name="Text 25"/>
          <p:cNvSpPr txBox="1"/>
          <p:nvPr/>
        </p:nvSpPr>
        <p:spPr>
          <a:xfrm>
            <a:off x="7302856" y="3675888"/>
            <a:ext cx="3672688" cy="731520"/>
          </a:xfrm>
          <a:prstGeom prst="rect">
            <a:avLst/>
          </a:prstGeom>
          <a:noFill/>
          <a:ln/>
        </p:spPr>
        <p:txBody>
          <a:bodyPr wrap="square" lIns="0" tIns="0" rIns="0" bIns="0" rtlCol="0" anchor="t"/>
          <a:lstStyle/>
          <a:p>
            <a:pPr indent="0" marL="0">
              <a:lnSpc>
                <a:spcPct val="103000"/>
              </a:lnSpc>
              <a:buNone/>
            </a:pPr>
            <a:r>
              <a:rPr lang="en-US" sz="1050" dirty="0">
                <a:solidFill>
                  <a:srgbClr val="3F4C60"/>
                </a:solidFill>
                <a:latin typeface="Calibri" pitchFamily="34" charset="0"/>
                <a:ea typeface="Calibri" pitchFamily="34" charset="-122"/>
                <a:cs typeface="Calibri" pitchFamily="34" charset="-120"/>
              </a:rPr>
              <a:t>run_dagster.ps1 sets DAGSTER_HOME and launches the UI + daemon (asset graph, run timeline, logs, checks).</a:t>
            </a:r>
            <a:endParaRPr lang="en-US" sz="1050" dirty="0"/>
          </a:p>
        </p:txBody>
      </p:sp>
      <p:sp>
        <p:nvSpPr>
          <p:cNvPr id="31" name="Shape 26"/>
          <p:cNvSpPr/>
          <p:nvPr/>
        </p:nvSpPr>
        <p:spPr>
          <a:xfrm>
            <a:off x="11112703" y="3364992"/>
            <a:ext cx="438912" cy="438912"/>
          </a:xfrm>
          <a:prstGeom prst="ellipse">
            <a:avLst/>
          </a:prstGeom>
          <a:solidFill>
            <a:srgbClr val="2E5A88"/>
          </a:solidFill>
          <a:ln/>
        </p:spPr>
      </p:sp>
      <p:pic>
        <p:nvPicPr>
          <p:cNvPr id="32" name="Image 3" descr="preencoded.png">    </p:cNvPr>
          <p:cNvPicPr>
            <a:picLocks noChangeAspect="1"/>
          </p:cNvPicPr>
          <p:nvPr/>
        </p:nvPicPr>
        <p:blipFill>
          <a:blip r:embed="rId4"/>
          <a:stretch>
            <a:fillRect/>
          </a:stretch>
        </p:blipFill>
        <p:spPr>
          <a:xfrm>
            <a:off x="11218042" y="3470331"/>
            <a:ext cx="228234" cy="228234"/>
          </a:xfrm>
          <a:prstGeom prst="rect">
            <a:avLst/>
          </a:prstGeom>
        </p:spPr>
      </p:pic>
      <p:sp>
        <p:nvSpPr>
          <p:cNvPr id="33" name="Shape 27"/>
          <p:cNvSpPr/>
          <p:nvPr/>
        </p:nvSpPr>
        <p:spPr>
          <a:xfrm>
            <a:off x="457200" y="4754880"/>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34" name="Shape 28"/>
          <p:cNvSpPr/>
          <p:nvPr/>
        </p:nvSpPr>
        <p:spPr>
          <a:xfrm>
            <a:off x="694944" y="5138928"/>
            <a:ext cx="603504" cy="603504"/>
          </a:xfrm>
          <a:prstGeom prst="ellipse">
            <a:avLst/>
          </a:prstGeom>
          <a:solidFill>
            <a:srgbClr val="0E1B33"/>
          </a:solidFill>
          <a:ln/>
        </p:spPr>
      </p:sp>
      <p:sp>
        <p:nvSpPr>
          <p:cNvPr id="35" name="Text 29"/>
          <p:cNvSpPr txBox="1"/>
          <p:nvPr/>
        </p:nvSpPr>
        <p:spPr>
          <a:xfrm>
            <a:off x="694944" y="5138928"/>
            <a:ext cx="603504" cy="603504"/>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5</a:t>
            </a:r>
            <a:endParaRPr lang="en-US" sz="2000" dirty="0"/>
          </a:p>
        </p:txBody>
      </p:sp>
      <p:sp>
        <p:nvSpPr>
          <p:cNvPr id="36" name="Text 30"/>
          <p:cNvSpPr txBox="1"/>
          <p:nvPr/>
        </p:nvSpPr>
        <p:spPr>
          <a:xfrm>
            <a:off x="1481328" y="4901184"/>
            <a:ext cx="3672688" cy="365760"/>
          </a:xfrm>
          <a:prstGeom prst="rect">
            <a:avLst/>
          </a:prstGeom>
          <a:noFill/>
          <a:ln/>
        </p:spPr>
        <p:txBody>
          <a:bodyPr wrap="square" lIns="0" tIns="0" rIns="0" bIns="0" rtlCol="0" anchor="ctr"/>
          <a:lstStyle/>
          <a:p>
            <a:pPr indent="0" marL="0">
              <a:buNone/>
            </a:pPr>
            <a:r>
              <a:rPr lang="en-US" sz="1450" b="1" dirty="0">
                <a:solidFill>
                  <a:srgbClr val="18263D"/>
                </a:solidFill>
                <a:latin typeface="Cambria" pitchFamily="34" charset="0"/>
                <a:ea typeface="Cambria" pitchFamily="34" charset="-122"/>
                <a:cs typeface="Cambria" pitchFamily="34" charset="-120"/>
              </a:rPr>
              <a:t>Materialize the pipeline</a:t>
            </a:r>
            <a:endParaRPr lang="en-US" sz="1450" dirty="0"/>
          </a:p>
        </p:txBody>
      </p:sp>
      <p:sp>
        <p:nvSpPr>
          <p:cNvPr id="37" name="Text 31"/>
          <p:cNvSpPr txBox="1"/>
          <p:nvPr/>
        </p:nvSpPr>
        <p:spPr>
          <a:xfrm>
            <a:off x="1481328" y="5266944"/>
            <a:ext cx="3672688" cy="731520"/>
          </a:xfrm>
          <a:prstGeom prst="rect">
            <a:avLst/>
          </a:prstGeom>
          <a:noFill/>
          <a:ln/>
        </p:spPr>
        <p:txBody>
          <a:bodyPr wrap="square" lIns="0" tIns="0" rIns="0" bIns="0" rtlCol="0" anchor="t"/>
          <a:lstStyle/>
          <a:p>
            <a:pPr indent="0" marL="0">
              <a:lnSpc>
                <a:spcPct val="103000"/>
              </a:lnSpc>
              <a:buNone/>
            </a:pPr>
            <a:r>
              <a:rPr lang="en-US" sz="1050" dirty="0">
                <a:solidFill>
                  <a:srgbClr val="3F4C60"/>
                </a:solidFill>
                <a:latin typeface="Calibri" pitchFamily="34" charset="0"/>
                <a:ea typeface="Calibri" pitchFamily="34" charset="-122"/>
                <a:cs typeface="Calibri" pitchFamily="34" charset="-120"/>
              </a:rPr>
              <a:t>Backfill the month range raw → bronze → silver, then rebuild gold marts + run Iceberg maintenance.</a:t>
            </a:r>
            <a:endParaRPr lang="en-US" sz="1050" dirty="0"/>
          </a:p>
        </p:txBody>
      </p:sp>
      <p:sp>
        <p:nvSpPr>
          <p:cNvPr id="38" name="Shape 32"/>
          <p:cNvSpPr/>
          <p:nvPr/>
        </p:nvSpPr>
        <p:spPr>
          <a:xfrm>
            <a:off x="5291176" y="4956048"/>
            <a:ext cx="438912" cy="438912"/>
          </a:xfrm>
          <a:prstGeom prst="ellipse">
            <a:avLst/>
          </a:prstGeom>
          <a:solidFill>
            <a:srgbClr val="2E5A88"/>
          </a:solidFill>
          <a:ln/>
        </p:spPr>
      </p:sp>
      <p:pic>
        <p:nvPicPr>
          <p:cNvPr id="39" name="Image 4" descr="preencoded.png">    </p:cNvPr>
          <p:cNvPicPr>
            <a:picLocks noChangeAspect="1"/>
          </p:cNvPicPr>
          <p:nvPr/>
        </p:nvPicPr>
        <p:blipFill>
          <a:blip r:embed="rId5"/>
          <a:stretch>
            <a:fillRect/>
          </a:stretch>
        </p:blipFill>
        <p:spPr>
          <a:xfrm>
            <a:off x="5396514" y="5061387"/>
            <a:ext cx="228234" cy="228234"/>
          </a:xfrm>
          <a:prstGeom prst="rect">
            <a:avLst/>
          </a:prstGeom>
        </p:spPr>
      </p:pic>
      <p:sp>
        <p:nvSpPr>
          <p:cNvPr id="40" name="Shape 33"/>
          <p:cNvSpPr/>
          <p:nvPr/>
        </p:nvSpPr>
        <p:spPr>
          <a:xfrm>
            <a:off x="6278728" y="4754880"/>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41" name="Shape 34"/>
          <p:cNvSpPr/>
          <p:nvPr/>
        </p:nvSpPr>
        <p:spPr>
          <a:xfrm>
            <a:off x="6516472" y="5138928"/>
            <a:ext cx="603504" cy="603504"/>
          </a:xfrm>
          <a:prstGeom prst="ellipse">
            <a:avLst/>
          </a:prstGeom>
          <a:solidFill>
            <a:srgbClr val="0E1B33"/>
          </a:solidFill>
          <a:ln/>
        </p:spPr>
      </p:sp>
      <p:sp>
        <p:nvSpPr>
          <p:cNvPr id="42" name="Text 35"/>
          <p:cNvSpPr txBox="1"/>
          <p:nvPr/>
        </p:nvSpPr>
        <p:spPr>
          <a:xfrm>
            <a:off x="6516472" y="5138928"/>
            <a:ext cx="603504" cy="603504"/>
          </a:xfrm>
          <a:prstGeom prst="rect">
            <a:avLst/>
          </a:prstGeom>
          <a:noFill/>
          <a:ln/>
        </p:spPr>
        <p:txBody>
          <a:bodyPr wrap="square" lIns="0" tIns="0" rIns="0" bIns="0" rtlCol="0" anchor="ctr"/>
          <a:lstStyle/>
          <a:p>
            <a:pPr algn="ctr" indent="0" marL="0">
              <a:buNone/>
            </a:pPr>
            <a:r>
              <a:rPr lang="en-US" sz="2000" b="1" dirty="0">
                <a:solidFill>
                  <a:srgbClr val="F2B705"/>
                </a:solidFill>
                <a:latin typeface="Cambria" pitchFamily="34" charset="0"/>
                <a:ea typeface="Cambria" pitchFamily="34" charset="-122"/>
                <a:cs typeface="Cambria" pitchFamily="34" charset="-120"/>
              </a:rPr>
              <a:t>6</a:t>
            </a:r>
            <a:endParaRPr lang="en-US" sz="2000" dirty="0"/>
          </a:p>
        </p:txBody>
      </p:sp>
      <p:sp>
        <p:nvSpPr>
          <p:cNvPr id="43" name="Text 36"/>
          <p:cNvSpPr txBox="1"/>
          <p:nvPr/>
        </p:nvSpPr>
        <p:spPr>
          <a:xfrm>
            <a:off x="7302856" y="4901184"/>
            <a:ext cx="3672688" cy="365760"/>
          </a:xfrm>
          <a:prstGeom prst="rect">
            <a:avLst/>
          </a:prstGeom>
          <a:noFill/>
          <a:ln/>
        </p:spPr>
        <p:txBody>
          <a:bodyPr wrap="square" lIns="0" tIns="0" rIns="0" bIns="0" rtlCol="0" anchor="ctr"/>
          <a:lstStyle/>
          <a:p>
            <a:pPr indent="0" marL="0">
              <a:buNone/>
            </a:pPr>
            <a:r>
              <a:rPr lang="en-US" sz="1450" b="1" dirty="0">
                <a:solidFill>
                  <a:srgbClr val="18263D"/>
                </a:solidFill>
                <a:latin typeface="Cambria" pitchFamily="34" charset="0"/>
                <a:ea typeface="Cambria" pitchFamily="34" charset="-122"/>
                <a:cs typeface="Cambria" pitchFamily="34" charset="-120"/>
              </a:rPr>
              <a:t>Explore the results</a:t>
            </a:r>
            <a:endParaRPr lang="en-US" sz="1450" dirty="0"/>
          </a:p>
        </p:txBody>
      </p:sp>
      <p:sp>
        <p:nvSpPr>
          <p:cNvPr id="44" name="Text 37"/>
          <p:cNvSpPr txBox="1"/>
          <p:nvPr/>
        </p:nvSpPr>
        <p:spPr>
          <a:xfrm>
            <a:off x="7302856" y="5266944"/>
            <a:ext cx="3672688" cy="731520"/>
          </a:xfrm>
          <a:prstGeom prst="rect">
            <a:avLst/>
          </a:prstGeom>
          <a:noFill/>
          <a:ln/>
        </p:spPr>
        <p:txBody>
          <a:bodyPr wrap="square" lIns="0" tIns="0" rIns="0" bIns="0" rtlCol="0" anchor="t"/>
          <a:lstStyle/>
          <a:p>
            <a:pPr indent="0" marL="0">
              <a:lnSpc>
                <a:spcPct val="103000"/>
              </a:lnSpc>
              <a:buNone/>
            </a:pPr>
            <a:r>
              <a:rPr lang="en-US" sz="1050" dirty="0">
                <a:solidFill>
                  <a:srgbClr val="3F4C60"/>
                </a:solidFill>
                <a:latin typeface="Calibri" pitchFamily="34" charset="0"/>
                <a:ea typeface="Calibri" pitchFamily="34" charset="-122"/>
                <a:cs typeface="Calibri" pitchFamily="34" charset="-120"/>
              </a:rPr>
              <a:t>Start FastAPI + the React dashboard; browse marts in MinIO and query them through the API.</a:t>
            </a:r>
            <a:endParaRPr lang="en-US" sz="1050" dirty="0"/>
          </a:p>
        </p:txBody>
      </p:sp>
      <p:sp>
        <p:nvSpPr>
          <p:cNvPr id="45" name="Shape 38"/>
          <p:cNvSpPr/>
          <p:nvPr/>
        </p:nvSpPr>
        <p:spPr>
          <a:xfrm>
            <a:off x="11112703" y="4956048"/>
            <a:ext cx="438912" cy="438912"/>
          </a:xfrm>
          <a:prstGeom prst="ellipse">
            <a:avLst/>
          </a:prstGeom>
          <a:solidFill>
            <a:srgbClr val="2E5A88"/>
          </a:solidFill>
          <a:ln/>
        </p:spPr>
      </p:sp>
      <p:pic>
        <p:nvPicPr>
          <p:cNvPr id="46" name="Image 5" descr="preencoded.png">    </p:cNvPr>
          <p:cNvPicPr>
            <a:picLocks noChangeAspect="1"/>
          </p:cNvPicPr>
          <p:nvPr/>
        </p:nvPicPr>
        <p:blipFill>
          <a:blip r:embed="rId6"/>
          <a:stretch>
            <a:fillRect/>
          </a:stretch>
        </p:blipFill>
        <p:spPr>
          <a:xfrm>
            <a:off x="11218042" y="5061387"/>
            <a:ext cx="228234" cy="228234"/>
          </a:xfrm>
          <a:prstGeom prst="rect">
            <a:avLst/>
          </a:prstGeom>
        </p:spPr>
      </p:pic>
      <p:sp>
        <p:nvSpPr>
          <p:cNvPr id="47" name="Text 39"/>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22</a:t>
            </a:r>
            <a:endParaRPr lang="en-US" sz="1000" dirty="0"/>
          </a:p>
        </p:txBody>
      </p:sp>
      <p:sp>
        <p:nvSpPr>
          <p:cNvPr id="48" name="Text 40"/>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457200" y="457200"/>
            <a:ext cx="118872" cy="457200"/>
          </a:xfrm>
          <a:prstGeom prst="rect">
            <a:avLst/>
          </a:prstGeom>
          <a:solidFill>
            <a:srgbClr val="F2B705"/>
          </a:solidFill>
          <a:ln/>
        </p:spPr>
      </p:sp>
      <p:sp>
        <p:nvSpPr>
          <p:cNvPr id="3" name="Text 1"/>
          <p:cNvSpPr txBox="1"/>
          <p:nvPr/>
        </p:nvSpPr>
        <p:spPr>
          <a:xfrm>
            <a:off x="713232" y="457200"/>
            <a:ext cx="7315200" cy="274320"/>
          </a:xfrm>
          <a:prstGeom prst="rect">
            <a:avLst/>
          </a:prstGeom>
          <a:noFill/>
          <a:ln/>
        </p:spPr>
        <p:txBody>
          <a:bodyPr wrap="square" lIns="0" tIns="0" rIns="0" bIns="0" rtlCol="0" anchor="ctr"/>
          <a:lstStyle/>
          <a:p>
            <a:pPr indent="0" marL="0">
              <a:buNone/>
            </a:pPr>
            <a:r>
              <a:rPr lang="en-US" sz="1200" b="1" spc="300" kern="0" dirty="0">
                <a:solidFill>
                  <a:srgbClr val="2E5A88"/>
                </a:solidFill>
                <a:latin typeface="Calibri" pitchFamily="34" charset="0"/>
                <a:ea typeface="Calibri" pitchFamily="34" charset="-122"/>
                <a:cs typeface="Calibri" pitchFamily="34" charset="-120"/>
              </a:rPr>
              <a:t>NEXT STEPS</a:t>
            </a:r>
            <a:endParaRPr lang="en-US" sz="1200" dirty="0"/>
          </a:p>
        </p:txBody>
      </p:sp>
      <p:sp>
        <p:nvSpPr>
          <p:cNvPr id="4" name="Text 2"/>
          <p:cNvSpPr txBox="1"/>
          <p:nvPr/>
        </p:nvSpPr>
        <p:spPr>
          <a:xfrm>
            <a:off x="694944" y="676656"/>
            <a:ext cx="11039551" cy="658368"/>
          </a:xfrm>
          <a:prstGeom prst="rect">
            <a:avLst/>
          </a:prstGeom>
          <a:noFill/>
          <a:ln/>
        </p:spPr>
        <p:txBody>
          <a:bodyPr wrap="square" lIns="0" tIns="0" rIns="0" bIns="0" rtlCol="0" anchor="ctr"/>
          <a:lstStyle/>
          <a:p>
            <a:pPr indent="0" marL="0">
              <a:buNone/>
            </a:pPr>
            <a:r>
              <a:rPr lang="en-US" sz="3000" b="1" dirty="0">
                <a:solidFill>
                  <a:srgbClr val="18263D"/>
                </a:solidFill>
                <a:latin typeface="Cambria" pitchFamily="34" charset="0"/>
                <a:ea typeface="Cambria" pitchFamily="34" charset="-122"/>
                <a:cs typeface="Cambria" pitchFamily="34" charset="-120"/>
              </a:rPr>
              <a:t>What I'd do with more time</a:t>
            </a:r>
            <a:endParaRPr lang="en-US" sz="3000" dirty="0"/>
          </a:p>
        </p:txBody>
      </p:sp>
      <p:sp>
        <p:nvSpPr>
          <p:cNvPr id="5" name="Shape 3"/>
          <p:cNvSpPr/>
          <p:nvPr/>
        </p:nvSpPr>
        <p:spPr>
          <a:xfrm>
            <a:off x="457200" y="1572768"/>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6" name="Shape 4"/>
          <p:cNvSpPr/>
          <p:nvPr/>
        </p:nvSpPr>
        <p:spPr>
          <a:xfrm>
            <a:off x="713232" y="1975104"/>
            <a:ext cx="566928" cy="566928"/>
          </a:xfrm>
          <a:prstGeom prst="ellipse">
            <a:avLst/>
          </a:prstGeom>
          <a:solidFill>
            <a:srgbClr val="F2B705"/>
          </a:solidFill>
          <a:ln/>
        </p:spPr>
      </p:sp>
      <p:pic>
        <p:nvPicPr>
          <p:cNvPr id="7" name="Image 0" descr="preencoded.png">    </p:cNvPr>
          <p:cNvPicPr>
            <a:picLocks noChangeAspect="1"/>
          </p:cNvPicPr>
          <p:nvPr/>
        </p:nvPicPr>
        <p:blipFill>
          <a:blip r:embed="rId1"/>
          <a:stretch>
            <a:fillRect/>
          </a:stretch>
        </p:blipFill>
        <p:spPr>
          <a:xfrm>
            <a:off x="849295" y="2111167"/>
            <a:ext cx="294803" cy="294803"/>
          </a:xfrm>
          <a:prstGeom prst="rect">
            <a:avLst/>
          </a:prstGeom>
        </p:spPr>
      </p:pic>
      <p:sp>
        <p:nvSpPr>
          <p:cNvPr id="8" name="Text 5"/>
          <p:cNvSpPr txBox="1"/>
          <p:nvPr/>
        </p:nvSpPr>
        <p:spPr>
          <a:xfrm>
            <a:off x="1444752" y="1737360"/>
            <a:ext cx="4267048" cy="457200"/>
          </a:xfrm>
          <a:prstGeom prst="rect">
            <a:avLst/>
          </a:prstGeom>
          <a:noFill/>
          <a:ln/>
        </p:spPr>
        <p:txBody>
          <a:bodyPr wrap="square" lIns="0" tIns="0" rIns="0" bIns="0" rtlCol="0" anchor="ctr"/>
          <a:lstStyle/>
          <a:p>
            <a:pPr indent="0" marL="0">
              <a:buNone/>
            </a:pPr>
            <a:r>
              <a:rPr lang="en-US" sz="1400" b="1" dirty="0">
                <a:solidFill>
                  <a:srgbClr val="18263D"/>
                </a:solidFill>
                <a:latin typeface="Cambria" pitchFamily="34" charset="0"/>
                <a:ea typeface="Cambria" pitchFamily="34" charset="-122"/>
                <a:cs typeface="Cambria" pitchFamily="34" charset="-120"/>
              </a:rPr>
              <a:t>Full-year (and multi-year) backfill</a:t>
            </a:r>
            <a:endParaRPr lang="en-US" sz="1400" dirty="0"/>
          </a:p>
        </p:txBody>
      </p:sp>
      <p:sp>
        <p:nvSpPr>
          <p:cNvPr id="9" name="Text 6"/>
          <p:cNvSpPr txBox="1"/>
          <p:nvPr/>
        </p:nvSpPr>
        <p:spPr>
          <a:xfrm>
            <a:off x="1444752" y="2139696"/>
            <a:ext cx="4267048" cy="685800"/>
          </a:xfrm>
          <a:prstGeom prst="rect">
            <a:avLst/>
          </a:prstGeom>
          <a:noFill/>
          <a:ln/>
        </p:spPr>
        <p:txBody>
          <a:bodyPr wrap="square" lIns="0" tIns="0" rIns="0" bIns="0" rtlCol="0" anchor="t"/>
          <a:lstStyle/>
          <a:p>
            <a:pPr indent="0" marL="0">
              <a:lnSpc>
                <a:spcPct val="103000"/>
              </a:lnSpc>
              <a:buNone/>
            </a:pPr>
            <a:r>
              <a:rPr lang="en-US" sz="1100" dirty="0">
                <a:solidFill>
                  <a:srgbClr val="3F4C60"/>
                </a:solidFill>
                <a:latin typeface="Calibri" pitchFamily="34" charset="0"/>
                <a:ea typeface="Calibri" pitchFamily="34" charset="-122"/>
                <a:cs typeface="Calibri" pitchFamily="34" charset="-120"/>
              </a:rPr>
              <a:t>Scale the windowed load to the full history; consider daily partitions where finer deltas matter.</a:t>
            </a:r>
            <a:endParaRPr lang="en-US" sz="1100" dirty="0"/>
          </a:p>
        </p:txBody>
      </p:sp>
      <p:sp>
        <p:nvSpPr>
          <p:cNvPr id="10" name="Shape 7"/>
          <p:cNvSpPr/>
          <p:nvPr/>
        </p:nvSpPr>
        <p:spPr>
          <a:xfrm>
            <a:off x="6278728" y="1572768"/>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1" name="Shape 8"/>
          <p:cNvSpPr/>
          <p:nvPr/>
        </p:nvSpPr>
        <p:spPr>
          <a:xfrm>
            <a:off x="6534760" y="1975104"/>
            <a:ext cx="566928" cy="566928"/>
          </a:xfrm>
          <a:prstGeom prst="ellipse">
            <a:avLst/>
          </a:prstGeom>
          <a:solidFill>
            <a:srgbClr val="F2B705"/>
          </a:solidFill>
          <a:ln/>
        </p:spPr>
      </p:sp>
      <p:pic>
        <p:nvPicPr>
          <p:cNvPr id="12" name="Image 1" descr="preencoded.png">    </p:cNvPr>
          <p:cNvPicPr>
            <a:picLocks noChangeAspect="1"/>
          </p:cNvPicPr>
          <p:nvPr/>
        </p:nvPicPr>
        <p:blipFill>
          <a:blip r:embed="rId2"/>
          <a:stretch>
            <a:fillRect/>
          </a:stretch>
        </p:blipFill>
        <p:spPr>
          <a:xfrm>
            <a:off x="6670822" y="2111167"/>
            <a:ext cx="294803" cy="294803"/>
          </a:xfrm>
          <a:prstGeom prst="rect">
            <a:avLst/>
          </a:prstGeom>
        </p:spPr>
      </p:pic>
      <p:sp>
        <p:nvSpPr>
          <p:cNvPr id="13" name="Text 9"/>
          <p:cNvSpPr txBox="1"/>
          <p:nvPr/>
        </p:nvSpPr>
        <p:spPr>
          <a:xfrm>
            <a:off x="7266280" y="1737360"/>
            <a:ext cx="4267048" cy="457200"/>
          </a:xfrm>
          <a:prstGeom prst="rect">
            <a:avLst/>
          </a:prstGeom>
          <a:noFill/>
          <a:ln/>
        </p:spPr>
        <p:txBody>
          <a:bodyPr wrap="square" lIns="0" tIns="0" rIns="0" bIns="0" rtlCol="0" anchor="ctr"/>
          <a:lstStyle/>
          <a:p>
            <a:pPr indent="0" marL="0">
              <a:buNone/>
            </a:pPr>
            <a:r>
              <a:rPr lang="en-US" sz="1400" b="1" dirty="0">
                <a:solidFill>
                  <a:srgbClr val="18263D"/>
                </a:solidFill>
                <a:latin typeface="Cambria" pitchFamily="34" charset="0"/>
                <a:ea typeface="Cambria" pitchFamily="34" charset="-122"/>
                <a:cs typeface="Cambria" pitchFamily="34" charset="-120"/>
              </a:rPr>
              <a:t>Wire a real alert channel</a:t>
            </a:r>
            <a:endParaRPr lang="en-US" sz="1400" dirty="0"/>
          </a:p>
        </p:txBody>
      </p:sp>
      <p:sp>
        <p:nvSpPr>
          <p:cNvPr id="14" name="Text 10"/>
          <p:cNvSpPr txBox="1"/>
          <p:nvPr/>
        </p:nvSpPr>
        <p:spPr>
          <a:xfrm>
            <a:off x="7266280" y="2139696"/>
            <a:ext cx="4267048" cy="685800"/>
          </a:xfrm>
          <a:prstGeom prst="rect">
            <a:avLst/>
          </a:prstGeom>
          <a:noFill/>
          <a:ln/>
        </p:spPr>
        <p:txBody>
          <a:bodyPr wrap="square" lIns="0" tIns="0" rIns="0" bIns="0" rtlCol="0" anchor="t"/>
          <a:lstStyle/>
          <a:p>
            <a:pPr indent="0" marL="0">
              <a:lnSpc>
                <a:spcPct val="103000"/>
              </a:lnSpc>
              <a:buNone/>
            </a:pPr>
            <a:r>
              <a:rPr lang="en-US" sz="1100" dirty="0">
                <a:solidFill>
                  <a:srgbClr val="3F4C60"/>
                </a:solidFill>
                <a:latin typeface="Calibri" pitchFamily="34" charset="0"/>
                <a:ea typeface="Calibri" pitchFamily="34" charset="-122"/>
                <a:cs typeface="Calibri" pitchFamily="34" charset="-120"/>
              </a:rPr>
              <a:t>Drop a Microsoft Teams / Slack / email webhook into the single send_alarm() point.</a:t>
            </a:r>
            <a:endParaRPr lang="en-US" sz="1100" dirty="0"/>
          </a:p>
        </p:txBody>
      </p:sp>
      <p:sp>
        <p:nvSpPr>
          <p:cNvPr id="15" name="Shape 11"/>
          <p:cNvSpPr/>
          <p:nvPr/>
        </p:nvSpPr>
        <p:spPr>
          <a:xfrm>
            <a:off x="457200" y="3163824"/>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16" name="Shape 12"/>
          <p:cNvSpPr/>
          <p:nvPr/>
        </p:nvSpPr>
        <p:spPr>
          <a:xfrm>
            <a:off x="713232" y="3566160"/>
            <a:ext cx="566928" cy="566928"/>
          </a:xfrm>
          <a:prstGeom prst="ellipse">
            <a:avLst/>
          </a:prstGeom>
          <a:solidFill>
            <a:srgbClr val="F2B705"/>
          </a:solidFill>
          <a:ln/>
        </p:spPr>
      </p:sp>
      <p:pic>
        <p:nvPicPr>
          <p:cNvPr id="17" name="Image 2" descr="preencoded.png">    </p:cNvPr>
          <p:cNvPicPr>
            <a:picLocks noChangeAspect="1"/>
          </p:cNvPicPr>
          <p:nvPr/>
        </p:nvPicPr>
        <p:blipFill>
          <a:blip r:embed="rId3"/>
          <a:stretch>
            <a:fillRect/>
          </a:stretch>
        </p:blipFill>
        <p:spPr>
          <a:xfrm>
            <a:off x="849295" y="3702223"/>
            <a:ext cx="294803" cy="294803"/>
          </a:xfrm>
          <a:prstGeom prst="rect">
            <a:avLst/>
          </a:prstGeom>
        </p:spPr>
      </p:pic>
      <p:sp>
        <p:nvSpPr>
          <p:cNvPr id="18" name="Text 13"/>
          <p:cNvSpPr txBox="1"/>
          <p:nvPr/>
        </p:nvSpPr>
        <p:spPr>
          <a:xfrm>
            <a:off x="1444752" y="3328416"/>
            <a:ext cx="4267048" cy="457200"/>
          </a:xfrm>
          <a:prstGeom prst="rect">
            <a:avLst/>
          </a:prstGeom>
          <a:noFill/>
          <a:ln/>
        </p:spPr>
        <p:txBody>
          <a:bodyPr wrap="square" lIns="0" tIns="0" rIns="0" bIns="0" rtlCol="0" anchor="ctr"/>
          <a:lstStyle/>
          <a:p>
            <a:pPr indent="0" marL="0">
              <a:buNone/>
            </a:pPr>
            <a:r>
              <a:rPr lang="en-US" sz="1400" b="1" dirty="0">
                <a:solidFill>
                  <a:srgbClr val="18263D"/>
                </a:solidFill>
                <a:latin typeface="Cambria" pitchFamily="34" charset="0"/>
                <a:ea typeface="Cambria" pitchFamily="34" charset="-122"/>
                <a:cs typeface="Cambria" pitchFamily="34" charset="-120"/>
              </a:rPr>
              <a:t>CI + automated tests</a:t>
            </a:r>
            <a:endParaRPr lang="en-US" sz="1400" dirty="0"/>
          </a:p>
        </p:txBody>
      </p:sp>
      <p:sp>
        <p:nvSpPr>
          <p:cNvPr id="19" name="Text 14"/>
          <p:cNvSpPr txBox="1"/>
          <p:nvPr/>
        </p:nvSpPr>
        <p:spPr>
          <a:xfrm>
            <a:off x="1444752" y="3730752"/>
            <a:ext cx="4267048" cy="685800"/>
          </a:xfrm>
          <a:prstGeom prst="rect">
            <a:avLst/>
          </a:prstGeom>
          <a:noFill/>
          <a:ln/>
        </p:spPr>
        <p:txBody>
          <a:bodyPr wrap="square" lIns="0" tIns="0" rIns="0" bIns="0" rtlCol="0" anchor="t"/>
          <a:lstStyle/>
          <a:p>
            <a:pPr indent="0" marL="0">
              <a:lnSpc>
                <a:spcPct val="103000"/>
              </a:lnSpc>
              <a:buNone/>
            </a:pPr>
            <a:r>
              <a:rPr lang="en-US" sz="1100" dirty="0">
                <a:solidFill>
                  <a:srgbClr val="3F4C60"/>
                </a:solidFill>
                <a:latin typeface="Calibri" pitchFamily="34" charset="0"/>
                <a:ea typeface="Calibri" pitchFamily="34" charset="-122"/>
                <a:cs typeface="Calibri" pitchFamily="34" charset="-120"/>
              </a:rPr>
              <a:t>Unit tests on transforms and the SODA client; a lint/test gate; smoke-test the compose stack in CI.</a:t>
            </a:r>
            <a:endParaRPr lang="en-US" sz="1100" dirty="0"/>
          </a:p>
        </p:txBody>
      </p:sp>
      <p:sp>
        <p:nvSpPr>
          <p:cNvPr id="20" name="Shape 15"/>
          <p:cNvSpPr/>
          <p:nvPr/>
        </p:nvSpPr>
        <p:spPr>
          <a:xfrm>
            <a:off x="6278728" y="3163824"/>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1" name="Shape 16"/>
          <p:cNvSpPr/>
          <p:nvPr/>
        </p:nvSpPr>
        <p:spPr>
          <a:xfrm>
            <a:off x="6534760" y="3566160"/>
            <a:ext cx="566928" cy="566928"/>
          </a:xfrm>
          <a:prstGeom prst="ellipse">
            <a:avLst/>
          </a:prstGeom>
          <a:solidFill>
            <a:srgbClr val="F2B705"/>
          </a:solidFill>
          <a:ln/>
        </p:spPr>
      </p:sp>
      <p:pic>
        <p:nvPicPr>
          <p:cNvPr id="22" name="Image 3" descr="preencoded.png">    </p:cNvPr>
          <p:cNvPicPr>
            <a:picLocks noChangeAspect="1"/>
          </p:cNvPicPr>
          <p:nvPr/>
        </p:nvPicPr>
        <p:blipFill>
          <a:blip r:embed="rId4"/>
          <a:stretch>
            <a:fillRect/>
          </a:stretch>
        </p:blipFill>
        <p:spPr>
          <a:xfrm>
            <a:off x="6670822" y="3702223"/>
            <a:ext cx="294803" cy="294803"/>
          </a:xfrm>
          <a:prstGeom prst="rect">
            <a:avLst/>
          </a:prstGeom>
        </p:spPr>
      </p:pic>
      <p:sp>
        <p:nvSpPr>
          <p:cNvPr id="23" name="Text 17"/>
          <p:cNvSpPr txBox="1"/>
          <p:nvPr/>
        </p:nvSpPr>
        <p:spPr>
          <a:xfrm>
            <a:off x="7266280" y="3328416"/>
            <a:ext cx="4267048" cy="457200"/>
          </a:xfrm>
          <a:prstGeom prst="rect">
            <a:avLst/>
          </a:prstGeom>
          <a:noFill/>
          <a:ln/>
        </p:spPr>
        <p:txBody>
          <a:bodyPr wrap="square" lIns="0" tIns="0" rIns="0" bIns="0" rtlCol="0" anchor="ctr"/>
          <a:lstStyle/>
          <a:p>
            <a:pPr indent="0" marL="0">
              <a:buNone/>
            </a:pPr>
            <a:r>
              <a:rPr lang="en-US" sz="1400" b="1" dirty="0">
                <a:solidFill>
                  <a:srgbClr val="18263D"/>
                </a:solidFill>
                <a:latin typeface="Cambria" pitchFamily="34" charset="0"/>
                <a:ea typeface="Cambria" pitchFamily="34" charset="-122"/>
                <a:cs typeface="Cambria" pitchFamily="34" charset="-120"/>
              </a:rPr>
              <a:t>Data contracts &amp; docs</a:t>
            </a:r>
            <a:endParaRPr lang="en-US" sz="1400" dirty="0"/>
          </a:p>
        </p:txBody>
      </p:sp>
      <p:sp>
        <p:nvSpPr>
          <p:cNvPr id="24" name="Text 18"/>
          <p:cNvSpPr txBox="1"/>
          <p:nvPr/>
        </p:nvSpPr>
        <p:spPr>
          <a:xfrm>
            <a:off x="7266280" y="3730752"/>
            <a:ext cx="4267048" cy="685800"/>
          </a:xfrm>
          <a:prstGeom prst="rect">
            <a:avLst/>
          </a:prstGeom>
          <a:noFill/>
          <a:ln/>
        </p:spPr>
        <p:txBody>
          <a:bodyPr wrap="square" lIns="0" tIns="0" rIns="0" bIns="0" rtlCol="0" anchor="t"/>
          <a:lstStyle/>
          <a:p>
            <a:pPr indent="0" marL="0">
              <a:lnSpc>
                <a:spcPct val="103000"/>
              </a:lnSpc>
              <a:buNone/>
            </a:pPr>
            <a:r>
              <a:rPr lang="en-US" sz="1100" dirty="0">
                <a:solidFill>
                  <a:srgbClr val="3F4C60"/>
                </a:solidFill>
                <a:latin typeface="Calibri" pitchFamily="34" charset="0"/>
                <a:ea typeface="Calibri" pitchFamily="34" charset="-122"/>
                <a:cs typeface="Calibri" pitchFamily="34" charset="-120"/>
              </a:rPr>
              <a:t>Formalise schemas and expectations; auto-generate a data dictionary for the marts.</a:t>
            </a:r>
            <a:endParaRPr lang="en-US" sz="1100" dirty="0"/>
          </a:p>
        </p:txBody>
      </p:sp>
      <p:sp>
        <p:nvSpPr>
          <p:cNvPr id="25" name="Shape 19"/>
          <p:cNvSpPr/>
          <p:nvPr/>
        </p:nvSpPr>
        <p:spPr>
          <a:xfrm>
            <a:off x="457200" y="4754880"/>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26" name="Shape 20"/>
          <p:cNvSpPr/>
          <p:nvPr/>
        </p:nvSpPr>
        <p:spPr>
          <a:xfrm>
            <a:off x="713232" y="5157216"/>
            <a:ext cx="566928" cy="566928"/>
          </a:xfrm>
          <a:prstGeom prst="ellipse">
            <a:avLst/>
          </a:prstGeom>
          <a:solidFill>
            <a:srgbClr val="F2B705"/>
          </a:solidFill>
          <a:ln/>
        </p:spPr>
      </p:sp>
      <p:pic>
        <p:nvPicPr>
          <p:cNvPr id="27" name="Image 4" descr="preencoded.png">    </p:cNvPr>
          <p:cNvPicPr>
            <a:picLocks noChangeAspect="1"/>
          </p:cNvPicPr>
          <p:nvPr/>
        </p:nvPicPr>
        <p:blipFill>
          <a:blip r:embed="rId5"/>
          <a:stretch>
            <a:fillRect/>
          </a:stretch>
        </p:blipFill>
        <p:spPr>
          <a:xfrm>
            <a:off x="849295" y="5293279"/>
            <a:ext cx="294803" cy="294803"/>
          </a:xfrm>
          <a:prstGeom prst="rect">
            <a:avLst/>
          </a:prstGeom>
        </p:spPr>
      </p:pic>
      <p:sp>
        <p:nvSpPr>
          <p:cNvPr id="28" name="Text 21"/>
          <p:cNvSpPr txBox="1"/>
          <p:nvPr/>
        </p:nvSpPr>
        <p:spPr>
          <a:xfrm>
            <a:off x="1444752" y="4919472"/>
            <a:ext cx="4267048" cy="457200"/>
          </a:xfrm>
          <a:prstGeom prst="rect">
            <a:avLst/>
          </a:prstGeom>
          <a:noFill/>
          <a:ln/>
        </p:spPr>
        <p:txBody>
          <a:bodyPr wrap="square" lIns="0" tIns="0" rIns="0" bIns="0" rtlCol="0" anchor="ctr"/>
          <a:lstStyle/>
          <a:p>
            <a:pPr indent="0" marL="0">
              <a:buNone/>
            </a:pPr>
            <a:r>
              <a:rPr lang="en-US" sz="1400" b="1" dirty="0">
                <a:solidFill>
                  <a:srgbClr val="18263D"/>
                </a:solidFill>
                <a:latin typeface="Cambria" pitchFamily="34" charset="0"/>
                <a:ea typeface="Cambria" pitchFamily="34" charset="-122"/>
                <a:cs typeface="Cambria" pitchFamily="34" charset="-120"/>
              </a:rPr>
              <a:t>Richer marts &amp; lineage</a:t>
            </a:r>
            <a:endParaRPr lang="en-US" sz="1400" dirty="0"/>
          </a:p>
        </p:txBody>
      </p:sp>
      <p:sp>
        <p:nvSpPr>
          <p:cNvPr id="29" name="Text 22"/>
          <p:cNvSpPr txBox="1"/>
          <p:nvPr/>
        </p:nvSpPr>
        <p:spPr>
          <a:xfrm>
            <a:off x="1444752" y="5321808"/>
            <a:ext cx="4267048" cy="685800"/>
          </a:xfrm>
          <a:prstGeom prst="rect">
            <a:avLst/>
          </a:prstGeom>
          <a:noFill/>
          <a:ln/>
        </p:spPr>
        <p:txBody>
          <a:bodyPr wrap="square" lIns="0" tIns="0" rIns="0" bIns="0" rtlCol="0" anchor="t"/>
          <a:lstStyle/>
          <a:p>
            <a:pPr indent="0" marL="0">
              <a:lnSpc>
                <a:spcPct val="103000"/>
              </a:lnSpc>
              <a:buNone/>
            </a:pPr>
            <a:r>
              <a:rPr lang="en-US" sz="1100" dirty="0">
                <a:solidFill>
                  <a:srgbClr val="3F4C60"/>
                </a:solidFill>
                <a:latin typeface="Calibri" pitchFamily="34" charset="0"/>
                <a:ea typeface="Calibri" pitchFamily="34" charset="-122"/>
                <a:cs typeface="Calibri" pitchFamily="34" charset="-120"/>
              </a:rPr>
              <a:t>More BI aggregates, column-level lineage, and cost/row trend dashboards over the captured metadata.</a:t>
            </a:r>
            <a:endParaRPr lang="en-US" sz="1100" dirty="0"/>
          </a:p>
        </p:txBody>
      </p:sp>
      <p:sp>
        <p:nvSpPr>
          <p:cNvPr id="30" name="Shape 23"/>
          <p:cNvSpPr/>
          <p:nvPr/>
        </p:nvSpPr>
        <p:spPr>
          <a:xfrm>
            <a:off x="6278728" y="4754880"/>
            <a:ext cx="5455768" cy="1371600"/>
          </a:xfrm>
          <a:prstGeom prst="roundRect">
            <a:avLst>
              <a:gd name="adj" fmla="val 6000"/>
            </a:avLst>
          </a:prstGeom>
          <a:solidFill>
            <a:srgbClr val="FFFFFF"/>
          </a:solidFill>
          <a:ln w="12700">
            <a:solidFill>
              <a:srgbClr val="D9E0EA"/>
            </a:solidFill>
            <a:prstDash val="solid"/>
          </a:ln>
          <a:effectLst>
            <a:outerShdw sx="100000" sy="100000" kx="0" ky="0" algn="bl" rotWithShape="0" blurRad="101600" dist="38100" dir="5400000">
              <a:srgbClr val="9AA7B8">
                <a:alpha val="32000"/>
              </a:srgbClr>
            </a:outerShdw>
          </a:effectLst>
        </p:spPr>
      </p:sp>
      <p:sp>
        <p:nvSpPr>
          <p:cNvPr id="31" name="Shape 24"/>
          <p:cNvSpPr/>
          <p:nvPr/>
        </p:nvSpPr>
        <p:spPr>
          <a:xfrm>
            <a:off x="6534760" y="5157216"/>
            <a:ext cx="566928" cy="566928"/>
          </a:xfrm>
          <a:prstGeom prst="ellipse">
            <a:avLst/>
          </a:prstGeom>
          <a:solidFill>
            <a:srgbClr val="F2B705"/>
          </a:solidFill>
          <a:ln/>
        </p:spPr>
      </p:sp>
      <p:pic>
        <p:nvPicPr>
          <p:cNvPr id="32" name="Image 5" descr="preencoded.png">    </p:cNvPr>
          <p:cNvPicPr>
            <a:picLocks noChangeAspect="1"/>
          </p:cNvPicPr>
          <p:nvPr/>
        </p:nvPicPr>
        <p:blipFill>
          <a:blip r:embed="rId6"/>
          <a:stretch>
            <a:fillRect/>
          </a:stretch>
        </p:blipFill>
        <p:spPr>
          <a:xfrm>
            <a:off x="6670822" y="5293279"/>
            <a:ext cx="294803" cy="294803"/>
          </a:xfrm>
          <a:prstGeom prst="rect">
            <a:avLst/>
          </a:prstGeom>
        </p:spPr>
      </p:pic>
      <p:sp>
        <p:nvSpPr>
          <p:cNvPr id="33" name="Text 25"/>
          <p:cNvSpPr txBox="1"/>
          <p:nvPr/>
        </p:nvSpPr>
        <p:spPr>
          <a:xfrm>
            <a:off x="7266280" y="4919472"/>
            <a:ext cx="4267048" cy="457200"/>
          </a:xfrm>
          <a:prstGeom prst="rect">
            <a:avLst/>
          </a:prstGeom>
          <a:noFill/>
          <a:ln/>
        </p:spPr>
        <p:txBody>
          <a:bodyPr wrap="square" lIns="0" tIns="0" rIns="0" bIns="0" rtlCol="0" anchor="ctr"/>
          <a:lstStyle/>
          <a:p>
            <a:pPr indent="0" marL="0">
              <a:buNone/>
            </a:pPr>
            <a:r>
              <a:rPr lang="en-US" sz="1400" b="1" dirty="0">
                <a:solidFill>
                  <a:srgbClr val="18263D"/>
                </a:solidFill>
                <a:latin typeface="Cambria" pitchFamily="34" charset="0"/>
                <a:ea typeface="Cambria" pitchFamily="34" charset="-122"/>
                <a:cs typeface="Cambria" pitchFamily="34" charset="-120"/>
              </a:rPr>
              <a:t>Cloud deploy</a:t>
            </a:r>
            <a:endParaRPr lang="en-US" sz="1400" dirty="0"/>
          </a:p>
        </p:txBody>
      </p:sp>
      <p:sp>
        <p:nvSpPr>
          <p:cNvPr id="34" name="Text 26"/>
          <p:cNvSpPr txBox="1"/>
          <p:nvPr/>
        </p:nvSpPr>
        <p:spPr>
          <a:xfrm>
            <a:off x="7266280" y="5321808"/>
            <a:ext cx="4267048" cy="685800"/>
          </a:xfrm>
          <a:prstGeom prst="rect">
            <a:avLst/>
          </a:prstGeom>
          <a:noFill/>
          <a:ln/>
        </p:spPr>
        <p:txBody>
          <a:bodyPr wrap="square" lIns="0" tIns="0" rIns="0" bIns="0" rtlCol="0" anchor="t"/>
          <a:lstStyle/>
          <a:p>
            <a:pPr indent="0" marL="0">
              <a:lnSpc>
                <a:spcPct val="103000"/>
              </a:lnSpc>
              <a:buNone/>
            </a:pPr>
            <a:r>
              <a:rPr lang="en-US" sz="1100" dirty="0">
                <a:solidFill>
                  <a:srgbClr val="3F4C60"/>
                </a:solidFill>
                <a:latin typeface="Calibri" pitchFamily="34" charset="0"/>
                <a:ea typeface="Calibri" pitchFamily="34" charset="-122"/>
                <a:cs typeface="Calibri" pitchFamily="34" charset="-120"/>
              </a:rPr>
              <a:t>Flip MinIO → AWS S3 by config and run the same graph on managed infra.</a:t>
            </a:r>
            <a:endParaRPr lang="en-US" sz="1100" dirty="0"/>
          </a:p>
        </p:txBody>
      </p:sp>
      <p:sp>
        <p:nvSpPr>
          <p:cNvPr id="35" name="Text 27"/>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738298"/>
                </a:solidFill>
                <a:latin typeface="Calibri" pitchFamily="34" charset="0"/>
                <a:ea typeface="Calibri" pitchFamily="34" charset="-122"/>
                <a:cs typeface="Calibri" pitchFamily="34" charset="-120"/>
              </a:rPr>
              <a:t>23</a:t>
            </a:r>
            <a:endParaRPr lang="en-US" sz="1000" dirty="0"/>
          </a:p>
        </p:txBody>
      </p:sp>
      <p:sp>
        <p:nvSpPr>
          <p:cNvPr id="36" name="Text 28"/>
          <p:cNvSpPr txBox="1"/>
          <p:nvPr/>
        </p:nvSpPr>
        <p:spPr>
          <a:xfrm>
            <a:off x="457200" y="6400800"/>
            <a:ext cx="3657600" cy="274320"/>
          </a:xfrm>
          <a:prstGeom prst="rect">
            <a:avLst/>
          </a:prstGeom>
          <a:noFill/>
          <a:ln/>
        </p:spPr>
        <p:txBody>
          <a:bodyPr wrap="square" lIns="0" tIns="0" rIns="0" bIns="0" rtlCol="0" anchor="ctr"/>
          <a:lstStyle/>
          <a:p>
            <a:pPr indent="0" marL="0">
              <a:buNone/>
            </a:pPr>
            <a:r>
              <a:rPr lang="en-US" sz="900" spc="100" kern="0" dirty="0">
                <a:solidFill>
                  <a:srgbClr val="738298"/>
                </a:solidFill>
                <a:latin typeface="Calibri" pitchFamily="34" charset="0"/>
                <a:ea typeface="Calibri" pitchFamily="34" charset="-122"/>
                <a:cs typeface="Calibri" pitchFamily="34" charset="-120"/>
              </a:rPr>
              <a:t>Chicago Taxi Lakehouse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2011680" y="3291840"/>
            <a:ext cx="5669280" cy="5669280"/>
          </a:xfrm>
          <a:prstGeom prst="ellipse">
            <a:avLst/>
          </a:prstGeom>
          <a:solidFill>
            <a:srgbClr val="16294A"/>
          </a:solidFill>
          <a:ln/>
        </p:spPr>
      </p:sp>
      <p:sp>
        <p:nvSpPr>
          <p:cNvPr id="3" name="Shape 1"/>
          <p:cNvSpPr/>
          <p:nvPr/>
        </p:nvSpPr>
        <p:spPr>
          <a:xfrm>
            <a:off x="9509760" y="-2377440"/>
            <a:ext cx="5120640" cy="5120640"/>
          </a:xfrm>
          <a:prstGeom prst="ellipse">
            <a:avLst/>
          </a:prstGeom>
          <a:solidFill>
            <a:srgbClr val="1E355C"/>
          </a:solidFill>
          <a:ln/>
        </p:spPr>
      </p:sp>
      <p:sp>
        <p:nvSpPr>
          <p:cNvPr id="4" name="Shape 2"/>
          <p:cNvSpPr/>
          <p:nvPr/>
        </p:nvSpPr>
        <p:spPr>
          <a:xfrm>
            <a:off x="10058400" y="685800"/>
            <a:ext cx="1051560" cy="1051560"/>
          </a:xfrm>
          <a:prstGeom prst="ellipse">
            <a:avLst/>
          </a:prstGeom>
          <a:solidFill>
            <a:srgbClr val="F2B705"/>
          </a:solidFill>
          <a:ln/>
        </p:spPr>
      </p:sp>
      <p:pic>
        <p:nvPicPr>
          <p:cNvPr id="5" name="Image 0" descr="preencoded.png">    </p:cNvPr>
          <p:cNvPicPr>
            <a:picLocks noChangeAspect="1"/>
          </p:cNvPicPr>
          <p:nvPr/>
        </p:nvPicPr>
        <p:blipFill>
          <a:blip r:embed="rId1"/>
          <a:stretch>
            <a:fillRect/>
          </a:stretch>
        </p:blipFill>
        <p:spPr>
          <a:xfrm>
            <a:off x="10310774" y="938174"/>
            <a:ext cx="546811" cy="546811"/>
          </a:xfrm>
          <a:prstGeom prst="rect">
            <a:avLst/>
          </a:prstGeom>
        </p:spPr>
      </p:pic>
      <p:sp>
        <p:nvSpPr>
          <p:cNvPr id="6" name="Text 3"/>
          <p:cNvSpPr txBox="1"/>
          <p:nvPr/>
        </p:nvSpPr>
        <p:spPr>
          <a:xfrm>
            <a:off x="457200" y="1234440"/>
            <a:ext cx="7315200" cy="274320"/>
          </a:xfrm>
          <a:prstGeom prst="rect">
            <a:avLst/>
          </a:prstGeom>
          <a:noFill/>
          <a:ln/>
        </p:spPr>
        <p:txBody>
          <a:bodyPr wrap="square" lIns="0" tIns="0" rIns="0" bIns="0" rtlCol="0" anchor="ctr"/>
          <a:lstStyle/>
          <a:p>
            <a:pPr indent="0" marL="0">
              <a:buNone/>
            </a:pPr>
            <a:r>
              <a:rPr lang="en-US" sz="1200" b="1" spc="300" kern="0" dirty="0">
                <a:solidFill>
                  <a:srgbClr val="F2B705"/>
                </a:solidFill>
                <a:latin typeface="Calibri" pitchFamily="34" charset="0"/>
                <a:ea typeface="Calibri" pitchFamily="34" charset="-122"/>
                <a:cs typeface="Calibri" pitchFamily="34" charset="-120"/>
              </a:rPr>
              <a:t>IN SUMMARY</a:t>
            </a:r>
            <a:endParaRPr lang="en-US" sz="1200" dirty="0"/>
          </a:p>
        </p:txBody>
      </p:sp>
      <p:sp>
        <p:nvSpPr>
          <p:cNvPr id="7" name="Text 4"/>
          <p:cNvSpPr txBox="1"/>
          <p:nvPr/>
        </p:nvSpPr>
        <p:spPr>
          <a:xfrm>
            <a:off x="457200" y="1645920"/>
            <a:ext cx="8686800" cy="137160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A clean, reproducible lakehouse</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that actually runs.</a:t>
            </a:r>
            <a:endParaRPr lang="en-US" sz="3400" dirty="0"/>
          </a:p>
        </p:txBody>
      </p:sp>
      <p:sp>
        <p:nvSpPr>
          <p:cNvPr id="8" name="Text 5"/>
          <p:cNvSpPr txBox="1"/>
          <p:nvPr/>
        </p:nvSpPr>
        <p:spPr>
          <a:xfrm>
            <a:off x="457200" y="3246120"/>
            <a:ext cx="7863840" cy="2103120"/>
          </a:xfrm>
          <a:prstGeom prst="rect">
            <a:avLst/>
          </a:prstGeom>
          <a:noFill/>
          <a:ln/>
        </p:spPr>
        <p:txBody>
          <a:bodyPr wrap="square" lIns="0" tIns="0" rIns="0" bIns="0" rtlCol="0" anchor="ctr"/>
          <a:lstStyle/>
          <a:p>
            <a:pPr marL="177800" indent="-177800">
              <a:spcAft>
                <a:spcPts val="1100"/>
              </a:spcAft>
              <a:buSzPct val="100000"/>
              <a:buChar char="•"/>
            </a:pPr>
            <a:r>
              <a:rPr lang="en-US" sz="1450" dirty="0">
                <a:solidFill>
                  <a:srgbClr val="D7E0EE"/>
                </a:solidFill>
                <a:latin typeface="Calibri" pitchFamily="34" charset="0"/>
                <a:ea typeface="Calibri" pitchFamily="34" charset="-122"/>
                <a:cs typeface="Calibri" pitchFamily="34" charset="-120"/>
              </a:rPr>
              <a:t>Medallion pipeline — raw → bronze → silver → gold — on real Chicago Taxi data</a:t>
            </a:r>
            <a:endParaRPr lang="en-US" sz="1450" dirty="0"/>
          </a:p>
          <a:p>
            <a:pPr marL="177800" indent="-177800">
              <a:spcAft>
                <a:spcPts val="1100"/>
              </a:spcAft>
              <a:buSzPct val="100000"/>
              <a:buChar char="•"/>
            </a:pPr>
            <a:r>
              <a:rPr lang="en-US" sz="1450" dirty="0">
                <a:solidFill>
                  <a:srgbClr val="D7E0EE"/>
                </a:solidFill>
                <a:latin typeface="Calibri" pitchFamily="34" charset="0"/>
                <a:ea typeface="Calibri" pitchFamily="34" charset="-122"/>
                <a:cs typeface="Calibri" pitchFamily="34" charset="-120"/>
              </a:rPr>
              <a:t>Dagster + PySpark + Iceberg + DuckDB, all up with one docker compose up</a:t>
            </a:r>
            <a:endParaRPr lang="en-US" sz="1450" dirty="0"/>
          </a:p>
          <a:p>
            <a:pPr marL="177800" indent="-177800">
              <a:spcAft>
                <a:spcPts val="1100"/>
              </a:spcAft>
              <a:buSzPct val="100000"/>
              <a:buChar char="•"/>
            </a:pPr>
            <a:r>
              <a:rPr lang="en-US" sz="1450" dirty="0">
                <a:solidFill>
                  <a:srgbClr val="D7E0EE"/>
                </a:solidFill>
                <a:latin typeface="Calibri" pitchFamily="34" charset="0"/>
                <a:ea typeface="Calibri" pitchFamily="34" charset="-122"/>
                <a:cs typeface="Calibri" pitchFamily="34" charset="-120"/>
              </a:rPr>
              <a:t>Two run modes free from monthly partitions; native DQ, observability &amp; alerting</a:t>
            </a:r>
            <a:endParaRPr lang="en-US" sz="1450" dirty="0"/>
          </a:p>
          <a:p>
            <a:pPr marL="177800" indent="-177800">
              <a:spcAft>
                <a:spcPts val="1100"/>
              </a:spcAft>
              <a:buSzPct val="100000"/>
              <a:buChar char="•"/>
            </a:pPr>
            <a:r>
              <a:rPr lang="en-US" sz="1450" dirty="0">
                <a:solidFill>
                  <a:srgbClr val="D7E0EE"/>
                </a:solidFill>
                <a:latin typeface="Calibri" pitchFamily="34" charset="0"/>
                <a:ea typeface="Calibri" pitchFamily="34" charset="-122"/>
                <a:cs typeface="Calibri" pitchFamily="34" charset="-120"/>
              </a:rPr>
              <a:t>MinIO today, AWS S3 tomorrow — a config change, not a rewrite</a:t>
            </a:r>
            <a:endParaRPr lang="en-US" sz="1450" dirty="0"/>
          </a:p>
        </p:txBody>
      </p:sp>
      <p:sp>
        <p:nvSpPr>
          <p:cNvPr id="9" name="Shape 6"/>
          <p:cNvSpPr/>
          <p:nvPr/>
        </p:nvSpPr>
        <p:spPr>
          <a:xfrm>
            <a:off x="457200" y="5806440"/>
            <a:ext cx="2743200" cy="0"/>
          </a:xfrm>
          <a:prstGeom prst="line">
            <a:avLst/>
          </a:prstGeom>
          <a:noFill/>
          <a:ln w="25400">
            <a:solidFill>
              <a:srgbClr val="F2B705"/>
            </a:solidFill>
            <a:prstDash val="solid"/>
          </a:ln>
        </p:spPr>
      </p:sp>
      <p:sp>
        <p:nvSpPr>
          <p:cNvPr id="10" name="Text 7"/>
          <p:cNvSpPr txBox="1"/>
          <p:nvPr/>
        </p:nvSpPr>
        <p:spPr>
          <a:xfrm>
            <a:off x="457200" y="5943600"/>
            <a:ext cx="9144000" cy="365760"/>
          </a:xfrm>
          <a:prstGeom prst="rect">
            <a:avLst/>
          </a:prstGeom>
          <a:noFill/>
          <a:ln/>
        </p:spPr>
        <p:txBody>
          <a:bodyPr wrap="square" lIns="0" tIns="0" rIns="0" bIns="0" rtlCol="0" anchor="ctr"/>
          <a:lstStyle/>
          <a:p>
            <a:pPr indent="0" marL="0">
              <a:buNone/>
            </a:pPr>
            <a:r>
              <a:rPr lang="en-US" sz="1300" i="1" dirty="0">
                <a:solidFill>
                  <a:srgbClr val="9FB0C7"/>
                </a:solidFill>
                <a:latin typeface="Calibri" pitchFamily="34" charset="0"/>
                <a:ea typeface="Calibri" pitchFamily="34" charset="-122"/>
                <a:cs typeface="Calibri" pitchFamily="34" charset="-120"/>
              </a:rPr>
              <a:t>Thank you — happy to walk through the code and the running system.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Chicago Taxi Lakehouse</dc:title>
  <dc:subject>PptxGenJS Presentation</dc:subject>
  <dc:creator>Data Engineering</dc:creator>
  <cp:lastModifiedBy>Data Engineering</cp:lastModifiedBy>
  <cp:revision>1</cp:revision>
  <dcterms:created xsi:type="dcterms:W3CDTF">2026-09-12T08:17:54Z</dcterms:created>
  <dcterms:modified xsi:type="dcterms:W3CDTF">2026-09-12T08:17:54Z</dcterms:modified>
</cp:coreProperties>
</file>